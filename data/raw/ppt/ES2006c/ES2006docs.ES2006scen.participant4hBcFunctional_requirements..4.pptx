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_rels/notesSlide7.xml.rels" ContentType="application/vnd.openxmlformats-package.relationships+xml"/>
  <Override PartName="/ppt/notesSlides/notesSlide7.xml" ContentType="application/vnd.openxmlformats-officedocument.presentationml.notesSlid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embeddings/oleObject1.xlsx" ContentType="application/vnd.openxmlformats-officedocument.spreadsheetml.sheet"/>
  <Override PartName="/ppt/media/image1.wmf" ContentType="image/x-wmf"/>
  <Override PartName="/ppt/media/image2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95" name="PlaceHolder 1"/>
          <p:cNvSpPr>
            <a:spLocks noGrp="1"/>
          </p:cNvSpPr>
          <p:nvPr>
            <p:ph type="hdr"/>
          </p:nvPr>
        </p:nvSpPr>
        <p:spPr>
          <a:xfrm>
            <a:off x="-36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latin typeface="Times New Roman"/>
              </a:rPr>
              <a:t>&lt;header&gt;</a:t>
            </a:r>
            <a:endParaRPr b="0" lang="en-IN" sz="1200" spc="-1" strike="noStrike">
              <a:latin typeface="Times New Roman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dt" idx="7"/>
          </p:nvPr>
        </p:nvSpPr>
        <p:spPr>
          <a:xfrm>
            <a:off x="388440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-216000" algn="r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pc="-1" strike="noStrike">
                <a:latin typeface="Times New Roman"/>
              </a:defRPr>
            </a:lvl1pPr>
          </a:lstStyle>
          <a:p>
            <a:pPr marL="216000" indent="-216000" algn="r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latin typeface="Times New Roman"/>
              </a:rPr>
              <a:t>&lt;date/time&gt;</a:t>
            </a:r>
            <a:endParaRPr b="0" lang="en-IN" sz="1200" spc="-1" strike="noStrike">
              <a:latin typeface="Times New Roman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sldImg"/>
          </p:nvPr>
        </p:nvSpPr>
        <p:spPr>
          <a:xfrm>
            <a:off x="1143000" y="68544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move the slide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r>
              <a:rPr b="0" lang="en-IN" sz="1200" spc="-1" strike="noStrike">
                <a:solidFill>
                  <a:srgbClr val="000000"/>
                </a:solidFill>
                <a:latin typeface="Times New Roman"/>
              </a:rPr>
              <a:t>Click to edit the notes format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" name="PlaceHolder 5"/>
          <p:cNvSpPr>
            <a:spLocks noGrp="1"/>
          </p:cNvSpPr>
          <p:nvPr>
            <p:ph type="ftr" idx="8"/>
          </p:nvPr>
        </p:nvSpPr>
        <p:spPr>
          <a:xfrm>
            <a:off x="-3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-216000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pc="-1" strike="noStrike">
                <a:latin typeface="Times New Roman"/>
              </a:defRPr>
            </a:lvl1pPr>
          </a:lstStyle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latin typeface="Times New Roman"/>
              </a:rPr>
              <a:t>&lt;footer&gt;</a:t>
            </a:r>
            <a:endParaRPr b="0" lang="en-IN" sz="1200" spc="-1" strike="noStrike">
              <a:latin typeface="Times New Roman"/>
            </a:endParaRPr>
          </a:p>
        </p:txBody>
      </p:sp>
      <p:sp>
        <p:nvSpPr>
          <p:cNvPr id="100" name="PlaceHolder 6"/>
          <p:cNvSpPr>
            <a:spLocks noGrp="1"/>
          </p:cNvSpPr>
          <p:nvPr>
            <p:ph type="sldNum" idx="9"/>
          </p:nvPr>
        </p:nvSpPr>
        <p:spPr>
          <a:xfrm>
            <a:off x="388440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-216000" algn="r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pc="-1" strike="noStrike">
                <a:latin typeface="Times New Roman"/>
              </a:defRPr>
            </a:lvl1pPr>
          </a:lstStyle>
          <a:p>
            <a:pPr marL="216000" indent="-216000" algn="r"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6A6FB8C-7B93-45CE-9C2B-37CC2C214A91}" type="slidenum">
              <a:rPr b="0" lang="en-US" sz="1200" spc="-1" strike="noStrike">
                <a:latin typeface="Times New Roman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8ECA559-8C3A-45FD-8FAC-276ABCD2199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716F873-F0EB-418F-A393-12AB1233F39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1EE82DB-7C56-4EF2-A4AB-F97924D32B4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4816286-F4BE-4E3A-99B7-C8EEED3AC83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C90390B-09E2-47DF-8A01-D82D5788D03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16D8390-0012-44BE-AD0B-8B7B2FCF418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184787B-7FCF-4C97-B906-BC90DB341F6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BD3C49C-C0FB-4C83-96D1-639956B1B0C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F5091A1-9630-4AA1-BDF2-4A580BA96FA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F8DA4E0-84DF-47E9-B5CF-7D43EA85017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75DBF35-63D1-46B1-B01E-A7DA961F24E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F52CCC8-D7CD-4D42-9833-DC750C846FA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07A59F8-0C92-40C3-9748-42A821CC355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2FB82AC-4831-4E08-9612-24BF3BAA01B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1E7D5A8-BB30-458F-B345-02F877A13B1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33C0079-BE06-46AF-B11F-53156718709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7798A39-B5B3-4DC0-997E-621A000AB52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8387FB9-C7CC-4DAA-A704-DF2AF9B4A0D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162909B-7F4B-4028-ABDE-EA3C3E404DA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C9B3813-BDE4-47EF-8A0B-D73355AE794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336ABD4-0ABD-485E-8976-30C23FC3D42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CF77DAE-A3C0-45FE-B50E-21AAC9F9701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3FEB5E5-00D5-46A1-864E-9687D26F98F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AEE2A11-AA28-4C4B-B881-6CC26A1C71C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C7FF2D2-B3B5-4CD2-975C-0F57CF9B6D0A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2DD1DC7-E70F-44CF-9C05-AB42461FF21E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package" Target="../embeddings/oleObject1.xlsx"/><Relationship Id="rId2" Type="http://schemas.openxmlformats.org/officeDocument/2006/relationships/image" Target="../media/image1.wmf"/><Relationship Id="rId3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Requirements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Cat, Market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4000"/>
          </a:bodyPr>
          <a:p>
            <a:pPr marL="343080" indent="-343080" algn="just">
              <a:lnSpc>
                <a:spcPct val="90000"/>
              </a:lnSpc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Usability lab observed remote control use amongst 100 subjects, who then filled in a questionnaire. They investigated: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just">
              <a:lnSpc>
                <a:spcPct val="90000"/>
              </a:lnSpc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- What the users think about the look and feel of current remote controls.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just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The biggest frustrations of using remote controls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Speech recognition and LCD screens in remote controls.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 algn="ctr">
              <a:lnSpc>
                <a:spcPct val="9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Users dislike the look and feel of current remote controls.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75% of users find most remote controls ugly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80% of users would spend more money when a remote control would look fancy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Current remote controls do not match well the operating behavior of the user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75% of users said they zap a lot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50% of users say they only use 10% of the buttons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8" name=""/>
          <p:cNvSpPr/>
          <p:nvPr/>
        </p:nvSpPr>
        <p:spPr>
          <a:xfrm>
            <a:off x="434520" y="4359240"/>
            <a:ext cx="7960680" cy="13136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33cc"/>
                </a:solidFill>
                <a:latin typeface="Arial"/>
              </a:rPr>
              <a:t>The graph shows that the most predominant uses of the remote is for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buClr>
                <a:srgbClr val="ff33cc"/>
              </a:buClr>
              <a:buFont typeface="Arial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33cc"/>
                </a:solidFill>
                <a:latin typeface="Arial"/>
              </a:rPr>
              <a:t>Chanel Selection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buClr>
                <a:srgbClr val="ff33cc"/>
              </a:buClr>
              <a:buFont typeface="Arial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33cc"/>
                </a:solidFill>
                <a:latin typeface="Arial"/>
              </a:rPr>
              <a:t>Teletext (including flipping pages)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buClr>
                <a:srgbClr val="ff33cc"/>
              </a:buClr>
              <a:buFont typeface="Arial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33cc"/>
                </a:solidFill>
                <a:latin typeface="Arial"/>
              </a:rPr>
              <a:t>Volume Control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" name=""/>
          <p:cNvSpPr/>
          <p:nvPr/>
        </p:nvSpPr>
        <p:spPr>
          <a:xfrm>
            <a:off x="1096920" y="2127240"/>
            <a:ext cx="322560" cy="398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9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0" name=""/>
          <p:cNvSpPr/>
          <p:nvPr/>
        </p:nvSpPr>
        <p:spPr>
          <a:xfrm>
            <a:off x="757080" y="2133720"/>
            <a:ext cx="322560" cy="398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33cc"/>
                </a:solidFill>
                <a:latin typeface="Arial"/>
              </a:rPr>
              <a:t>9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" name=""/>
          <p:cNvSpPr/>
          <p:nvPr/>
        </p:nvSpPr>
        <p:spPr>
          <a:xfrm>
            <a:off x="1765080" y="1484280"/>
            <a:ext cx="464040" cy="398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33cc"/>
                </a:solidFill>
                <a:latin typeface="Arial"/>
              </a:rPr>
              <a:t>10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" name=""/>
          <p:cNvSpPr/>
          <p:nvPr/>
        </p:nvSpPr>
        <p:spPr>
          <a:xfrm>
            <a:off x="2844360" y="2133720"/>
            <a:ext cx="464040" cy="398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33cc"/>
                </a:solidFill>
                <a:latin typeface="Arial"/>
              </a:rPr>
              <a:t>10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3" name=""/>
          <p:cNvSpPr/>
          <p:nvPr/>
        </p:nvSpPr>
        <p:spPr>
          <a:xfrm>
            <a:off x="4141800" y="2060640"/>
            <a:ext cx="322560" cy="398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33cc"/>
                </a:solidFill>
                <a:latin typeface="Arial"/>
              </a:rPr>
              <a:t>2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" name=""/>
          <p:cNvSpPr/>
          <p:nvPr/>
        </p:nvSpPr>
        <p:spPr>
          <a:xfrm>
            <a:off x="5077800" y="2060640"/>
            <a:ext cx="534240" cy="398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33cc"/>
                </a:solidFill>
                <a:latin typeface="Arial"/>
              </a:rPr>
              <a:t>1.5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" name=""/>
          <p:cNvSpPr/>
          <p:nvPr/>
        </p:nvSpPr>
        <p:spPr>
          <a:xfrm>
            <a:off x="6229080" y="2060640"/>
            <a:ext cx="322560" cy="398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33cc"/>
                </a:solidFill>
                <a:latin typeface="Arial"/>
              </a:rPr>
              <a:t>3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graphicFrame>
        <p:nvGraphicFramePr>
          <p:cNvPr id="116" name=""/>
          <p:cNvGraphicFramePr/>
          <p:nvPr/>
        </p:nvGraphicFramePr>
        <p:xfrm>
          <a:off x="214200" y="-747720"/>
          <a:ext cx="8929800" cy="6703920"/>
        </p:xfrm>
        <a:graphic>
          <a:graphicData uri="http://schemas.openxmlformats.org/presentationml/2006/ole">
            <p:oleObj progId="Excel.Sheet.12" r:id="rId1" spid="">
              <p:embed/>
              <p:pic>
                <p:nvPicPr>
                  <p:cNvPr id="117" name="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214200" y="-747720"/>
                    <a:ext cx="8929800" cy="670392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Frustrations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Remote controls are often lost somewhere in the room (50%)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It takes too much time to learn how to use a new remote control (34%)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Remote controls are bad for RSI (26%)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c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000000"/>
                </a:solidFill>
                <a:latin typeface="Tahoma"/>
              </a:rPr>
              <a:t>Voice Recognition?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22" name="" descr=""/>
          <p:cNvPicPr/>
          <p:nvPr/>
        </p:nvPicPr>
        <p:blipFill>
          <a:blip r:embed="rId1"/>
          <a:stretch/>
        </p:blipFill>
        <p:spPr>
          <a:xfrm>
            <a:off x="468360" y="1581120"/>
            <a:ext cx="8207280" cy="4497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Sleek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Stylish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Sophisticated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Functional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Minimalist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Long battery life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Solar power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Locator (clap and then it beeps?)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2005-01-28T18:03:23Z</dcterms:modified>
  <cp:revision>13</cp:revision>
  <dc:subject/>
  <dc:title>PowerPoint Presentation</dc:title>
</cp:coreProperties>
</file>