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6.xml.rels" ContentType="application/vnd.openxmlformats-package.relationships+xml"/>
  <Override PartName="/ppt/slides/_rels/slide3.xml.rels" ContentType="application/vnd.openxmlformats-package.relationships+xml"/>
  <Override PartName="/ppt/slides/_rels/slide5.xml.rels" ContentType="application/vnd.openxmlformats-package.relationships+xml"/>
  <Override PartName="/ppt/slides/_rels/slide2.xml.rels" ContentType="application/vnd.openxmlformats-package.relationships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  <p:sldId id="260" r:id="rId8"/>
    <p:sldId id="261" r:id="rId9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B8049E1-8DFC-4632-B7EA-F1213221068B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496501E-D0B8-49E7-93D0-5E08D4E4D221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95F5A3A-629F-4C1F-A950-5B9B4676F13E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2DC31C3-E291-4382-88B4-6EC1504F5745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F1470C1-5B09-457B-B654-FDC832B33C08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6C5193F-D2A7-401C-8C14-E56D810D2799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2DB3FAF-146D-4952-9A61-3AD15C63FCAA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3D0EF40-75C3-4E19-BCC2-9DE530FCB7AF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5E2AF3A-04B3-44E8-875B-BE92A97AE863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E1C4967-8CD8-4AB8-9220-493F504D7365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052C3F1-29D0-4B0D-A200-9508ECB16FCD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5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CCB27E4-A1EF-475C-8F34-BBD81C158998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CFD00A90-4DFE-4550-ADF1-D2B60220268B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431F1F7D-6EA1-44BE-87EF-91D9C9217F55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B276AA02-9477-4DB1-BC0A-00DCE1F377FA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0EA95D62-39BE-44D1-99D8-226FE15A62A2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E3BF27BA-E848-49B1-B0BC-A1AD121C6902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06A10820-3119-4532-8D47-7E42A7CA57DF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2335016C-E569-45D1-8E7D-439C9E9F96BE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8444B169-DF12-45FF-8BE0-46C005CF32F6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50C885F6-CB48-41E9-9213-31E9FB860439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8F1F4AA4-1422-4220-B1EE-0BCC11EF8AF4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248885E2-9433-4737-8C67-6FCFFA6AD2C4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1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2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3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1B3B602C-0675-49E7-A541-3A7EF3532A31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3" marL="1600200" indent="-22860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4" marL="2057400" indent="-228600">
              <a:spcBef>
                <a:spcPts val="799"/>
              </a:spcBef>
              <a:buClr>
                <a:srgbClr val="ffffff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400" spc="-1" strike="noStrike">
                <a:solidFill>
                  <a:srgbClr val="ffffff"/>
                </a:solidFill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400" spc="-1" strike="noStrike">
                <a:solidFill>
                  <a:srgbClr val="ffffff"/>
                </a:solidFill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51F15F09-760F-466A-8BD9-61C57DA7F8EE}" type="slidenum">
              <a:rPr b="0" lang="en-US" sz="1400" spc="-1" strike="noStrike">
                <a:solidFill>
                  <a:srgbClr val="ffffff"/>
                </a:solidFill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4572000" y="6165720"/>
            <a:ext cx="4464000" cy="5814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pc="-1" strike="noStrike">
                <a:solidFill>
                  <a:srgbClr val="000000"/>
                </a:solidFill>
                <a:latin typeface="Tahoma"/>
              </a:rPr>
              <a:t>Real Reaction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7" name=""/>
          <p:cNvGrpSpPr/>
          <p:nvPr/>
        </p:nvGrpSpPr>
        <p:grpSpPr>
          <a:xfrm>
            <a:off x="34920" y="5973840"/>
            <a:ext cx="1332000" cy="986760"/>
            <a:chOff x="34920" y="5973840"/>
            <a:chExt cx="1332000" cy="986760"/>
          </a:xfrm>
        </p:grpSpPr>
        <p:sp>
          <p:nvSpPr>
            <p:cNvPr id="8" name=""/>
            <p:cNvSpPr/>
            <p:nvPr/>
          </p:nvSpPr>
          <p:spPr>
            <a:xfrm>
              <a:off x="34920" y="604368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358920" y="597384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dt" idx="4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400" spc="-1" strike="noStrike"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400" spc="-1" strike="noStrike"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ftr" idx="5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400" spc="-1" strike="noStrike"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400" spc="-1" strike="noStrike"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sldNum" idx="6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400" spc="-1" strike="noStrike"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B31DBD54-A127-4361-B5E1-1D4A8DC42385}" type="slidenum">
              <a:rPr b="0" lang="en-US" sz="1400" spc="-1" strike="noStrike"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grpSp>
        <p:nvGrpSpPr>
          <p:cNvPr id="51" name=""/>
          <p:cNvGrpSpPr/>
          <p:nvPr/>
        </p:nvGrpSpPr>
        <p:grpSpPr>
          <a:xfrm>
            <a:off x="34920" y="-287280"/>
            <a:ext cx="1584360" cy="1701720"/>
            <a:chOff x="34920" y="-287280"/>
            <a:chExt cx="1584360" cy="1701720"/>
          </a:xfrm>
        </p:grpSpPr>
        <p:sp>
          <p:nvSpPr>
            <p:cNvPr id="52" name=""/>
            <p:cNvSpPr/>
            <p:nvPr/>
          </p:nvSpPr>
          <p:spPr>
            <a:xfrm>
              <a:off x="34920" y="-14256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53" name=""/>
            <p:cNvSpPr/>
            <p:nvPr/>
          </p:nvSpPr>
          <p:spPr>
            <a:xfrm>
              <a:off x="611280" y="-28728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  <p:sp>
        <p:nvSpPr>
          <p:cNvPr id="54" name=""/>
          <p:cNvSpPr/>
          <p:nvPr/>
        </p:nvSpPr>
        <p:spPr>
          <a:xfrm>
            <a:off x="2771640" y="444600"/>
            <a:ext cx="6193080" cy="703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pc="-1" strike="noStrike">
                <a:solidFill>
                  <a:srgbClr val="ffffff"/>
                </a:solidFill>
                <a:latin typeface="Tahoma"/>
              </a:rPr>
              <a:t>Real Reaction</a:t>
            </a:r>
            <a:endParaRPr b="0" lang="en-IN" sz="4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2700360" y="1171440"/>
            <a:ext cx="6192720" cy="459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400" spc="-1" strike="noStrike">
                <a:solidFill>
                  <a:srgbClr val="ffff66"/>
                </a:solidFill>
                <a:latin typeface="Tahoma"/>
              </a:rPr>
              <a:t>We put fashion in electronics</a:t>
            </a: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 flipH="1">
            <a:off x="107640" y="1197000"/>
            <a:ext cx="8785080" cy="0"/>
          </a:xfrm>
          <a:prstGeom prst="line">
            <a:avLst/>
          </a:prstGeom>
          <a:ln w="38160">
            <a:solidFill>
              <a:srgbClr val="ffffff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45720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914400" algn="ctr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3" marL="1371600" algn="ctr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4" marL="1828800" algn="ctr">
              <a:spcBef>
                <a:spcPts val="499"/>
              </a:spcBef>
              <a:buClr>
                <a:srgbClr val="ffffff"/>
              </a:buClr>
              <a:buFont typeface="Tahoma"/>
              <a:buChar char="»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5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6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Working Design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Presented by: Tarik Rahman, Industrial Designer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Method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456840" y="1600200"/>
            <a:ext cx="893916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Energy Source -&gt; Sender------</a:t>
            </a:r>
            <a:r>
              <a:rPr b="0" lang="en-GB" sz="2800" spc="-1" strike="noStrike">
                <a:solidFill>
                  <a:srgbClr val="ffffff"/>
                </a:solidFill>
                <a:latin typeface="Wingdings"/>
                <a:ea typeface="Wingdings"/>
              </a:rPr>
              <a:t></a:t>
            </a: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 Receiver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                                                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                             </a:t>
            </a: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Chip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                        </a:t>
            </a: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User Interface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8" name=""/>
          <p:cNvSpPr/>
          <p:nvPr/>
        </p:nvSpPr>
        <p:spPr>
          <a:xfrm>
            <a:off x="2700360" y="2133720"/>
            <a:ext cx="719280" cy="647640"/>
          </a:xfrm>
          <a:prstGeom prst="line">
            <a:avLst/>
          </a:prstGeom>
          <a:ln w="9360">
            <a:solidFill>
              <a:srgbClr val="ffffff"/>
            </a:solidFill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99" name=""/>
          <p:cNvSpPr/>
          <p:nvPr/>
        </p:nvSpPr>
        <p:spPr>
          <a:xfrm>
            <a:off x="1763640" y="2205000"/>
            <a:ext cx="1295640" cy="1511280"/>
          </a:xfrm>
          <a:prstGeom prst="line">
            <a:avLst/>
          </a:prstGeom>
          <a:ln w="9360">
            <a:solidFill>
              <a:srgbClr val="ffffff"/>
            </a:solidFill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100" name=""/>
          <p:cNvSpPr/>
          <p:nvPr/>
        </p:nvSpPr>
        <p:spPr>
          <a:xfrm flipV="1">
            <a:off x="4067280" y="3213000"/>
            <a:ext cx="0" cy="503280"/>
          </a:xfrm>
          <a:prstGeom prst="line">
            <a:avLst/>
          </a:prstGeom>
          <a:ln w="9360">
            <a:solidFill>
              <a:srgbClr val="ffffff"/>
            </a:solidFill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101" name=""/>
          <p:cNvSpPr/>
          <p:nvPr/>
        </p:nvSpPr>
        <p:spPr>
          <a:xfrm flipV="1">
            <a:off x="4211640" y="2204640"/>
            <a:ext cx="0" cy="360360"/>
          </a:xfrm>
          <a:prstGeom prst="line">
            <a:avLst/>
          </a:prstGeom>
          <a:ln w="9360">
            <a:solidFill>
              <a:srgbClr val="ffffff"/>
            </a:solidFill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Findings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Do we need to control multiple appliances?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Do we need many buttons?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More light bulbs on hand held device as indicators, too much power?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Joystick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Components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Use the elements on the next slide (copy paste) to form the right schema of the working of the remote control.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Be inspired by the illustration on the web page Working_design 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"/>
          <p:cNvSpPr/>
          <p:nvPr/>
        </p:nvSpPr>
        <p:spPr>
          <a:xfrm>
            <a:off x="250920" y="2133720"/>
            <a:ext cx="8280360" cy="3671640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107" name=""/>
          <p:cNvSpPr/>
          <p:nvPr/>
        </p:nvSpPr>
        <p:spPr>
          <a:xfrm>
            <a:off x="179280" y="260280"/>
            <a:ext cx="8248680" cy="1801800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/>
          </a:ln>
          <a:effectLst>
            <a:outerShdw dist="107932" dir="2700000" blurRad="0" rotWithShape="0">
              <a:srgbClr val="808080">
                <a:alpha val="50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08" name=""/>
          <p:cNvSpPr/>
          <p:nvPr/>
        </p:nvSpPr>
        <p:spPr>
          <a:xfrm>
            <a:off x="7164360" y="2781360"/>
            <a:ext cx="609480" cy="609480"/>
          </a:xfrm>
          <a:prstGeom prst="flowChartSummingJunction">
            <a:avLst/>
          </a:prstGeom>
          <a:solidFill>
            <a:srgbClr val="bbe0e3"/>
          </a:soli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grpSp>
        <p:nvGrpSpPr>
          <p:cNvPr id="109" name=""/>
          <p:cNvGrpSpPr/>
          <p:nvPr/>
        </p:nvGrpSpPr>
        <p:grpSpPr>
          <a:xfrm>
            <a:off x="2700360" y="2924280"/>
            <a:ext cx="954000" cy="174600"/>
            <a:chOff x="2700360" y="2924280"/>
            <a:chExt cx="954000" cy="174600"/>
          </a:xfrm>
        </p:grpSpPr>
        <p:sp>
          <p:nvSpPr>
            <p:cNvPr id="110" name=""/>
            <p:cNvSpPr/>
            <p:nvPr/>
          </p:nvSpPr>
          <p:spPr>
            <a:xfrm>
              <a:off x="2700360" y="3097080"/>
              <a:ext cx="317520" cy="0"/>
            </a:xfrm>
            <a:prstGeom prst="line">
              <a:avLst/>
            </a:prstGeom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11" name=""/>
            <p:cNvSpPr/>
            <p:nvPr/>
          </p:nvSpPr>
          <p:spPr>
            <a:xfrm>
              <a:off x="3078000" y="2924280"/>
              <a:ext cx="233640" cy="166320"/>
            </a:xfrm>
            <a:prstGeom prst="line">
              <a:avLst/>
            </a:prstGeom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12" name=""/>
            <p:cNvSpPr/>
            <p:nvPr/>
          </p:nvSpPr>
          <p:spPr>
            <a:xfrm>
              <a:off x="3324240" y="3098880"/>
              <a:ext cx="330120" cy="0"/>
            </a:xfrm>
            <a:prstGeom prst="line">
              <a:avLst/>
            </a:prstGeom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</p:grpSp>
      <p:sp>
        <p:nvSpPr>
          <p:cNvPr id="113" name=""/>
          <p:cNvSpPr/>
          <p:nvPr/>
        </p:nvSpPr>
        <p:spPr>
          <a:xfrm>
            <a:off x="4140360" y="2781360"/>
            <a:ext cx="609480" cy="609480"/>
          </a:xfrm>
          <a:prstGeom prst="flowChartSummingJunction">
            <a:avLst/>
          </a:prstGeom>
          <a:solidFill>
            <a:srgbClr val="ff0000"/>
          </a:soli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114" name=""/>
          <p:cNvSpPr/>
          <p:nvPr/>
        </p:nvSpPr>
        <p:spPr>
          <a:xfrm flipV="1">
            <a:off x="1074600" y="773280"/>
            <a:ext cx="1800" cy="636480"/>
          </a:xfrm>
          <a:prstGeom prst="line">
            <a:avLst/>
          </a:prstGeom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115" name=""/>
          <p:cNvSpPr/>
          <p:nvPr/>
        </p:nvSpPr>
        <p:spPr>
          <a:xfrm>
            <a:off x="2340000" y="4221000"/>
            <a:ext cx="679320" cy="565200"/>
          </a:xfrm>
          <a:prstGeom prst="flowChartPunchedCard">
            <a:avLst/>
          </a:prstGeom>
          <a:solidFill>
            <a:srgbClr val="99cc00"/>
          </a:soli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116" name=""/>
          <p:cNvSpPr/>
          <p:nvPr/>
        </p:nvSpPr>
        <p:spPr>
          <a:xfrm>
            <a:off x="4284720" y="4941720"/>
            <a:ext cx="846000" cy="609840"/>
          </a:xfrm>
          <a:prstGeom prst="flowChartAlternateProcess">
            <a:avLst/>
          </a:prstGeom>
          <a:solidFill>
            <a:srgbClr val="ffff99"/>
          </a:soli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117" name=""/>
          <p:cNvSpPr/>
          <p:nvPr/>
        </p:nvSpPr>
        <p:spPr>
          <a:xfrm>
            <a:off x="4693680" y="3429000"/>
            <a:ext cx="1332720" cy="3070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000000"/>
                </a:solidFill>
                <a:latin typeface="Arial Black"/>
              </a:rPr>
              <a:t>Infrared bulb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8" name=""/>
          <p:cNvSpPr/>
          <p:nvPr/>
        </p:nvSpPr>
        <p:spPr>
          <a:xfrm>
            <a:off x="7331400" y="3645000"/>
            <a:ext cx="691200" cy="3070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000000"/>
                </a:solidFill>
                <a:latin typeface="Arial Black"/>
              </a:rPr>
              <a:t>Bulb  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9" name=""/>
          <p:cNvSpPr/>
          <p:nvPr/>
        </p:nvSpPr>
        <p:spPr>
          <a:xfrm>
            <a:off x="2817360" y="3357720"/>
            <a:ext cx="883440" cy="3070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000000"/>
                </a:solidFill>
                <a:latin typeface="Arial Black"/>
              </a:rPr>
              <a:t>Switch  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0" name=""/>
          <p:cNvSpPr/>
          <p:nvPr/>
        </p:nvSpPr>
        <p:spPr>
          <a:xfrm>
            <a:off x="1177200" y="2276640"/>
            <a:ext cx="1515600" cy="3070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000000"/>
                </a:solidFill>
                <a:latin typeface="Arial Black"/>
              </a:rPr>
              <a:t>Energy source 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1" name=""/>
          <p:cNvSpPr/>
          <p:nvPr/>
        </p:nvSpPr>
        <p:spPr>
          <a:xfrm>
            <a:off x="779040" y="1511280"/>
            <a:ext cx="590760" cy="3070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000000"/>
                </a:solidFill>
                <a:latin typeface="Arial Black"/>
              </a:rPr>
              <a:t>Wire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2" name=""/>
          <p:cNvSpPr/>
          <p:nvPr/>
        </p:nvSpPr>
        <p:spPr>
          <a:xfrm>
            <a:off x="1568880" y="4797360"/>
            <a:ext cx="694440" cy="3070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000000"/>
                </a:solidFill>
                <a:latin typeface="Arial Black"/>
              </a:rPr>
              <a:t>Chip  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3" name=""/>
          <p:cNvSpPr/>
          <p:nvPr/>
        </p:nvSpPr>
        <p:spPr>
          <a:xfrm>
            <a:off x="2902320" y="5516640"/>
            <a:ext cx="1640880" cy="3070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000000"/>
                </a:solidFill>
                <a:latin typeface="Arial Black"/>
              </a:rPr>
              <a:t>Subcomponent  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124" name=""/>
          <p:cNvGrpSpPr/>
          <p:nvPr/>
        </p:nvGrpSpPr>
        <p:grpSpPr>
          <a:xfrm>
            <a:off x="1547640" y="2708280"/>
            <a:ext cx="673200" cy="665280"/>
            <a:chOff x="1547640" y="2708280"/>
            <a:chExt cx="673200" cy="665280"/>
          </a:xfrm>
        </p:grpSpPr>
        <p:sp>
          <p:nvSpPr>
            <p:cNvPr id="125" name=""/>
            <p:cNvSpPr/>
            <p:nvPr/>
          </p:nvSpPr>
          <p:spPr>
            <a:xfrm>
              <a:off x="1798560" y="2708280"/>
              <a:ext cx="12600" cy="665280"/>
            </a:xfrm>
            <a:prstGeom prst="line">
              <a:avLst/>
            </a:prstGeom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26" name=""/>
            <p:cNvSpPr/>
            <p:nvPr/>
          </p:nvSpPr>
          <p:spPr>
            <a:xfrm>
              <a:off x="1987560" y="2859120"/>
              <a:ext cx="12600" cy="374760"/>
            </a:xfrm>
            <a:prstGeom prst="line">
              <a:avLst/>
            </a:prstGeom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27" name=""/>
            <p:cNvSpPr/>
            <p:nvPr/>
          </p:nvSpPr>
          <p:spPr>
            <a:xfrm>
              <a:off x="1547640" y="3052800"/>
              <a:ext cx="235080" cy="0"/>
            </a:xfrm>
            <a:prstGeom prst="line">
              <a:avLst/>
            </a:prstGeom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28" name=""/>
            <p:cNvSpPr/>
            <p:nvPr/>
          </p:nvSpPr>
          <p:spPr>
            <a:xfrm>
              <a:off x="1986120" y="3038400"/>
              <a:ext cx="234720" cy="0"/>
            </a:xfrm>
            <a:prstGeom prst="line">
              <a:avLst/>
            </a:prstGeom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</p:grpSp>
      <p:grpSp>
        <p:nvGrpSpPr>
          <p:cNvPr id="129" name=""/>
          <p:cNvGrpSpPr/>
          <p:nvPr/>
        </p:nvGrpSpPr>
        <p:grpSpPr>
          <a:xfrm>
            <a:off x="3116160" y="973080"/>
            <a:ext cx="673200" cy="665280"/>
            <a:chOff x="3116160" y="973080"/>
            <a:chExt cx="673200" cy="665280"/>
          </a:xfrm>
        </p:grpSpPr>
        <p:sp>
          <p:nvSpPr>
            <p:cNvPr id="130" name=""/>
            <p:cNvSpPr/>
            <p:nvPr/>
          </p:nvSpPr>
          <p:spPr>
            <a:xfrm>
              <a:off x="3367080" y="973080"/>
              <a:ext cx="12600" cy="665280"/>
            </a:xfrm>
            <a:prstGeom prst="line">
              <a:avLst/>
            </a:prstGeom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31" name=""/>
            <p:cNvSpPr/>
            <p:nvPr/>
          </p:nvSpPr>
          <p:spPr>
            <a:xfrm>
              <a:off x="3556080" y="1123920"/>
              <a:ext cx="12600" cy="374760"/>
            </a:xfrm>
            <a:prstGeom prst="line">
              <a:avLst/>
            </a:prstGeom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32" name=""/>
            <p:cNvSpPr/>
            <p:nvPr/>
          </p:nvSpPr>
          <p:spPr>
            <a:xfrm>
              <a:off x="3116160" y="1317600"/>
              <a:ext cx="235080" cy="0"/>
            </a:xfrm>
            <a:prstGeom prst="line">
              <a:avLst/>
            </a:prstGeom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33" name=""/>
            <p:cNvSpPr/>
            <p:nvPr/>
          </p:nvSpPr>
          <p:spPr>
            <a:xfrm>
              <a:off x="3554640" y="1303200"/>
              <a:ext cx="234720" cy="0"/>
            </a:xfrm>
            <a:prstGeom prst="line">
              <a:avLst/>
            </a:prstGeom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</p:grpSp>
      <p:sp>
        <p:nvSpPr>
          <p:cNvPr id="134" name=""/>
          <p:cNvSpPr/>
          <p:nvPr/>
        </p:nvSpPr>
        <p:spPr>
          <a:xfrm>
            <a:off x="4788000" y="3068640"/>
            <a:ext cx="2448000" cy="73080"/>
          </a:xfrm>
          <a:prstGeom prst="line">
            <a:avLst/>
          </a:prstGeom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135" name=""/>
          <p:cNvSpPr/>
          <p:nvPr/>
        </p:nvSpPr>
        <p:spPr>
          <a:xfrm flipH="1">
            <a:off x="1042920" y="3068640"/>
            <a:ext cx="504720" cy="1224000"/>
          </a:xfrm>
          <a:prstGeom prst="line">
            <a:avLst/>
          </a:prstGeom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136" name=""/>
          <p:cNvSpPr/>
          <p:nvPr/>
        </p:nvSpPr>
        <p:spPr>
          <a:xfrm>
            <a:off x="522000" y="3952800"/>
            <a:ext cx="1600920" cy="3682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1800" spc="-1" strike="noStrike">
                <a:solidFill>
                  <a:srgbClr val="000000"/>
                </a:solidFill>
                <a:latin typeface="Arial"/>
              </a:rPr>
              <a:t>User interface</a:t>
            </a:r>
            <a:endParaRPr b="0" lang="en-IN" sz="18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7" name=""/>
          <p:cNvSpPr/>
          <p:nvPr/>
        </p:nvSpPr>
        <p:spPr>
          <a:xfrm>
            <a:off x="1763640" y="3357720"/>
            <a:ext cx="720720" cy="934920"/>
          </a:xfrm>
          <a:prstGeom prst="line">
            <a:avLst/>
          </a:prstGeom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138" name=""/>
          <p:cNvSpPr/>
          <p:nvPr/>
        </p:nvSpPr>
        <p:spPr>
          <a:xfrm>
            <a:off x="2987640" y="4581360"/>
            <a:ext cx="1297080" cy="719280"/>
          </a:xfrm>
          <a:prstGeom prst="line">
            <a:avLst/>
          </a:prstGeom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Personal Preferences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4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Different lights on the remote to notify which appliances are on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114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en-IN</dc:language>
  <cp:lastModifiedBy>AMI</cp:lastModifiedBy>
  <dcterms:modified xsi:type="dcterms:W3CDTF">2004-12-15T19:03:21Z</dcterms:modified>
  <cp:revision>14</cp:revision>
  <dc:subject/>
  <dc:title>PowerPoint Presentation</dc:title>
</cp:coreProperties>
</file>