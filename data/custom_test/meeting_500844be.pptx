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8A7E4C9-9EFD-4881-A1B0-EA880554101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0968564-E693-4976-B8B3-D1E20949096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8D277C-5B5E-48B0-9D04-3E97253905D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F9E96EC-9180-46EE-800A-01F16B6B4D8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6C064A-13FD-416F-99F1-315FDFEE787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2975114-C45B-4458-93AA-44E6A074456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A7F1538-8D37-449B-BA52-1C17E216AAB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8FD0BF-02E9-4298-AC47-BC5436BB23C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6F14A35-9A9A-46DC-BEF3-7BAE31881BF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70C9384-10E2-46B4-8B44-30A3CA7016E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8A54EEF-581B-4179-BDB4-A038B04E629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2C3A60E-BD3E-41AA-880D-2DBBAB7DEFE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96A8B71-4DBC-4541-8D67-009C20265B0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607A0B3-DE7B-4B8B-B0D7-01FA4C9B8CF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6711E83-77C5-4984-A600-34EEBC1C2BC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0EC2F7B-25F2-4442-8FDC-9BEF535A03F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D490A17-FFD4-4763-B331-98C0793BA61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D54C23D-E516-4297-9342-3255A0BE7D6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90745AD-441A-4B42-8379-762A48F04B7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215DB39-5CC6-4081-B163-6500B9EEAA9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338351F-91D2-4262-AB71-CA01FC551CC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3A6CCCF-8E6A-4780-BD96-D2E547F9D2C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3D37F75-2F1D-4224-8513-7576D84208F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F8C9B40-0141-4C7F-B6BB-925DE4FB3C6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5FEE978-8815-4E37-9F8B-A0F46B99FB51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C6AC8D8-C566-4D92-BC53-BBC2536D6566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David,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Specify a base “implementation” from which to kick start ideas and get the meeting talking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Collect feedback from the other team members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Incorporate into design or start from scratch if necessary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0" name=""/>
          <p:cNvSpPr/>
          <p:nvPr/>
        </p:nvSpPr>
        <p:spPr>
          <a:xfrm>
            <a:off x="395280" y="1484280"/>
            <a:ext cx="8280360" cy="432108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01" name=""/>
          <p:cNvGrpSpPr/>
          <p:nvPr/>
        </p:nvGrpSpPr>
        <p:grpSpPr>
          <a:xfrm>
            <a:off x="684360" y="1971720"/>
            <a:ext cx="7561080" cy="3041640"/>
            <a:chOff x="684360" y="1971720"/>
            <a:chExt cx="7561080" cy="3041640"/>
          </a:xfrm>
        </p:grpSpPr>
        <p:grpSp>
          <p:nvGrpSpPr>
            <p:cNvPr id="102" name=""/>
            <p:cNvGrpSpPr/>
            <p:nvPr/>
          </p:nvGrpSpPr>
          <p:grpSpPr>
            <a:xfrm>
              <a:off x="971640" y="4348440"/>
              <a:ext cx="672480" cy="664920"/>
              <a:chOff x="971640" y="4348440"/>
              <a:chExt cx="672480" cy="664920"/>
            </a:xfrm>
          </p:grpSpPr>
          <p:sp>
            <p:nvSpPr>
              <p:cNvPr id="103" name=""/>
              <p:cNvSpPr/>
              <p:nvPr/>
            </p:nvSpPr>
            <p:spPr>
              <a:xfrm>
                <a:off x="1222200" y="4348440"/>
                <a:ext cx="12240" cy="66492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04" name=""/>
              <p:cNvSpPr/>
              <p:nvPr/>
            </p:nvSpPr>
            <p:spPr>
              <a:xfrm>
                <a:off x="1411200" y="4498920"/>
                <a:ext cx="12240" cy="3744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05" name=""/>
              <p:cNvSpPr/>
              <p:nvPr/>
            </p:nvSpPr>
            <p:spPr>
              <a:xfrm>
                <a:off x="971640" y="4692600"/>
                <a:ext cx="23472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06" name=""/>
              <p:cNvSpPr/>
              <p:nvPr/>
            </p:nvSpPr>
            <p:spPr>
              <a:xfrm>
                <a:off x="1409760" y="4678200"/>
                <a:ext cx="23436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107" name=""/>
            <p:cNvSpPr/>
            <p:nvPr/>
          </p:nvSpPr>
          <p:spPr>
            <a:xfrm>
              <a:off x="5651640" y="3411720"/>
              <a:ext cx="609480" cy="609480"/>
            </a:xfrm>
            <a:prstGeom prst="flowChartSummingJunction">
              <a:avLst/>
            </a:prstGeom>
            <a:solidFill>
              <a:srgbClr val="ff000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8" name=""/>
            <p:cNvSpPr/>
            <p:nvPr/>
          </p:nvSpPr>
          <p:spPr>
            <a:xfrm>
              <a:off x="2411280" y="2298960"/>
              <a:ext cx="846360" cy="609480"/>
            </a:xfrm>
            <a:prstGeom prst="flowChartAlternateProcess">
              <a:avLst/>
            </a:prstGeom>
            <a:solidFill>
              <a:srgbClr val="ffff99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9" name=""/>
            <p:cNvSpPr/>
            <p:nvPr/>
          </p:nvSpPr>
          <p:spPr>
            <a:xfrm>
              <a:off x="2195640" y="1971720"/>
              <a:ext cx="1296720" cy="5202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GB" sz="1400" spc="-1" strike="noStrike">
                  <a:solidFill>
                    <a:srgbClr val="000000"/>
                  </a:solidFill>
                  <a:latin typeface="Arial"/>
                </a:rPr>
                <a:t>User Interface</a:t>
              </a:r>
              <a:endParaRPr b="0" lang="en-IN" sz="1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110" name=""/>
            <p:cNvSpPr/>
            <p:nvPr/>
          </p:nvSpPr>
          <p:spPr>
            <a:xfrm>
              <a:off x="2484360" y="3484800"/>
              <a:ext cx="679680" cy="565200"/>
            </a:xfrm>
            <a:prstGeom prst="flowChartPunchedCard">
              <a:avLst/>
            </a:prstGeom>
            <a:solidFill>
              <a:srgbClr val="99cc0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1" name=""/>
            <p:cNvSpPr/>
            <p:nvPr/>
          </p:nvSpPr>
          <p:spPr>
            <a:xfrm flipV="1">
              <a:off x="2843280" y="2908440"/>
              <a:ext cx="0" cy="563760"/>
            </a:xfrm>
            <a:prstGeom prst="line">
              <a:avLst/>
            </a:prstGeom>
            <a:ln w="25560">
              <a:solidFill>
                <a:srgbClr val="000000"/>
              </a:solidFill>
              <a:miter/>
              <a:headEnd len="lg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2" name=""/>
            <p:cNvSpPr/>
            <p:nvPr/>
          </p:nvSpPr>
          <p:spPr>
            <a:xfrm flipH="1">
              <a:off x="3203640" y="3759480"/>
              <a:ext cx="792000" cy="12600"/>
            </a:xfrm>
            <a:prstGeom prst="line">
              <a:avLst/>
            </a:prstGeom>
            <a:ln w="25560">
              <a:solidFill>
                <a:srgbClr val="000000"/>
              </a:solidFill>
              <a:miter/>
              <a:headEnd len="lg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3" name=""/>
            <p:cNvSpPr/>
            <p:nvPr/>
          </p:nvSpPr>
          <p:spPr>
            <a:xfrm>
              <a:off x="7164360" y="3268800"/>
              <a:ext cx="846000" cy="609480"/>
            </a:xfrm>
            <a:prstGeom prst="flowChartAlternateProcess">
              <a:avLst/>
            </a:prstGeom>
            <a:solidFill>
              <a:srgbClr val="ffff99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4" name=""/>
            <p:cNvSpPr/>
            <p:nvPr/>
          </p:nvSpPr>
          <p:spPr>
            <a:xfrm>
              <a:off x="6948360" y="2980080"/>
              <a:ext cx="1297080" cy="3070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8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GB" sz="1400" spc="-1" strike="noStrike">
                  <a:solidFill>
                    <a:srgbClr val="000000"/>
                  </a:solidFill>
                  <a:latin typeface="Arial"/>
                </a:rPr>
                <a:t>Reciever</a:t>
              </a:r>
              <a:endParaRPr b="0" lang="en-IN" sz="1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115" name=""/>
            <p:cNvSpPr/>
            <p:nvPr/>
          </p:nvSpPr>
          <p:spPr>
            <a:xfrm>
              <a:off x="6948360" y="4043520"/>
              <a:ext cx="1297080" cy="9464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8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GB" sz="1400" spc="-1" strike="noStrike">
                  <a:solidFill>
                    <a:srgbClr val="000000"/>
                  </a:solidFill>
                  <a:latin typeface="Arial"/>
                </a:rPr>
                <a:t>TV, Stero, DVD, CD Player, Radio, etc</a:t>
              </a:r>
              <a:endParaRPr b="0" lang="en-IN" sz="1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116" name=""/>
            <p:cNvSpPr/>
            <p:nvPr/>
          </p:nvSpPr>
          <p:spPr>
            <a:xfrm>
              <a:off x="3995640" y="3449880"/>
              <a:ext cx="846360" cy="609480"/>
            </a:xfrm>
            <a:prstGeom prst="flowChartAlternateProcess">
              <a:avLst/>
            </a:prstGeom>
            <a:solidFill>
              <a:srgbClr val="ffff99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7" name=""/>
            <p:cNvSpPr/>
            <p:nvPr/>
          </p:nvSpPr>
          <p:spPr>
            <a:xfrm>
              <a:off x="3780000" y="3106800"/>
              <a:ext cx="1296720" cy="3070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8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GB" sz="1400" spc="-1" strike="noStrike">
                  <a:solidFill>
                    <a:srgbClr val="000000"/>
                  </a:solidFill>
                  <a:latin typeface="Arial"/>
                </a:rPr>
                <a:t>Transmitter</a:t>
              </a:r>
              <a:endParaRPr b="0" lang="en-IN" sz="1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118" name=""/>
            <p:cNvSpPr/>
            <p:nvPr/>
          </p:nvSpPr>
          <p:spPr>
            <a:xfrm flipH="1">
              <a:off x="4858920" y="3700800"/>
              <a:ext cx="792360" cy="12600"/>
            </a:xfrm>
            <a:prstGeom prst="line">
              <a:avLst/>
            </a:prstGeom>
            <a:ln w="25560">
              <a:solidFill>
                <a:srgbClr val="000000"/>
              </a:solidFill>
              <a:miter/>
              <a:headEnd len="lg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9" name=""/>
            <p:cNvSpPr/>
            <p:nvPr/>
          </p:nvSpPr>
          <p:spPr>
            <a:xfrm>
              <a:off x="5291280" y="3051360"/>
              <a:ext cx="1296720" cy="3070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8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GB" sz="1400" spc="-1" strike="noStrike">
                  <a:solidFill>
                    <a:srgbClr val="000000"/>
                  </a:solidFill>
                  <a:latin typeface="Arial"/>
                </a:rPr>
                <a:t>Infra Red</a:t>
              </a:r>
              <a:endParaRPr b="0" lang="en-IN" sz="1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120" name=""/>
            <p:cNvSpPr/>
            <p:nvPr/>
          </p:nvSpPr>
          <p:spPr>
            <a:xfrm>
              <a:off x="2195640" y="4059360"/>
              <a:ext cx="1296720" cy="3070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8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GB" sz="1400" spc="-1" strike="noStrike">
                  <a:solidFill>
                    <a:srgbClr val="000000"/>
                  </a:solidFill>
                  <a:latin typeface="Arial"/>
                </a:rPr>
                <a:t>Logic</a:t>
              </a:r>
              <a:endParaRPr b="0" lang="en-IN" sz="1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121" name=""/>
            <p:cNvSpPr/>
            <p:nvPr/>
          </p:nvSpPr>
          <p:spPr>
            <a:xfrm>
              <a:off x="684360" y="4059360"/>
              <a:ext cx="1296720" cy="3070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8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GB" sz="1400" spc="-1" strike="noStrike">
                  <a:solidFill>
                    <a:srgbClr val="000000"/>
                  </a:solidFill>
                  <a:latin typeface="Arial"/>
                </a:rPr>
                <a:t>Power</a:t>
              </a:r>
              <a:endParaRPr b="0" lang="en-IN" sz="1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User Interface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Buttons: push and scroll wheel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Display: LCD Display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Look &amp; Feel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Cases: curved or flat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Materials: plastic, rubber, wood or titanium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Other 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Logic – simple, regular, advanced (all have a built in transmitter)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Power – battery, hand dynamo, kinetic, solar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Small, slim compact handheld device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Use less and simple components </a:t>
            </a:r>
            <a:r>
              <a:rPr b="0" lang="en-GB" sz="3200" spc="-1" strike="noStrike">
                <a:solidFill>
                  <a:srgbClr val="ffffff"/>
                </a:solidFill>
                <a:latin typeface="Wingdings"/>
                <a:ea typeface="Wingdings"/>
              </a:rPr>
              <a:t>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 impacts quantity of functions we want to fufill and production costs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0" name=""/>
          <p:cNvGraphicFramePr/>
          <p:nvPr/>
        </p:nvGraphicFramePr>
        <p:xfrm>
          <a:off x="446040" y="415800"/>
          <a:ext cx="8229600" cy="509112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56520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i="1" lang="en-GB" sz="2800" spc="-1" strike="noStrike" u="sng">
                          <a:solidFill>
                            <a:srgbClr val="ffffff"/>
                          </a:solidFill>
                          <a:uFillTx/>
                          <a:latin typeface="Tahoma"/>
                        </a:rPr>
                        <a:t>Function</a:t>
                      </a:r>
                      <a:endParaRPr b="0" lang="en-IN" sz="2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</a:lnL>
                    <a:lnR w="5760">
                      <a:solidFill>
                        <a:srgbClr val="ffffff"/>
                      </a:solidFill>
                    </a:lnR>
                    <a:lnT w="5760">
                      <a:solidFill>
                        <a:srgbClr val="ffffff"/>
                      </a:solidFill>
                    </a:lnT>
                    <a:lnB w="576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i="1" lang="en-GB" sz="2800" spc="-1" strike="noStrike" u="sng">
                          <a:solidFill>
                            <a:srgbClr val="ffffff"/>
                          </a:solidFill>
                          <a:uFillTx/>
                          <a:latin typeface="Tahoma"/>
                        </a:rPr>
                        <a:t>Description</a:t>
                      </a:r>
                      <a:endParaRPr b="0" lang="en-IN" sz="2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</a:lnL>
                    <a:lnR w="5760">
                      <a:solidFill>
                        <a:srgbClr val="ffffff"/>
                      </a:solidFill>
                    </a:lnR>
                    <a:lnT w="5760">
                      <a:solidFill>
                        <a:srgbClr val="ffffff"/>
                      </a:solidFill>
                    </a:lnT>
                    <a:lnB w="5760">
                      <a:solidFill>
                        <a:srgbClr val="ffffff"/>
                      </a:solidFill>
                    </a:lnB>
                    <a:noFill/>
                  </a:tcPr>
                </a:tc>
              </a:tr>
              <a:tr h="905040">
                <a:tc>
                  <a:tcPr anchor="t" marL="90000" marR="90000">
                    <a:lnL w="5760">
                      <a:solidFill>
                        <a:srgbClr val="ffffff"/>
                      </a:solidFill>
                    </a:lnL>
                    <a:lnR w="5760">
                      <a:solidFill>
                        <a:srgbClr val="ffffff"/>
                      </a:solidFill>
                    </a:lnR>
                    <a:lnT w="5760">
                      <a:solidFill>
                        <a:srgbClr val="ffffff"/>
                      </a:solidFill>
                    </a:lnT>
                    <a:lnB w="576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cPr anchor="t" marL="90000" marR="90000">
                    <a:lnL w="5760">
                      <a:solidFill>
                        <a:srgbClr val="ffffff"/>
                      </a:solidFill>
                    </a:lnL>
                    <a:lnR w="5760">
                      <a:solidFill>
                        <a:srgbClr val="ffffff"/>
                      </a:solidFill>
                    </a:lnR>
                    <a:lnT w="5760">
                      <a:solidFill>
                        <a:srgbClr val="ffffff"/>
                      </a:solidFill>
                    </a:lnT>
                    <a:lnB w="5760">
                      <a:solidFill>
                        <a:srgbClr val="ffffff"/>
                      </a:solidFill>
                    </a:lnB>
                    <a:noFill/>
                  </a:tcPr>
                </a:tc>
              </a:tr>
              <a:tr h="906480">
                <a:tc>
                  <a:tcPr anchor="t" marL="90000" marR="90000">
                    <a:lnL w="5760">
                      <a:solidFill>
                        <a:srgbClr val="ffffff"/>
                      </a:solidFill>
                    </a:lnL>
                    <a:lnR w="5760">
                      <a:solidFill>
                        <a:srgbClr val="ffffff"/>
                      </a:solidFill>
                    </a:lnR>
                    <a:lnT w="5760">
                      <a:solidFill>
                        <a:srgbClr val="ffffff"/>
                      </a:solidFill>
                    </a:lnT>
                    <a:lnB w="576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cPr anchor="t" marL="90000" marR="90000">
                    <a:lnL w="5760">
                      <a:solidFill>
                        <a:srgbClr val="ffffff"/>
                      </a:solidFill>
                    </a:lnL>
                    <a:lnR w="5760">
                      <a:solidFill>
                        <a:srgbClr val="ffffff"/>
                      </a:solidFill>
                    </a:lnR>
                    <a:lnT w="5760">
                      <a:solidFill>
                        <a:srgbClr val="ffffff"/>
                      </a:solidFill>
                    </a:lnT>
                    <a:lnB w="5760">
                      <a:solidFill>
                        <a:srgbClr val="ffffff"/>
                      </a:solidFill>
                    </a:lnB>
                    <a:noFill/>
                  </a:tcPr>
                </a:tc>
              </a:tr>
              <a:tr h="904680">
                <a:tc>
                  <a:tcPr anchor="t" marL="90000" marR="90000">
                    <a:lnL w="5760">
                      <a:solidFill>
                        <a:srgbClr val="ffffff"/>
                      </a:solidFill>
                    </a:lnL>
                    <a:lnR w="5760">
                      <a:solidFill>
                        <a:srgbClr val="ffffff"/>
                      </a:solidFill>
                    </a:lnR>
                    <a:lnT w="5760">
                      <a:solidFill>
                        <a:srgbClr val="ffffff"/>
                      </a:solidFill>
                    </a:lnT>
                    <a:lnB w="576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cPr anchor="t" marL="90000" marR="90000">
                    <a:lnL w="5760">
                      <a:solidFill>
                        <a:srgbClr val="ffffff"/>
                      </a:solidFill>
                    </a:lnL>
                    <a:lnR w="5760">
                      <a:solidFill>
                        <a:srgbClr val="ffffff"/>
                      </a:solidFill>
                    </a:lnR>
                    <a:lnT w="5760">
                      <a:solidFill>
                        <a:srgbClr val="ffffff"/>
                      </a:solidFill>
                    </a:lnT>
                    <a:lnB w="5760">
                      <a:solidFill>
                        <a:srgbClr val="ffffff"/>
                      </a:solidFill>
                    </a:lnB>
                    <a:noFill/>
                  </a:tcPr>
                </a:tc>
              </a:tr>
              <a:tr h="905040">
                <a:tc>
                  <a:tcPr anchor="t" marL="90000" marR="90000">
                    <a:lnL w="5760">
                      <a:solidFill>
                        <a:srgbClr val="ffffff"/>
                      </a:solidFill>
                    </a:lnL>
                    <a:lnR w="5760">
                      <a:solidFill>
                        <a:srgbClr val="ffffff"/>
                      </a:solidFill>
                    </a:lnR>
                    <a:lnT w="5760">
                      <a:solidFill>
                        <a:srgbClr val="ffffff"/>
                      </a:solidFill>
                    </a:lnT>
                    <a:lnB w="576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cPr anchor="t" marL="90000" marR="90000">
                    <a:lnL w="5760">
                      <a:solidFill>
                        <a:srgbClr val="ffffff"/>
                      </a:solidFill>
                    </a:lnL>
                    <a:lnR w="5760">
                      <a:solidFill>
                        <a:srgbClr val="ffffff"/>
                      </a:solidFill>
                    </a:lnR>
                    <a:lnT w="5760">
                      <a:solidFill>
                        <a:srgbClr val="ffffff"/>
                      </a:solidFill>
                    </a:lnT>
                    <a:lnB w="5760">
                      <a:solidFill>
                        <a:srgbClr val="ffffff"/>
                      </a:solidFill>
                    </a:lnB>
                    <a:noFill/>
                  </a:tcPr>
                </a:tc>
              </a:tr>
              <a:tr h="904680">
                <a:tc>
                  <a:tcPr anchor="t" marL="90000" marR="90000">
                    <a:lnL w="5760">
                      <a:solidFill>
                        <a:srgbClr val="ffffff"/>
                      </a:solidFill>
                    </a:lnL>
                    <a:lnR w="5760">
                      <a:solidFill>
                        <a:srgbClr val="ffffff"/>
                      </a:solidFill>
                    </a:lnR>
                    <a:lnT w="5760">
                      <a:solidFill>
                        <a:srgbClr val="ffffff"/>
                      </a:solidFill>
                    </a:lnT>
                    <a:lnB w="576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cPr anchor="t" marL="90000" marR="90000">
                    <a:lnL w="5760">
                      <a:solidFill>
                        <a:srgbClr val="ffffff"/>
                      </a:solidFill>
                    </a:lnL>
                    <a:lnR w="5760">
                      <a:solidFill>
                        <a:srgbClr val="ffffff"/>
                      </a:solidFill>
                    </a:lnR>
                    <a:lnT w="5760">
                      <a:solidFill>
                        <a:srgbClr val="ffffff"/>
                      </a:solidFill>
                    </a:lnT>
                    <a:lnB w="5760">
                      <a:solidFill>
                        <a:srgbClr val="ffffff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2004-12-13T19:40:19Z</dcterms:modified>
  <cp:revision>13</cp:revision>
  <dc:subject/>
  <dc:title>PowerPoint Presentation</dc:title>
</cp:coreProperties>
</file>