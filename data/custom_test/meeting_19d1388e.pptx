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F49E14A-90A0-4B93-9C33-1DAAE730926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EF5F9C4-5BA4-47AE-A016-21939DCF84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29D1DD9-C062-4AF7-9A27-9F943079E9B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FE1548-0BCE-4D4C-BD59-009C8339F72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B60572B-54EE-424E-B6A8-80AC065F396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AFE5AB3-75F8-4727-AC4C-1C35DD811AE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5B257D-5D46-479C-B3AB-CA31EF836F0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0260A81-5FA8-40C2-B20C-ABC9C3D3C4B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CB6BBC-937B-4CA6-9196-C221CC71204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CA5E2DF-93FD-455C-B819-A9A1DFCCBA4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4DEB3AA-42E9-428C-B09B-49750461574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D63D1C-77A3-4A3E-B5CF-44053BB01B7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A937086-7606-4C7E-BF46-2FE2E603B1A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1B27171-55F2-4562-8381-BCC09016A7D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F93D378-870C-45B6-9AAB-42E2437094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6E3B126-18DC-4AD5-88DA-EE818FE7EA5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22A41A9-F112-4EDB-B072-817252CDD3A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C1804E-7F43-4592-999F-9B22FF83EAE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9ABCB79-0430-4C5B-8111-432B242FB9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613C718-2B60-4D31-8A28-27EB85B7C0E7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F7FFD13-41E8-4820-942E-051575C1D0E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15491D-59F5-4496-A9CB-CC59E4B6933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6B20CF-75FD-4A75-B837-DED1C612611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18C28C-647C-4E8D-8A43-B6273476FB2C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E991C88-6F7B-49EC-8D0F-DFEC6F3545B9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860859D-D847-43D6-84AC-D94E8CB443F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David,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Specify a base “implementation” from which to kick start ideas and get the meeting talking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Collect feedback from the other team members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Incorporate into design or start from scratch if necessary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0" name=""/>
          <p:cNvSpPr/>
          <p:nvPr/>
        </p:nvSpPr>
        <p:spPr>
          <a:xfrm>
            <a:off x="395280" y="1484280"/>
            <a:ext cx="8280360" cy="432108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1" name=""/>
          <p:cNvGrpSpPr/>
          <p:nvPr/>
        </p:nvGrpSpPr>
        <p:grpSpPr>
          <a:xfrm>
            <a:off x="684360" y="1971720"/>
            <a:ext cx="7561080" cy="3041640"/>
            <a:chOff x="684360" y="1971720"/>
            <a:chExt cx="7561080" cy="3041640"/>
          </a:xfrm>
        </p:grpSpPr>
        <p:grpSp>
          <p:nvGrpSpPr>
            <p:cNvPr id="102" name=""/>
            <p:cNvGrpSpPr/>
            <p:nvPr/>
          </p:nvGrpSpPr>
          <p:grpSpPr>
            <a:xfrm>
              <a:off x="971640" y="4348440"/>
              <a:ext cx="672480" cy="664920"/>
              <a:chOff x="971640" y="4348440"/>
              <a:chExt cx="672480" cy="664920"/>
            </a:xfrm>
          </p:grpSpPr>
          <p:sp>
            <p:nvSpPr>
              <p:cNvPr id="103" name=""/>
              <p:cNvSpPr/>
              <p:nvPr/>
            </p:nvSpPr>
            <p:spPr>
              <a:xfrm>
                <a:off x="1222200" y="4348440"/>
                <a:ext cx="12240" cy="66492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4" name=""/>
              <p:cNvSpPr/>
              <p:nvPr/>
            </p:nvSpPr>
            <p:spPr>
              <a:xfrm>
                <a:off x="1411200" y="4498920"/>
                <a:ext cx="12240" cy="37440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5" name=""/>
              <p:cNvSpPr/>
              <p:nvPr/>
            </p:nvSpPr>
            <p:spPr>
              <a:xfrm>
                <a:off x="971640" y="4692600"/>
                <a:ext cx="23472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  <p:sp>
            <p:nvSpPr>
              <p:cNvPr id="106" name=""/>
              <p:cNvSpPr/>
              <p:nvPr/>
            </p:nvSpPr>
            <p:spPr>
              <a:xfrm>
                <a:off x="1409760" y="4678200"/>
                <a:ext cx="234360" cy="0"/>
              </a:xfrm>
              <a:prstGeom prst="line">
                <a:avLst/>
              </a:prstGeom>
              <a:ln w="9360">
                <a:solidFill>
                  <a:srgbClr val="000000"/>
                </a:solidFill>
                <a:miter/>
              </a:ln>
            </p:spPr>
            <p:style>
              <a:lnRef idx="0"/>
              <a:fillRef idx="0"/>
              <a:effectRef idx="0"/>
              <a:fontRef idx="minor"/>
            </p:style>
          </p:sp>
        </p:grpSp>
        <p:sp>
          <p:nvSpPr>
            <p:cNvPr id="107" name=""/>
            <p:cNvSpPr/>
            <p:nvPr/>
          </p:nvSpPr>
          <p:spPr>
            <a:xfrm>
              <a:off x="5651640" y="3411720"/>
              <a:ext cx="609480" cy="609480"/>
            </a:xfrm>
            <a:prstGeom prst="flowChartSummingJunction">
              <a:avLst/>
            </a:prstGeom>
            <a:solidFill>
              <a:srgbClr val="ff00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2411280" y="2298960"/>
              <a:ext cx="846360" cy="609480"/>
            </a:xfrm>
            <a:prstGeom prst="flowChartAlternateProcess">
              <a:avLst/>
            </a:prstGeom>
            <a:solidFill>
              <a:srgbClr val="ffff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2195640" y="1971720"/>
              <a:ext cx="1296720" cy="5202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User Interface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10" name=""/>
            <p:cNvSpPr/>
            <p:nvPr/>
          </p:nvSpPr>
          <p:spPr>
            <a:xfrm>
              <a:off x="2484360" y="3484800"/>
              <a:ext cx="679680" cy="565200"/>
            </a:xfrm>
            <a:prstGeom prst="flowChartPunchedCard">
              <a:avLst/>
            </a:prstGeom>
            <a:solidFill>
              <a:srgbClr val="99cc00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" name=""/>
            <p:cNvSpPr/>
            <p:nvPr/>
          </p:nvSpPr>
          <p:spPr>
            <a:xfrm flipV="1">
              <a:off x="2843280" y="2908440"/>
              <a:ext cx="0" cy="563760"/>
            </a:xfrm>
            <a:prstGeom prst="line">
              <a:avLst/>
            </a:prstGeom>
            <a:ln w="25560">
              <a:solidFill>
                <a:srgbClr val="000000"/>
              </a:solidFill>
              <a:miter/>
              <a:head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 flipH="1">
              <a:off x="3203640" y="3759480"/>
              <a:ext cx="792000" cy="12600"/>
            </a:xfrm>
            <a:prstGeom prst="line">
              <a:avLst/>
            </a:prstGeom>
            <a:ln w="25560">
              <a:solidFill>
                <a:srgbClr val="000000"/>
              </a:solidFill>
              <a:miter/>
              <a:head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>
              <a:off x="7164360" y="3268800"/>
              <a:ext cx="846000" cy="609480"/>
            </a:xfrm>
            <a:prstGeom prst="flowChartAlternateProcess">
              <a:avLst/>
            </a:prstGeom>
            <a:solidFill>
              <a:srgbClr val="ffff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4" name=""/>
            <p:cNvSpPr/>
            <p:nvPr/>
          </p:nvSpPr>
          <p:spPr>
            <a:xfrm>
              <a:off x="6948360" y="2980080"/>
              <a:ext cx="129708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Reciever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15" name=""/>
            <p:cNvSpPr/>
            <p:nvPr/>
          </p:nvSpPr>
          <p:spPr>
            <a:xfrm>
              <a:off x="6948360" y="4043520"/>
              <a:ext cx="1297080" cy="94644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TV, Stero, DVD, CD Player, Radio, etc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16" name=""/>
            <p:cNvSpPr/>
            <p:nvPr/>
          </p:nvSpPr>
          <p:spPr>
            <a:xfrm>
              <a:off x="3995640" y="3449880"/>
              <a:ext cx="846360" cy="609480"/>
            </a:xfrm>
            <a:prstGeom prst="flowChartAlternateProcess">
              <a:avLst/>
            </a:prstGeom>
            <a:solidFill>
              <a:srgbClr val="ffff99"/>
            </a:solidFill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7" name=""/>
            <p:cNvSpPr/>
            <p:nvPr/>
          </p:nvSpPr>
          <p:spPr>
            <a:xfrm>
              <a:off x="3780000" y="3106800"/>
              <a:ext cx="129672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Transmitter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18" name=""/>
            <p:cNvSpPr/>
            <p:nvPr/>
          </p:nvSpPr>
          <p:spPr>
            <a:xfrm flipH="1">
              <a:off x="4858920" y="3700800"/>
              <a:ext cx="792360" cy="12600"/>
            </a:xfrm>
            <a:prstGeom prst="line">
              <a:avLst/>
            </a:prstGeom>
            <a:ln w="25560">
              <a:solidFill>
                <a:srgbClr val="000000"/>
              </a:solidFill>
              <a:miter/>
              <a:headEnd len="lg" type="triangle" w="lg"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9" name=""/>
            <p:cNvSpPr/>
            <p:nvPr/>
          </p:nvSpPr>
          <p:spPr>
            <a:xfrm>
              <a:off x="5291280" y="3051360"/>
              <a:ext cx="129672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Infra Red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20" name=""/>
            <p:cNvSpPr/>
            <p:nvPr/>
          </p:nvSpPr>
          <p:spPr>
            <a:xfrm>
              <a:off x="2195640" y="4059360"/>
              <a:ext cx="129672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Logic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121" name=""/>
            <p:cNvSpPr/>
            <p:nvPr/>
          </p:nvSpPr>
          <p:spPr>
            <a:xfrm>
              <a:off x="684360" y="4059360"/>
              <a:ext cx="1296720" cy="30708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 algn="ctr">
                <a:lnSpc>
                  <a:spcPct val="100000"/>
                </a:lnSpc>
                <a:spcBef>
                  <a:spcPts val="8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GB" sz="1400" spc="-1" strike="noStrike">
                  <a:solidFill>
                    <a:srgbClr val="000000"/>
                  </a:solidFill>
                  <a:latin typeface="Arial"/>
                </a:rPr>
                <a:t>Power</a:t>
              </a:r>
              <a:endParaRPr b="0" lang="en-IN" sz="1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User Interface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Buttons: push and scroll wheel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Display: LCD Display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Look &amp; Feel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Cases: curved or flat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Materials: plastic, rubber, wood or titanium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Other 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Logic – simple, regular, advanced (all have a built in transmitter)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Power – battery, hand dynamo, kinetic, solar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Small, slim compact handheld device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Use less and simple components </a:t>
            </a:r>
            <a:r>
              <a:rPr b="0" lang="en-GB" sz="3200" spc="-1" strike="noStrike">
                <a:solidFill>
                  <a:srgbClr val="ffffff"/>
                </a:solidFill>
                <a:latin typeface="Wingdings"/>
                <a:ea typeface="Wingdings"/>
              </a:rPr>
              <a:t>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 impacts quantity of functions we want to fufill and production costs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" name=""/>
          <p:cNvGraphicFramePr/>
          <p:nvPr/>
        </p:nvGraphicFramePr>
        <p:xfrm>
          <a:off x="446040" y="415800"/>
          <a:ext cx="8229600" cy="509112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565200"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i="1" lang="en-GB" sz="2800" spc="-1" strike="noStrike" u="sng">
                          <a:solidFill>
                            <a:srgbClr val="ffffff"/>
                          </a:solidFill>
                          <a:uFillTx/>
                          <a:latin typeface="Tahoma"/>
                        </a:rPr>
                        <a:t>Function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xBody>
                    <a:bodyPr lIns="90000" rIns="90000" tIns="46800" bIns="46800"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spcBef>
                          <a:spcPts val="700"/>
                        </a:spcBef>
                        <a:tabLst>
                          <a:tab algn="l" pos="0"/>
                          <a:tab algn="l" pos="914400"/>
                          <a:tab algn="l" pos="1828800"/>
                          <a:tab algn="l" pos="2743200"/>
                          <a:tab algn="l" pos="3657600"/>
                          <a:tab algn="l" pos="4572000"/>
                          <a:tab algn="l" pos="5486400"/>
                          <a:tab algn="l" pos="6400800"/>
                          <a:tab algn="l" pos="7315200"/>
                          <a:tab algn="l" pos="8229600"/>
                          <a:tab algn="l" pos="9144000"/>
                          <a:tab algn="l" pos="10058400"/>
                        </a:tabLst>
                      </a:pPr>
                      <a:r>
                        <a:rPr b="0" i="1" lang="en-GB" sz="2800" spc="-1" strike="noStrike" u="sng">
                          <a:solidFill>
                            <a:srgbClr val="ffffff"/>
                          </a:solidFill>
                          <a:uFillTx/>
                          <a:latin typeface="Tahoma"/>
                        </a:rPr>
                        <a:t>Description</a:t>
                      </a:r>
                      <a:endParaRPr b="0" lang="en-IN" sz="2800" spc="-1" strike="noStrike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</a:tr>
              <a:tr h="905040">
                <a:tc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</a:tr>
              <a:tr h="906480">
                <a:tc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</a:tr>
              <a:tr h="904680">
                <a:tc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</a:tr>
              <a:tr h="905040">
                <a:tc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</a:tr>
              <a:tr h="904680">
                <a:tc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  <a:tc>
                  <a:tcPr anchor="t" marL="90000" marR="90000">
                    <a:lnL w="5760">
                      <a:solidFill>
                        <a:srgbClr val="ffffff"/>
                      </a:solidFill>
                    </a:lnL>
                    <a:lnR w="5760">
                      <a:solidFill>
                        <a:srgbClr val="ffffff"/>
                      </a:solidFill>
                    </a:lnR>
                    <a:lnT w="5760">
                      <a:solidFill>
                        <a:srgbClr val="ffffff"/>
                      </a:solidFill>
                    </a:lnT>
                    <a:lnB w="5760">
                      <a:solidFill>
                        <a:srgbClr val="ffffff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2004-12-13T19:40:19Z</dcterms:modified>
  <cp:revision>13</cp:revision>
  <dc:subject/>
  <dc:title>PowerPoint Presentation</dc:title>
</cp:coreProperties>
</file>