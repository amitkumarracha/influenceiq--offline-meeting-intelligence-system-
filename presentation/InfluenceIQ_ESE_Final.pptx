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Anushka Chatterjee</a:t>
            </a:r>
          </a:p>
          <a:p>
            <a:r>
              <a:t>TIME: 30 seconds</a:t>
            </a:r>
          </a:p>
          <a:p/>
          <a:p>
            <a:r>
              <a:t>ONE MESSAGE: MAI project: local meeting review with source evidence.</a:t>
            </a:r>
          </a:p>
          <a:p/>
          <a:p>
            <a:r>
              <a:t>SAY:</a:t>
            </a:r>
          </a:p>
          <a:p>
            <a:r>
              <a:t>Good evening. We are Group 12, presenting our MAI project, InfluenceIQ, under the guidance of Dr. Nivedita Mishra at Symbiosis Institute of Technology, Pune. Our aim is to help a reviewer find relevant decision discussion and return to the original words, speaker and recording time. We will explain the full architecture, compare the learned discussion detector with other classifiers, and show the scope of the results.</a:t>
            </a:r>
          </a:p>
          <a:p/>
          <a:p>
            <a:r>
              <a:t>TRANSITION:</a:t>
            </a:r>
          </a:p>
          <a:p>
            <a:r>
              <a:t>First, why is a meeting recording alone difficult to review?</a:t>
            </a:r>
          </a:p>
          <a:p/>
          <a:p>
            <a:r>
              <a:t>EVIDENCE / CAVEAT:</a:t>
            </a:r>
          </a:p>
          <a:p>
            <a:r>
              <a:t>Cover follows the supplied reference layout with the corrected MAI Project label. Team contacts: Anushka — anushkac2311@gmail.com; Amitkumar — rachaamitkumar@gmail.com; Sahil — sahilawatramani@gmail.com; Shriyans — shriyanssahoo2005@gmail.com. Faculty guide: nivedita.mishra@sitpune.edu.in.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Anushka Chatterjee</a:t>
            </a:r>
          </a:p>
          <a:p>
            <a:r>
              <a:t>TIME: 45 seconds</a:t>
            </a:r>
          </a:p>
          <a:p/>
          <a:p>
            <a:r>
              <a:t>ONE MESSAGE: Our target is a review task people can understand.</a:t>
            </a:r>
          </a:p>
          <a:p/>
          <a:p>
            <a:r>
              <a:t>SAY:</a:t>
            </a:r>
          </a:p>
          <a:p>
            <a:r>
              <a:t>A recording contains the whole meeting, but a reviewer still has to locate the part that matters. There are three practical questions: where was the topic discussed, who spoke, and what exactly was said? Errors in any of these can change the interpretation. We therefore designed a review workflow around source passages. The system helps a person navigate and inspect evidence. It does not replace the person who decides whether a proposal was actually accepted.</a:t>
            </a:r>
          </a:p>
          <a:p/>
          <a:p>
            <a:r>
              <a:t>TRANSITION:</a:t>
            </a:r>
          </a:p>
          <a:p>
            <a:r>
              <a:t>A small example makes that distinction clearer.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Anushka Chatterjee</a:t>
            </a:r>
          </a:p>
          <a:p>
            <a:r>
              <a:t>TIME: 50 seconds</a:t>
            </a:r>
          </a:p>
          <a:p/>
          <a:p>
            <a:r>
              <a:t>ONE MESSAGE: A discussion label does not prove that a final decision was made.</a:t>
            </a:r>
          </a:p>
          <a:p/>
          <a:p>
            <a:r>
              <a:t>SAY:</a:t>
            </a:r>
          </a:p>
          <a:p>
            <a:r>
              <a:t>The statement on the left discusses a possible choice and asks for evidence. It is relevant to a decision, but the choice is not final. The statement on the right sounds like an agreement and can become a candidate for further review. Our supervised model is trained for the broader discussion-membership task. Its output is therefore a passage to inspect, not an automatic final decision. These sentences are illustrative examples; we are not presenting them as a model-accuracy test.</a:t>
            </a:r>
          </a:p>
          <a:p/>
          <a:p>
            <a:r>
              <a:t>TRANSITION:</a:t>
            </a:r>
          </a:p>
          <a:p>
            <a:r>
              <a:t>That gives us a precise set of project objectives.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Anushka Chatterjee</a:t>
            </a:r>
          </a:p>
          <a:p>
            <a:r>
              <a:t>TIME: 40 seconds</a:t>
            </a:r>
          </a:p>
          <a:p/>
          <a:p>
            <a:r>
              <a:t>ONE MESSAGE: Local processing, traceability and task-specific evaluation are the design requirements.</a:t>
            </a:r>
          </a:p>
          <a:p/>
          <a:p>
            <a:r>
              <a:t>SAY:</a:t>
            </a:r>
          </a:p>
          <a:p>
            <a:r>
              <a:t>Our first objective is local processing after model provisioning. The second is traceability: a reviewer should see the original text and jump to its time in the recording. The third is evaluation with a clearly defined task. We compare models using the same discussion references, and evaluate speech errors separately. Functional requirements include audio upload or recording, optional presentations, editable participant labels, explicit stage status and source-preserving exports.</a:t>
            </a:r>
          </a:p>
          <a:p/>
          <a:p>
            <a:r>
              <a:t>TRANSITION:</a:t>
            </a:r>
          </a:p>
          <a:p>
            <a:r>
              <a:t>We positioned those objectives against related work rather than copying unrelated benchmark numbers.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Amitkumar Racha</a:t>
            </a:r>
          </a:p>
          <a:p>
            <a:r>
              <a:t>TIME: 35 seconds</a:t>
            </a:r>
          </a:p>
          <a:p/>
          <a:p>
            <a:r>
              <a:t>ONE MESSAGE: All six phases have artifacts; a fresh independent final evaluation is still future work.</a:t>
            </a:r>
          </a:p>
          <a:p/>
          <a:p>
            <a:r>
              <a:t>SAY:</a:t>
            </a:r>
          </a:p>
          <a:p>
            <a:r>
              <a:t>The project progressed through six documented phases: defining scope, preparing project-separated data, comparing classifiers, selecting a score combination, integrating source-based review, and recording evaluation artifacts. We have removed the rough deck’s empty month fields. There is no evidence for precise phase dates, so this shows the completed sequence honestly. Independent final evaluation is not marked complete.</a:t>
            </a:r>
          </a:p>
          <a:p/>
          <a:p>
            <a:r>
              <a:t>TRANSITION:</a:t>
            </a:r>
          </a:p>
          <a:p>
            <a:r>
              <a:t>Here is what a user actually reviews.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Amitkumar Racha</a:t>
            </a:r>
          </a:p>
          <a:p>
            <a:r>
              <a:t>TIME: 50 seconds</a:t>
            </a:r>
          </a:p>
          <a:p/>
          <a:p>
            <a:r>
              <a:t>ONE MESSAGE: The contribution is bounded engineering and comparative evidence, not a new speech model.</a:t>
            </a:r>
          </a:p>
          <a:p/>
          <a:p>
            <a:r>
              <a:t>SAY:</a:t>
            </a:r>
          </a:p>
          <a:p>
            <a:r>
              <a:t>CALO established a broad meeting-assistant architecture. Whisper and alignment work provide the speech context, and diarization benchmarks show why speaker errors deserve a separate measure. Meeting datasets also study summarisation and evidence. Our implemented focus is narrower: local processing with extractive review suggestions, source links and a matched discussion-classifier comparison. We do not compare our F1 score with a summarisation score or claim that every external system is cloud-only or untraceable.</a:t>
            </a:r>
          </a:p>
          <a:p/>
          <a:p>
            <a:r>
              <a:t>TRANSITION:</a:t>
            </a:r>
          </a:p>
          <a:p>
            <a:r>
              <a:t>The next slide defines the project gap before we examine the complete solution.</a:t>
            </a:r>
          </a:p>
          <a:p/>
          <a:p>
            <a:r>
              <a:t>EVIDENCE / CAVEAT:</a:t>
            </a:r>
          </a:p>
          <a:p>
            <a:r>
              <a:t>References follow the paper. This is a scope comparison, not a head-to-head benchmark of complete assistants.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Amitkumar Racha</a:t>
            </a:r>
          </a:p>
          <a:p>
            <a:r>
              <a:t>TIME: 45 seconds</a:t>
            </a:r>
          </a:p>
          <a:p/>
          <a:p>
            <a:r>
              <a:t>ONE MESSAGE: The gap is the bounded integration and evidence needed for this project.</a:t>
            </a:r>
          </a:p>
          <a:p/>
          <a:p>
            <a:r>
              <a:t>SAY:</a:t>
            </a:r>
          </a:p>
          <a:p>
            <a:r>
              <a:t>Related work already provides recognition, diarization and meeting-assistant ideas. We therefore do not claim that every other assistant lacks local processing or source links. Our engineering task is to connect these components and preserve traceability. Our evaluation task is to separate discussion retrieval from speech errors and final decisions. Independent labels for the complete recording workflow, slide links and influence remain missing. This is our bounded project contribution and the next research need.</a:t>
            </a:r>
          </a:p>
          <a:p/>
          <a:p>
            <a:r>
              <a:t>TRANSITION:</a:t>
            </a:r>
          </a:p>
          <a:p>
            <a:r>
              <a:t>The full architecture shows how these parts connect.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Amitkumar Racha</a:t>
            </a:r>
          </a:p>
          <a:p>
            <a:r>
              <a:t>TIME: 90 seconds</a:t>
            </a:r>
          </a:p>
          <a:p/>
          <a:p>
            <a:r>
              <a:t>ONE MESSAGE: The full architecture separates data processing, learned suggestions and review.</a:t>
            </a:r>
          </a:p>
          <a:p/>
          <a:p>
            <a:r>
              <a:t>SAY:</a:t>
            </a:r>
          </a:p>
          <a:p>
            <a:r>
              <a:t>Read this diagram from left to right. First the browser supplies audio and optional slides; the local API validates inputs and queues one analysis job. Second, speech recognition supplies words and times, while speaker clustering supplies speaker intervals. Cached words are combined with the final speaker intervals. Optional slides are extracted and matched to passages. Third, the learned English discussion branch produces review suggestions. The separate event, evidence, decision and interaction branch supports other candidate outputs and exploratory influence scores. Finally, reports and local persistence feed the review interface. Human edits return to the saved application report. These are data dependencies, not a claim that the modules run simultaneously.</a:t>
            </a:r>
          </a:p>
          <a:p/>
          <a:p>
            <a:r>
              <a:t>POINT / DEMO:</a:t>
            </a:r>
          </a:p>
          <a:p>
            <a:r>
              <a:t>Use three sweeps: capture/preparation; speech and slides; analysis and saved review. Do not read all boxes. A separate editable architecture deck and vector diagram are supplied for close inspection.</a:t>
            </a:r>
          </a:p>
          <a:p/>
          <a:p>
            <a:r>
              <a:t>TRANSITION:</a:t>
            </a:r>
          </a:p>
          <a:p>
            <a:r>
              <a:t>These processing and review stages define the requirements.</a:t>
            </a:r>
          </a:p>
          <a:p/>
          <a:p>
            <a:r>
              <a:t>EVIDENCE / CAVEAT:</a:t>
            </a:r>
          </a:p>
          <a:p>
            <a:r>
              <a:t>Verified against backend/api.py, src/pipeline/orchestrator.py, src/audio/asr.py, src/meeting/discussions.py and report/export modules. The learned discussion stage does not create final-decision anchors or feed the influence score.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Sahil Awatramani</a:t>
            </a:r>
          </a:p>
          <a:p>
            <a:r>
              <a:t>TIME: 45 seconds</a:t>
            </a:r>
          </a:p>
          <a:p/>
          <a:p>
            <a:r>
              <a:t>ONE MESSAGE: Requirements cover the user journey and processing reliability.</a:t>
            </a:r>
          </a:p>
          <a:p/>
          <a:p>
            <a:r>
              <a:t>SAY:</a:t>
            </a:r>
          </a:p>
          <a:p>
            <a:r>
              <a:t>The user must be able to supply audio, optionally attach slides, inspect source passages, correct speaker names and export a report. Operationally, the local models must already be provisioned, processing stages must be visible and the worker must queue analysis. Job state and report artifacts support recovery where available. An optional model failure receives an explicit status. Renaming a speaker changes the displayed identity; repairing a wrong acoustic cluster requires diarization and attribution to run again, reusing unchanged word observations.</a:t>
            </a:r>
          </a:p>
          <a:p/>
          <a:p>
            <a:r>
              <a:t>TRANSITION:</a:t>
            </a:r>
          </a:p>
          <a:p>
            <a:r>
              <a:t>The technology stack maps these requirements to concrete components.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Sahil Awatramani</a:t>
            </a:r>
          </a:p>
          <a:p>
            <a:r>
              <a:t>TIME: 50 seconds</a:t>
            </a:r>
          </a:p>
          <a:p/>
          <a:p>
            <a:r>
              <a:t>ONE MESSAGE: The project trains lightweight classifiers while reusing pretrained speech and embeddings.</a:t>
            </a:r>
          </a:p>
          <a:p/>
          <a:p>
            <a:r>
              <a:t>SAY:</a:t>
            </a:r>
          </a:p>
          <a:p>
            <a:r>
              <a:t>The browser interface uses React, while FastAPI and Python coordinate the local workflow. FFmpeg normalizes the audio; faster-whisper recognizes words; Sherpa-ONNX supplies speaker segmentation and clustering. Presentation parsing extracts native text, tables and notes, and text similarity can propose slide links. The supervised English detector uses train-fitted lexical features and conventional classifiers. SQLite and local artifacts retain reports and job state. We do not fine-tune a speech or embedding foundation model. We do train small classifiers for the discussion task.</a:t>
            </a:r>
          </a:p>
          <a:p/>
          <a:p>
            <a:r>
              <a:t>TRANSITION:</a:t>
            </a:r>
          </a:p>
          <a:p>
            <a:r>
              <a:t>Here is the design of that trained NLP component.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Sahil Awatramani</a:t>
            </a:r>
          </a:p>
          <a:p>
            <a:r>
              <a:t>TIME: 70 seconds</a:t>
            </a:r>
          </a:p>
          <a:p/>
          <a:p>
            <a:r>
              <a:t>ONE MESSAGE: The learned component is small supervised NLP training over fixed lexical features.</a:t>
            </a:r>
          </a:p>
          <a:p/>
          <a:p>
            <a:r>
              <a:t>SAY:</a:t>
            </a:r>
          </a:p>
          <a:p>
            <a:r>
              <a:t>The research unit is a dialogue act: a short manually delimited utterance. An act is positive when at least half its lexical word identifiers fall inside an annotated decision-discussion span. We convert words and character patterns into numerical features, and add context from up to forty acts on each side without crossing meeting boundaries. A random forest and logistic classifier each produce a score. The selected combination is seventy-five percent forest and twenty-five percent logistic, followed by smoothing and a fixed threshold. Labels and outcome categories are not input features. Future context makes this an offline detector. The speech models are pretrained, while these small classifiers are trained on our training partition.</a:t>
            </a:r>
          </a:p>
          <a:p/>
          <a:p>
            <a:r>
              <a:t>TRANSITION:</a:t>
            </a:r>
          </a:p>
          <a:p>
            <a:r>
              <a:t>The implementation also needs a careful separation of data.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Sahil Awatramani</a:t>
            </a:r>
          </a:p>
          <a:p>
            <a:r>
              <a:t>TIME: 60 seconds</a:t>
            </a:r>
          </a:p>
          <a:p/>
          <a:p>
            <a:r>
              <a:t>ONE MESSAGE: The cohort is grouped, but repeated historical inspection limits the final claim.</a:t>
            </a:r>
          </a:p>
          <a:p/>
          <a:p>
            <a:r>
              <a:t>SAY:</a:t>
            </a:r>
          </a:p>
          <a:p>
            <a:r>
              <a:t>We have forty-seven AMI meetings with manual discussion spans. The custom split uses twenty-nine training meetings, six development meetings and twelve historical meetings. All meetings in a project series stay together. We compare four classifier families with local or wider-context features and select each configuration on development F1. However, the historical cohort has been examined across successive rounds and has only three independent project series. We therefore label the results exploratory. Human transcripts and act boundaries are used here, so this is not the accuracy of the complete audio application.</a:t>
            </a:r>
          </a:p>
          <a:p/>
          <a:p>
            <a:r>
              <a:t>TRANSITION:</a:t>
            </a:r>
          </a:p>
          <a:p>
            <a:r>
              <a:t>Here are the actual discussion results under that protocol.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Shriyans Sahoo</a:t>
            </a:r>
          </a:p>
          <a:p>
            <a:r>
              <a:t>TIME: 45 seconds</a:t>
            </a:r>
          </a:p>
          <a:p/>
          <a:p>
            <a:r>
              <a:t>ONE MESSAGE: Functional checks establish execution; independent references establish accuracy.</a:t>
            </a:r>
          </a:p>
          <a:p/>
          <a:p>
            <a:r>
              <a:t>SAY:</a:t>
            </a:r>
          </a:p>
          <a:p>
            <a:r>
              <a:t>The recorded regression passed five hundred and ninety-seven software tests. Those checks cover things such as preserved source identifiers, batch scoring, meeting boundaries, exports and optional-stage failures. They do not mean five hundred and ninety-seven correctly understood meetings. We also retained changes that did not work: semantic and continuity variants failed the development gate, while calibration and refit results did not justify replacing the installed model. A two-excerpt speaker-calibration pilot reduced diarization error, but that is another small, separately scoped task.</a:t>
            </a:r>
          </a:p>
          <a:p/>
          <a:p>
            <a:r>
              <a:t>TRANSITION:</a:t>
            </a:r>
          </a:p>
          <a:p>
            <a:r>
              <a:t>Now let us examine the measured discussion results.</a:t>
            </a:r>
          </a:p>
          <a:p/>
          <a:p>
            <a:r>
              <a:t>EVIDENCE / CAVEAT:</a:t>
            </a:r>
          </a:p>
          <a:p>
            <a:r>
              <a:t>Regression log: professor_guidelines/evaluation/quality_scorecard/regression_tests.log. No new model training or application regression run is implied by building this deck.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Shriyans Sahoo</a:t>
            </a:r>
          </a:p>
          <a:p>
            <a:r>
              <a:t>TIME: 80 seconds</a:t>
            </a:r>
          </a:p>
          <a:p/>
          <a:p>
            <a:r>
              <a:t>ONE MESSAGE: There is a measured F1 gain, but it is not proof of reliable or universal superiority.</a:t>
            </a:r>
          </a:p>
          <a:p/>
          <a:p>
            <a:r>
              <a:t>SAY:</a:t>
            </a:r>
          </a:p>
          <a:p>
            <a:r>
              <a:t>The chart compares the context versions on identical reference acts. The combined detector has a fifty-three point five-four percent F1 score, versus fifty-two point zero-eight for the matched forest. The gain is one point four-six percentage points. Precision is only thirty-nine point nine-four percent: roughly forty of every hundred flagged acts match the reference positives. Recall is eighty-one point one-eight percent, so we find many reference discussion acts but also flag many negatives. The descriptive uncertainty interval crosses zero, and some other classifiers have higher average precision. This is an exploratory task-level result, not a statistically established win or complete-project accuracy.</a:t>
            </a:r>
          </a:p>
          <a:p/>
          <a:p>
            <a:r>
              <a:t>TRANSITION:</a:t>
            </a:r>
          </a:p>
          <a:p>
            <a:r>
              <a:t>Recognition quality also depends on the language and cohort.</a:t>
            </a:r>
          </a:p>
          <a:p/>
          <a:p>
            <a:r>
              <a:t>EVIDENCE / CAVEAT:</a:t>
            </a:r>
          </a:p>
          <a:p>
            <a:r>
              <a:t>Exact P/R/F1/AP and confusion counts are retained in the research report. Do not call 53.54% overall accuracy.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Shriyans Sahoo</a:t>
            </a:r>
          </a:p>
          <a:p>
            <a:r>
              <a:t>TIME: 65 seconds</a:t>
            </a:r>
          </a:p>
          <a:p/>
          <a:p>
            <a:r>
              <a:t>ONE MESSAGE: Model choice remains explicit because improvement is corpus-dependent.</a:t>
            </a:r>
          </a:p>
          <a:p/>
          <a:p>
            <a:r>
              <a:t>SAY:</a:t>
            </a:r>
          </a:p>
          <a:p>
            <a:r>
              <a:t>Shriyans here. Word error rate counts substitutions, deletions and insertions against reference words; lower is better. On eight fixed Hindi samples, Turbo lowers word error from fifty point nine-six to twenty-eight point eight-five percent. Hinglish improves from sixty-six point one-three to fifty-seven point two-six percent. But historical English becomes worse, from sixty-one point six-one to sixty-three point nine-one percent. The shared default remains small, while Turbo is available explicitly. These are tiny speech pilots, not broad multilingual meeting validation. The same unchanged samples and strict normalization were used. In the custom two-excerpt speaker pilot, diarization error fell from 64.08 to 40.91 percent after development-selected calibration. All four development and historical audio meetings are from the referenced official training partition. Segment-reference and coverage limits apply; this is not an official full-corpus benchmark.</a:t>
            </a:r>
          </a:p>
          <a:p/>
          <a:p>
            <a:r>
              <a:t>TRANSITION:</a:t>
            </a:r>
          </a:p>
          <a:p>
            <a:r>
              <a:t>The conclusion brings the working system and remaining validation needs together.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Shriyans Sahoo</a:t>
            </a:r>
          </a:p>
          <a:p>
            <a:r>
              <a:t>TIME: 30 seconds</a:t>
            </a:r>
          </a:p>
          <a:p/>
          <a:p>
            <a:r>
              <a:t>ONE MESSAGE: The delivered result is useful review infrastructure and honest comparative evidence.</a:t>
            </a:r>
          </a:p>
          <a:p/>
          <a:p>
            <a:r>
              <a:t>SAY:</a:t>
            </a:r>
          </a:p>
          <a:p>
            <a:r>
              <a:t>To conclude, InfluenceIQ integrates local processing with source-linked discussion review. We have a working application, a matched classifier study and transparent component results. The current discussion score is fifty-three point five-four percent F1 on oracle inputs, and the next priority is independent recording-level evaluation. Final-decision accuracy, slide-link accuracy and human influence rankings remain unmeasured. The next priority is to freeze the pipeline and annotate fresh recordings independently. Thank you.</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Shriyans Sahoo</a:t>
            </a:r>
          </a:p>
          <a:p>
            <a:r>
              <a:t>TIME: 10 seconds</a:t>
            </a:r>
          </a:p>
          <a:p/>
          <a:p>
            <a:r>
              <a:t>ONE MESSAGE: Citations identify prior work; they are not complete-system benchmark comparisons.</a:t>
            </a:r>
          </a:p>
          <a:p/>
          <a:p>
            <a:r>
              <a:t>SAY:</a:t>
            </a:r>
          </a:p>
          <a:p>
            <a:r>
              <a:t>These are the main sources supporting our meeting-assistant context, speech and speaker components, and dataset discussion. The complete fifteen-entry bibliography is included in our IEEE paper and this slide’s notes. Thank you; we welcome your questions.</a:t>
            </a:r>
          </a:p>
          <a:p/>
          <a:p>
            <a:r>
              <a:t>EVIDENCE / CAVEAT:</a:t>
            </a:r>
          </a:p>
          <a:p>
            <a:r>
              <a:t>[1] G. Tur et al., “The CALO meeting assistant system,” IEEE Trans. Audio, Speech, Lang. Process., vol. 18, no. 6, pp. 1601–1611, Aug. 2010, doi: 10.1109/TASL.2009.2038810.</a:t>
            </a:r>
          </a:p>
          <a:p>
            <a:r>
              <a:t>[2] A. Radford, J. W. Kim, T. Xu, G. Brockman, C. McLeavey, and I. Sutskever, “Robust speech recognition via large-scale weak supervision,” in Proc. Int. Conf. Mach. Learn., vol. 202, 2023, pp. 28492–28518. [Online]. Available: https://proceedings.mlr.press/v202/radford23a.html</a:t>
            </a:r>
          </a:p>
          <a:p>
            <a:r>
              <a:t>[3] M. Bain, J. Huh, T. Han, and A. Zisserman, “WhisperX: Time-accurate speech transcription of long-form audio,” in Proc. Interspeech, 2023, pp. 4489–4493, doi: 10.21437/Interspeech.2023-78.</a:t>
            </a:r>
          </a:p>
          <a:p>
            <a:r>
              <a:t>[4] H. Bredin, “pyannote.audio 2.1 speaker diarization pipeline: Principle, benchmark, and recipe,” in Proc. Interspeech, 2023, pp. 1983–1987, doi: 10.21437/Interspeech.2023-105.</a:t>
            </a:r>
          </a:p>
          <a:p>
            <a:r>
              <a:t>[5] A. Plaquet and H. Bredin, “Powerset multi-class cross entropy loss for neural speaker diarization,” in Proc. Interspeech, 2023, pp. 3222–3226, doi: 10.21437/Interspeech.2023-205.</a:t>
            </a:r>
          </a:p>
          <a:p>
            <a:r>
              <a:t>[6] D. Macháček, R. Dabre, and O. Bojar, “Turning Whisper into real-time transcription system,” in Proc. IJCNLP–AACL: Syst. Demonstrations, 2023, pp. 17–24, doi: 10.18653/v1/2023.ijcnlp-demo.3.</a:t>
            </a:r>
          </a:p>
          <a:p>
            <a:r>
              <a:t>[7] S. Baghel et al., “The DISPLACE challenge 2023,” in Proc. Interspeech, 2023, pp. 3562–3566, doi: 10.21437/Interspeech.2023-2367.</a:t>
            </a:r>
          </a:p>
          <a:p>
            <a:r>
              <a:t>[8] S. B. Kalluri et al., “The second DISPLACE challenge: DIarization of SPeaker and LAnguage in Conversational Environments,” in Proc. Interspeech, 2024, pp. 1630–1634, doi: 10.21437/Interspeech.2024-1833.</a:t>
            </a:r>
          </a:p>
          <a:p>
            <a:r>
              <a:t>[9] K. Bhogale et al., “Vistaar: Diverse benchmarks and training sets for Indian language ASR,” in Proc. Interspeech, 2023, pp. 4384–4388, doi: 10.21437/Interspeech.2023-2589.</a:t>
            </a:r>
          </a:p>
          <a:p>
            <a:r>
              <a:t>[10] Y. Hu, T. Ganter, H. Deilamsalehy, F. Dernoncourt, H. Foroosh, and F. Liu, “MeetingBank: A benchmark dataset for meeting summarization,” in Proc. ACL, vol. 1, 2023, pp. 16409–16423, doi: 10.18653/v1/2023.acl-long.906.</a:t>
            </a:r>
          </a:p>
          <a:p>
            <a:r>
              <a:t>[11] H. Kim, M. Cho, and S.-H. Na, “ExplainMeetSum: A dataset for explainable meeting summarization aligned with human intent,” in Proc. ACL, vol. 1, 2023, pp. 13079–13098, doi: 10.18653/v1/2023.acl-long.731.</a:t>
            </a:r>
          </a:p>
          <a:p>
            <a:r>
              <a:t>[12] J. Carletta et al., “The AMI meeting corpus: A pre-announcement,” in Machine Learning for Multimodal Interaction, Lecture Notes in Computer Science, vol. 3869. Berlin, Germany: Springer, 2006, pp. 28–39, doi: 10.1007/11677482_3.</a:t>
            </a:r>
          </a:p>
          <a:p>
            <a:r>
              <a:t>[13] A. Conneau et al., “FLEURS: Few-shot learning evaluation of universal representations of speech,” arXiv:2205.12446, 2022, doi: 10.48550/arXiv.2205.12446.</a:t>
            </a:r>
          </a:p>
          <a:p>
            <a:r>
              <a:t>[14] A. Diwan et al., “MUCS 2021: Multilingual and code-switching ASR challenges for low resource Indian languages,” in Proc. Interspeech, 2021, pp. 2446–2450, doi: 10.21437/Interspeech.2021-1339.</a:t>
            </a:r>
          </a:p>
          <a:p>
            <a:r>
              <a:t>[15] OpenAI, “Whisper large-v3-turbo,” model card. Accessed: Oct. 19, 2026. [Online]. Available: https://huggingface.co/openai/whisper-large-v3-turbo</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Shriyans Sahoo</a:t>
            </a:r>
          </a:p>
          <a:p>
            <a:r>
              <a:t>TIME: 0 seconds</a:t>
            </a:r>
          </a:p>
          <a:p/>
          <a:p>
            <a:r>
              <a:t>ONE MESSAGE: Post-event photographic record; no photograph has been fabricated.</a:t>
            </a:r>
          </a:p>
          <a:p/>
          <a:p>
            <a:r>
              <a:t>SAY:</a:t>
            </a:r>
          </a:p>
          <a:p>
            <a:r>
              <a:t>This slide retains the heading required by the original presentation. Add an actual photograph after the presentation if the department requires a photographic record. It is not part of the spoken fifteen-minute script.</a:t>
            </a:r>
          </a:p>
          <a:p/>
          <a:p>
            <a:r>
              <a:t>POINT / DEMO:</a:t>
            </a:r>
          </a:p>
          <a:p>
            <a:r>
              <a:t>For questions, return to slide 16 (Conclusion), slide 8 (architecture) or slide 14 (discussion results).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MAI Project AY 2026–27"/>
          <p:cNvSpPr txBox="1"/>
          <p:nvPr/>
        </p:nvSpPr>
        <p:spPr>
          <a:xfrm>
            <a:off x="548640" y="228600"/>
            <a:ext cx="11091672" cy="475488"/>
          </a:xfrm>
          <a:prstGeom prst="rect">
            <a:avLst/>
          </a:prstGeom>
          <a:noFill/>
        </p:spPr>
        <p:txBody>
          <a:bodyPr wrap="none" lIns="0" rIns="0" tIns="0" bIns="0" anchor="t">
            <a:spAutoFit/>
          </a:bodyPr>
          <a:lstStyle/>
          <a:p>
            <a:pPr algn="ctr">
              <a:lnSpc>
                <a:spcPts val="3304"/>
              </a:lnSpc>
              <a:spcBef>
                <a:spcPts val="0"/>
              </a:spcBef>
              <a:spcAft>
                <a:spcPts val="0"/>
              </a:spcAft>
              <a:defRPr sz="2800" b="1">
                <a:solidFill>
                  <a:srgbClr val="000000"/>
                </a:solidFill>
                <a:latin typeface="Noto Serif"/>
              </a:defRPr>
            </a:pPr>
            <a:r>
              <a:t>MAI Project AY 2026–27</a:t>
            </a:r>
          </a:p>
        </p:txBody>
      </p:sp>
      <p:sp>
        <p:nvSpPr>
          <p:cNvPr id="4" name="TEXT ESE Presentation"/>
          <p:cNvSpPr txBox="1"/>
          <p:nvPr/>
        </p:nvSpPr>
        <p:spPr>
          <a:xfrm>
            <a:off x="548640" y="850392"/>
            <a:ext cx="11091672" cy="438912"/>
          </a:xfrm>
          <a:prstGeom prst="rect">
            <a:avLst/>
          </a:prstGeom>
          <a:noFill/>
        </p:spPr>
        <p:txBody>
          <a:bodyPr wrap="none" lIns="0" rIns="0" tIns="0" bIns="0" anchor="t">
            <a:spAutoFit/>
          </a:bodyPr>
          <a:lstStyle/>
          <a:p>
            <a:pPr algn="ctr">
              <a:lnSpc>
                <a:spcPts val="2950"/>
              </a:lnSpc>
              <a:spcBef>
                <a:spcPts val="0"/>
              </a:spcBef>
              <a:spcAft>
                <a:spcPts val="0"/>
              </a:spcAft>
              <a:defRPr sz="2500" b="1">
                <a:solidFill>
                  <a:srgbClr val="000000"/>
                </a:solidFill>
                <a:latin typeface="Noto Serif"/>
              </a:defRPr>
            </a:pPr>
            <a:r>
              <a:t>ESE Presentation</a:t>
            </a:r>
          </a:p>
        </p:txBody>
      </p:sp>
      <p:sp>
        <p:nvSpPr>
          <p:cNvPr id="5" name="TEXT Project ID: Group 12"/>
          <p:cNvSpPr txBox="1"/>
          <p:nvPr/>
        </p:nvSpPr>
        <p:spPr>
          <a:xfrm>
            <a:off x="548640" y="1417320"/>
            <a:ext cx="11091672" cy="329184"/>
          </a:xfrm>
          <a:prstGeom prst="rect">
            <a:avLst/>
          </a:prstGeom>
          <a:noFill/>
        </p:spPr>
        <p:txBody>
          <a:bodyPr wrap="none" lIns="0" rIns="0" tIns="0" bIns="0" anchor="t">
            <a:spAutoFit/>
          </a:bodyPr>
          <a:lstStyle/>
          <a:p>
            <a:pPr algn="ctr">
              <a:lnSpc>
                <a:spcPts val="2242"/>
              </a:lnSpc>
              <a:spcBef>
                <a:spcPts val="0"/>
              </a:spcBef>
              <a:spcAft>
                <a:spcPts val="0"/>
              </a:spcAft>
              <a:defRPr sz="1900" b="0">
                <a:solidFill>
                  <a:srgbClr val="000000"/>
                </a:solidFill>
                <a:latin typeface="Noto Serif"/>
              </a:defRPr>
            </a:pPr>
            <a:r>
              <a:t>Project ID: Group 12</a:t>
            </a:r>
          </a:p>
        </p:txBody>
      </p:sp>
      <p:sp>
        <p:nvSpPr>
          <p:cNvPr id="6" name="TEXT Title of the Project: InfluenceIQ — Offl"/>
          <p:cNvSpPr txBox="1"/>
          <p:nvPr/>
        </p:nvSpPr>
        <p:spPr>
          <a:xfrm>
            <a:off x="640080" y="1847088"/>
            <a:ext cx="10908792" cy="621792"/>
          </a:xfrm>
          <a:prstGeom prst="rect">
            <a:avLst/>
          </a:prstGeom>
          <a:noFill/>
        </p:spPr>
        <p:txBody>
          <a:bodyPr wrap="none" lIns="0" rIns="0" tIns="0" bIns="0" anchor="t">
            <a:spAutoFit/>
          </a:bodyPr>
          <a:lstStyle/>
          <a:p>
            <a:pPr algn="ctr">
              <a:lnSpc>
                <a:spcPts val="2242"/>
              </a:lnSpc>
              <a:spcBef>
                <a:spcPts val="0"/>
              </a:spcBef>
              <a:spcAft>
                <a:spcPts val="0"/>
              </a:spcAft>
              <a:defRPr sz="1900" b="0">
                <a:solidFill>
                  <a:srgbClr val="000000"/>
                </a:solidFill>
                <a:latin typeface="Noto Serif"/>
              </a:defRPr>
            </a:pPr>
            <a:r>
              <a:t>Title of the Project: InfluenceIQ — Offline Decision-Discussion Detection with</a:t>
            </a:r>
          </a:p>
          <a:p>
            <a:pPr algn="ctr">
              <a:lnSpc>
                <a:spcPts val="2242"/>
              </a:lnSpc>
              <a:spcBef>
                <a:spcPts val="0"/>
              </a:spcBef>
              <a:spcAft>
                <a:spcPts val="0"/>
              </a:spcAft>
              <a:defRPr sz="1900" b="0">
                <a:solidFill>
                  <a:srgbClr val="000000"/>
                </a:solidFill>
                <a:latin typeface="Noto Serif"/>
              </a:defRPr>
            </a:pPr>
            <a:r>
              <a:t>Source-Linked Meeting Review</a:t>
            </a:r>
          </a:p>
        </p:txBody>
      </p:sp>
      <p:pic>
        <p:nvPicPr>
          <p:cNvPr id="7" name="Picture 6" descr="image1.png"/>
          <p:cNvPicPr>
            <a:picLocks noChangeAspect="1"/>
          </p:cNvPicPr>
          <p:nvPr/>
        </p:nvPicPr>
        <p:blipFill>
          <a:blip r:embed="rId2"/>
          <a:stretch>
            <a:fillRect/>
          </a:stretch>
        </p:blipFill>
        <p:spPr>
          <a:xfrm>
            <a:off x="4087368" y="2578608"/>
            <a:ext cx="4023360" cy="1635727"/>
          </a:xfrm>
          <a:prstGeom prst="rect">
            <a:avLst/>
          </a:prstGeom>
        </p:spPr>
      </p:pic>
      <p:sp>
        <p:nvSpPr>
          <p:cNvPr id="8" name="TEXT Name of the Guide: Dr. Nivedita Mishra"/>
          <p:cNvSpPr txBox="1"/>
          <p:nvPr/>
        </p:nvSpPr>
        <p:spPr>
          <a:xfrm>
            <a:off x="548640" y="4480560"/>
            <a:ext cx="11091672" cy="365760"/>
          </a:xfrm>
          <a:prstGeom prst="rect">
            <a:avLst/>
          </a:prstGeom>
          <a:noFill/>
        </p:spPr>
        <p:txBody>
          <a:bodyPr wrap="none" lIns="0" rIns="0" tIns="0" bIns="0" anchor="t">
            <a:spAutoFit/>
          </a:bodyPr>
          <a:lstStyle/>
          <a:p>
            <a:pPr algn="ctr">
              <a:lnSpc>
                <a:spcPts val="2360"/>
              </a:lnSpc>
              <a:spcBef>
                <a:spcPts val="0"/>
              </a:spcBef>
              <a:spcAft>
                <a:spcPts val="0"/>
              </a:spcAft>
              <a:defRPr sz="2000" b="0">
                <a:solidFill>
                  <a:srgbClr val="000000"/>
                </a:solidFill>
                <a:latin typeface="Noto Serif"/>
              </a:defRPr>
            </a:pPr>
            <a:r>
              <a:t>Name of the Guide: Dr. Nivedita Mishra</a:t>
            </a:r>
          </a:p>
        </p:txBody>
      </p:sp>
      <p:sp>
        <p:nvSpPr>
          <p:cNvPr id="9" name="TEXT Group Members:"/>
          <p:cNvSpPr txBox="1"/>
          <p:nvPr/>
        </p:nvSpPr>
        <p:spPr>
          <a:xfrm>
            <a:off x="502920" y="5010912"/>
            <a:ext cx="11155680" cy="310896"/>
          </a:xfrm>
          <a:prstGeom prst="rect">
            <a:avLst/>
          </a:prstGeom>
          <a:noFill/>
        </p:spPr>
        <p:txBody>
          <a:bodyPr wrap="none" lIns="0" rIns="0" tIns="0" bIns="0" anchor="t">
            <a:spAutoFit/>
          </a:bodyPr>
          <a:lstStyle/>
          <a:p>
            <a:pPr algn="l">
              <a:lnSpc>
                <a:spcPts val="2124"/>
              </a:lnSpc>
              <a:spcBef>
                <a:spcPts val="0"/>
              </a:spcBef>
              <a:spcAft>
                <a:spcPts val="0"/>
              </a:spcAft>
              <a:defRPr sz="1800" b="0">
                <a:solidFill>
                  <a:srgbClr val="000000"/>
                </a:solidFill>
                <a:latin typeface="Noto Serif"/>
              </a:defRPr>
            </a:pPr>
            <a:r>
              <a:t>Group Members:</a:t>
            </a:r>
          </a:p>
        </p:txBody>
      </p:sp>
      <p:sp>
        <p:nvSpPr>
          <p:cNvPr id="10" name="TEXT 1. Anushka Chatterjee (23070126015)"/>
          <p:cNvSpPr txBox="1"/>
          <p:nvPr/>
        </p:nvSpPr>
        <p:spPr>
          <a:xfrm>
            <a:off x="658368" y="5422392"/>
            <a:ext cx="10881360" cy="274320"/>
          </a:xfrm>
          <a:prstGeom prst="rect">
            <a:avLst/>
          </a:prstGeom>
          <a:noFill/>
        </p:spPr>
        <p:txBody>
          <a:bodyPr wrap="none" lIns="0" rIns="0" tIns="0" bIns="0" anchor="t">
            <a:spAutoFit/>
          </a:bodyPr>
          <a:lstStyle/>
          <a:p>
            <a:pPr algn="l">
              <a:lnSpc>
                <a:spcPts val="2065"/>
              </a:lnSpc>
              <a:spcBef>
                <a:spcPts val="0"/>
              </a:spcBef>
              <a:spcAft>
                <a:spcPts val="0"/>
              </a:spcAft>
              <a:defRPr sz="1750" b="0">
                <a:solidFill>
                  <a:srgbClr val="000000"/>
                </a:solidFill>
                <a:latin typeface="Noto Serif"/>
              </a:defRPr>
            </a:pPr>
            <a:r>
              <a:t>1. Anushka Chatterjee (23070126015)</a:t>
            </a:r>
          </a:p>
        </p:txBody>
      </p:sp>
      <p:sp>
        <p:nvSpPr>
          <p:cNvPr id="11" name="TEXT 2. Amitkumar Racha (24070126501)"/>
          <p:cNvSpPr txBox="1"/>
          <p:nvPr/>
        </p:nvSpPr>
        <p:spPr>
          <a:xfrm>
            <a:off x="658368" y="5705855"/>
            <a:ext cx="10881360" cy="274320"/>
          </a:xfrm>
          <a:prstGeom prst="rect">
            <a:avLst/>
          </a:prstGeom>
          <a:noFill/>
        </p:spPr>
        <p:txBody>
          <a:bodyPr wrap="none" lIns="0" rIns="0" tIns="0" bIns="0" anchor="t">
            <a:spAutoFit/>
          </a:bodyPr>
          <a:lstStyle/>
          <a:p>
            <a:pPr algn="l">
              <a:lnSpc>
                <a:spcPts val="2065"/>
              </a:lnSpc>
              <a:spcBef>
                <a:spcPts val="0"/>
              </a:spcBef>
              <a:spcAft>
                <a:spcPts val="0"/>
              </a:spcAft>
              <a:defRPr sz="1750" b="0">
                <a:solidFill>
                  <a:srgbClr val="000000"/>
                </a:solidFill>
                <a:latin typeface="Noto Serif"/>
              </a:defRPr>
            </a:pPr>
            <a:r>
              <a:t>2. Amitkumar Racha (24070126501)</a:t>
            </a:r>
          </a:p>
        </p:txBody>
      </p:sp>
      <p:sp>
        <p:nvSpPr>
          <p:cNvPr id="12" name="TEXT 3. Sahil Awatramani (23070126112)"/>
          <p:cNvSpPr txBox="1"/>
          <p:nvPr/>
        </p:nvSpPr>
        <p:spPr>
          <a:xfrm>
            <a:off x="658368" y="5989320"/>
            <a:ext cx="10881360" cy="274320"/>
          </a:xfrm>
          <a:prstGeom prst="rect">
            <a:avLst/>
          </a:prstGeom>
          <a:noFill/>
        </p:spPr>
        <p:txBody>
          <a:bodyPr wrap="none" lIns="0" rIns="0" tIns="0" bIns="0" anchor="t">
            <a:spAutoFit/>
          </a:bodyPr>
          <a:lstStyle/>
          <a:p>
            <a:pPr algn="l">
              <a:lnSpc>
                <a:spcPts val="2065"/>
              </a:lnSpc>
              <a:spcBef>
                <a:spcPts val="0"/>
              </a:spcBef>
              <a:spcAft>
                <a:spcPts val="0"/>
              </a:spcAft>
              <a:defRPr sz="1750" b="0">
                <a:solidFill>
                  <a:srgbClr val="000000"/>
                </a:solidFill>
                <a:latin typeface="Noto Serif"/>
              </a:defRPr>
            </a:pPr>
            <a:r>
              <a:t>3. Sahil Awatramani (23070126112)</a:t>
            </a:r>
          </a:p>
        </p:txBody>
      </p:sp>
      <p:sp>
        <p:nvSpPr>
          <p:cNvPr id="13" name="TEXT 4. Shriyans Sahoo (23070126125)"/>
          <p:cNvSpPr txBox="1"/>
          <p:nvPr/>
        </p:nvSpPr>
        <p:spPr>
          <a:xfrm>
            <a:off x="658368" y="6272783"/>
            <a:ext cx="10881360" cy="274320"/>
          </a:xfrm>
          <a:prstGeom prst="rect">
            <a:avLst/>
          </a:prstGeom>
          <a:noFill/>
        </p:spPr>
        <p:txBody>
          <a:bodyPr wrap="none" lIns="0" rIns="0" tIns="0" bIns="0" anchor="t">
            <a:spAutoFit/>
          </a:bodyPr>
          <a:lstStyle/>
          <a:p>
            <a:pPr algn="l">
              <a:lnSpc>
                <a:spcPts val="2065"/>
              </a:lnSpc>
              <a:spcBef>
                <a:spcPts val="0"/>
              </a:spcBef>
              <a:spcAft>
                <a:spcPts val="0"/>
              </a:spcAft>
              <a:defRPr sz="1750" b="0">
                <a:solidFill>
                  <a:srgbClr val="000000"/>
                </a:solidFill>
                <a:latin typeface="Noto Serif"/>
              </a:defRPr>
            </a:pPr>
            <a:r>
              <a:t>4. Shriyans Sahoo (23070126125)</a:t>
            </a:r>
          </a:p>
        </p:txBody>
      </p:sp>
      <p:sp>
        <p:nvSpPr>
          <p:cNvPr id="14" name="TEXT 20-10-2026"/>
          <p:cNvSpPr txBox="1"/>
          <p:nvPr/>
        </p:nvSpPr>
        <p:spPr>
          <a:xfrm>
            <a:off x="548640" y="6629400"/>
            <a:ext cx="1828800" cy="164592"/>
          </a:xfrm>
          <a:prstGeom prst="rect">
            <a:avLst/>
          </a:prstGeom>
          <a:noFill/>
        </p:spPr>
        <p:txBody>
          <a:bodyPr wrap="none" lIns="0" rIns="0" tIns="0" bIns="0" anchor="t">
            <a:spAutoFit/>
          </a:bodyPr>
          <a:lstStyle/>
          <a:p>
            <a:pPr algn="l">
              <a:lnSpc>
                <a:spcPts val="1062"/>
              </a:lnSpc>
              <a:spcBef>
                <a:spcPts val="0"/>
              </a:spcBef>
              <a:spcAft>
                <a:spcPts val="0"/>
              </a:spcAft>
              <a:defRPr sz="900" b="0">
                <a:solidFill>
                  <a:srgbClr val="526675"/>
                </a:solidFill>
                <a:latin typeface="Noto Sans"/>
              </a:defRPr>
            </a:pPr>
            <a:r>
              <a:t>20-10-2026</a:t>
            </a:r>
          </a:p>
        </p:txBody>
      </p:sp>
      <p:sp>
        <p:nvSpPr>
          <p:cNvPr id="15" name="TEXT Department of Artificial Intelligence &amp; "/>
          <p:cNvSpPr txBox="1"/>
          <p:nvPr/>
        </p:nvSpPr>
        <p:spPr>
          <a:xfrm>
            <a:off x="2834640" y="6629400"/>
            <a:ext cx="8778240" cy="164592"/>
          </a:xfrm>
          <a:prstGeom prst="rect">
            <a:avLst/>
          </a:prstGeom>
          <a:noFill/>
        </p:spPr>
        <p:txBody>
          <a:bodyPr wrap="none" lIns="0" rIns="0" tIns="0" bIns="0" anchor="t">
            <a:spAutoFit/>
          </a:bodyPr>
          <a:lstStyle/>
          <a:p>
            <a:pPr algn="ctr">
              <a:lnSpc>
                <a:spcPts val="1062"/>
              </a:lnSpc>
              <a:spcBef>
                <a:spcPts val="0"/>
              </a:spcBef>
              <a:spcAft>
                <a:spcPts val="0"/>
              </a:spcAft>
              <a:defRPr sz="900" b="0">
                <a:solidFill>
                  <a:srgbClr val="526675"/>
                </a:solidFill>
                <a:latin typeface="Noto Sans"/>
              </a:defRPr>
            </a:pPr>
            <a:r>
              <a:t>Department of Artificial Intelligence &amp; Machine Learning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84048"/>
            <a:ext cx="59436" cy="329184"/>
          </a:xfrm>
          <a:prstGeom prst="rect">
            <a:avLst/>
          </a:prstGeom>
          <a:solidFill>
            <a:srgbClr val="B30D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 WHY THIS PROJECT"/>
          <p:cNvSpPr txBox="1"/>
          <p:nvPr/>
        </p:nvSpPr>
        <p:spPr>
          <a:xfrm>
            <a:off x="658368" y="320040"/>
            <a:ext cx="9144000" cy="228600"/>
          </a:xfrm>
          <a:prstGeom prst="rect">
            <a:avLst/>
          </a:prstGeom>
          <a:noFill/>
        </p:spPr>
        <p:txBody>
          <a:bodyPr wrap="none" lIns="0" rIns="0" tIns="0" bIns="0" anchor="t">
            <a:spAutoFit/>
          </a:bodyPr>
          <a:lstStyle/>
          <a:p>
            <a:pPr algn="l">
              <a:lnSpc>
                <a:spcPts val="1297"/>
              </a:lnSpc>
              <a:spcBef>
                <a:spcPts val="0"/>
              </a:spcBef>
              <a:spcAft>
                <a:spcPts val="0"/>
              </a:spcAft>
              <a:defRPr sz="1100" b="1">
                <a:solidFill>
                  <a:srgbClr val="B30D2C"/>
                </a:solidFill>
                <a:latin typeface="Noto Sans"/>
              </a:defRPr>
            </a:pPr>
            <a:r>
              <a:t>WHY THIS PROJECT</a:t>
            </a:r>
          </a:p>
        </p:txBody>
      </p:sp>
      <p:sp>
        <p:nvSpPr>
          <p:cNvPr id="5" name="TEXT Introduction"/>
          <p:cNvSpPr txBox="1"/>
          <p:nvPr/>
        </p:nvSpPr>
        <p:spPr>
          <a:xfrm>
            <a:off x="484632" y="749808"/>
            <a:ext cx="10881360" cy="502920"/>
          </a:xfrm>
          <a:prstGeom prst="rect">
            <a:avLst/>
          </a:prstGeom>
          <a:noFill/>
        </p:spPr>
        <p:txBody>
          <a:bodyPr wrap="none" lIns="0" rIns="0" tIns="0" bIns="0" anchor="t">
            <a:spAutoFit/>
          </a:bodyPr>
          <a:lstStyle/>
          <a:p>
            <a:pPr algn="l">
              <a:lnSpc>
                <a:spcPts val="3422"/>
              </a:lnSpc>
              <a:spcBef>
                <a:spcPts val="0"/>
              </a:spcBef>
              <a:spcAft>
                <a:spcPts val="0"/>
              </a:spcAft>
              <a:defRPr sz="2900" b="1">
                <a:solidFill>
                  <a:srgbClr val="152C40"/>
                </a:solidFill>
                <a:latin typeface="Noto Sans"/>
              </a:defRPr>
            </a:pPr>
            <a:r>
              <a:t>Introduction</a:t>
            </a:r>
          </a:p>
        </p:txBody>
      </p:sp>
      <p:pic>
        <p:nvPicPr>
          <p:cNvPr id="6" name="Picture 5" descr="image3.png"/>
          <p:cNvPicPr>
            <a:picLocks noChangeAspect="1"/>
          </p:cNvPicPr>
          <p:nvPr/>
        </p:nvPicPr>
        <p:blipFill>
          <a:blip r:embed="rId2"/>
          <a:stretch>
            <a:fillRect/>
          </a:stretch>
        </p:blipFill>
        <p:spPr>
          <a:xfrm>
            <a:off x="10195560" y="320040"/>
            <a:ext cx="1508760" cy="286077"/>
          </a:xfrm>
          <a:prstGeom prst="rect">
            <a:avLst/>
          </a:prstGeom>
        </p:spPr>
      </p:pic>
      <p:cxnSp>
        <p:nvCxnSpPr>
          <p:cNvPr id="7" name="Connector 6"/>
          <p:cNvCxnSpPr/>
          <p:nvPr/>
        </p:nvCxnSpPr>
        <p:spPr>
          <a:xfrm>
            <a:off x="502920" y="6419088"/>
            <a:ext cx="11183112" cy="0"/>
          </a:xfrm>
          <a:prstGeom prst="line">
            <a:avLst/>
          </a:prstGeom>
          <a:ln w="12700">
            <a:solidFill>
              <a:srgbClr val="D9E2E7"/>
            </a:solidFill>
          </a:ln>
        </p:spPr>
        <p:style>
          <a:lnRef idx="2">
            <a:schemeClr val="accent1"/>
          </a:lnRef>
          <a:fillRef idx="0">
            <a:schemeClr val="accent1"/>
          </a:fillRef>
          <a:effectRef idx="1">
            <a:schemeClr val="accent1"/>
          </a:effectRef>
          <a:fontRef idx="minor">
            <a:schemeClr val="tx1"/>
          </a:fontRef>
        </p:style>
      </p:cxnSp>
      <p:sp>
        <p:nvSpPr>
          <p:cNvPr id="8" name="TEXT SIT Pune  |  AI &amp; ML  |  Group 12  |  Pr"/>
          <p:cNvSpPr txBox="1"/>
          <p:nvPr/>
        </p:nvSpPr>
        <p:spPr>
          <a:xfrm>
            <a:off x="502920" y="6519672"/>
            <a:ext cx="9509760" cy="173736"/>
          </a:xfrm>
          <a:prstGeom prst="rect">
            <a:avLst/>
          </a:prstGeom>
          <a:noFill/>
        </p:spPr>
        <p:txBody>
          <a:bodyPr wrap="none" lIns="0" rIns="0" tIns="0" bIns="0" anchor="t">
            <a:spAutoFit/>
          </a:bodyPr>
          <a:lstStyle/>
          <a:p>
            <a:pPr algn="l">
              <a:lnSpc>
                <a:spcPts val="1062"/>
              </a:lnSpc>
              <a:spcBef>
                <a:spcPts val="0"/>
              </a:spcBef>
              <a:spcAft>
                <a:spcPts val="0"/>
              </a:spcAft>
              <a:defRPr sz="900" b="0">
                <a:solidFill>
                  <a:srgbClr val="526675"/>
                </a:solidFill>
                <a:latin typeface="Noto Sans"/>
              </a:defRPr>
            </a:pPr>
            <a:r>
              <a:t>SIT Pune | AI &amp; ML | Group 12 | Prepared 20 October 2026</a:t>
            </a:r>
          </a:p>
        </p:txBody>
      </p:sp>
      <p:sp>
        <p:nvSpPr>
          <p:cNvPr id="9" name="TEXT 02 / 18"/>
          <p:cNvSpPr txBox="1"/>
          <p:nvPr/>
        </p:nvSpPr>
        <p:spPr>
          <a:xfrm>
            <a:off x="10789920" y="6510528"/>
            <a:ext cx="914400" cy="201168"/>
          </a:xfrm>
          <a:prstGeom prst="rect">
            <a:avLst/>
          </a:prstGeom>
          <a:noFill/>
        </p:spPr>
        <p:txBody>
          <a:bodyPr wrap="none" lIns="0" rIns="0" tIns="0" bIns="0" anchor="t">
            <a:spAutoFit/>
          </a:bodyPr>
          <a:lstStyle/>
          <a:p>
            <a:pPr algn="r">
              <a:lnSpc>
                <a:spcPts val="1180"/>
              </a:lnSpc>
              <a:spcBef>
                <a:spcPts val="0"/>
              </a:spcBef>
              <a:spcAft>
                <a:spcPts val="0"/>
              </a:spcAft>
              <a:defRPr sz="1000" b="0">
                <a:solidFill>
                  <a:srgbClr val="526675"/>
                </a:solidFill>
                <a:latin typeface="Noto Sans"/>
              </a:defRPr>
            </a:pPr>
            <a:r>
              <a:t>02 / 18</a:t>
            </a:r>
          </a:p>
        </p:txBody>
      </p:sp>
      <p:sp>
        <p:nvSpPr>
          <p:cNvPr id="10" name="TEXT “Where did we discuss the prototype deci"/>
          <p:cNvSpPr txBox="1"/>
          <p:nvPr/>
        </p:nvSpPr>
        <p:spPr>
          <a:xfrm>
            <a:off x="640080" y="1783080"/>
            <a:ext cx="10881360" cy="777240"/>
          </a:xfrm>
          <a:prstGeom prst="rect">
            <a:avLst/>
          </a:prstGeom>
          <a:noFill/>
        </p:spPr>
        <p:txBody>
          <a:bodyPr wrap="none" lIns="0" rIns="0" tIns="0" bIns="0" anchor="t">
            <a:spAutoFit/>
          </a:bodyPr>
          <a:lstStyle/>
          <a:p>
            <a:pPr algn="l">
              <a:lnSpc>
                <a:spcPts val="3540"/>
              </a:lnSpc>
              <a:spcBef>
                <a:spcPts val="0"/>
              </a:spcBef>
              <a:spcAft>
                <a:spcPts val="0"/>
              </a:spcAft>
              <a:defRPr sz="3000" b="1">
                <a:solidFill>
                  <a:srgbClr val="152C40"/>
                </a:solidFill>
                <a:latin typeface="Noto Sans"/>
              </a:defRPr>
            </a:pPr>
            <a:r>
              <a:t>“Where did we discuss the prototype decision?”</a:t>
            </a:r>
          </a:p>
        </p:txBody>
      </p:sp>
      <p:sp>
        <p:nvSpPr>
          <p:cNvPr id="11" name="Rounded Rectangle 10"/>
          <p:cNvSpPr/>
          <p:nvPr/>
        </p:nvSpPr>
        <p:spPr>
          <a:xfrm>
            <a:off x="594360" y="2926080"/>
            <a:ext cx="3611880" cy="2423160"/>
          </a:xfrm>
          <a:prstGeom prst="roundRect">
            <a:avLst>
              <a:gd name="adj" fmla="val 6000"/>
            </a:avLst>
          </a:prstGeom>
          <a:solidFill>
            <a:srgbClr val="F0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Find the passage"/>
          <p:cNvSpPr txBox="1"/>
          <p:nvPr/>
        </p:nvSpPr>
        <p:spPr>
          <a:xfrm>
            <a:off x="795528" y="3108960"/>
            <a:ext cx="3209544" cy="502920"/>
          </a:xfrm>
          <a:prstGeom prst="rect">
            <a:avLst/>
          </a:prstGeom>
          <a:noFill/>
        </p:spPr>
        <p:txBody>
          <a:bodyPr wrap="none" lIns="0" rIns="0" tIns="0" bIns="0" anchor="t">
            <a:spAutoFit/>
          </a:bodyPr>
          <a:lstStyle/>
          <a:p>
            <a:pPr algn="l">
              <a:lnSpc>
                <a:spcPts val="2477"/>
              </a:lnSpc>
              <a:spcBef>
                <a:spcPts val="0"/>
              </a:spcBef>
              <a:spcAft>
                <a:spcPts val="0"/>
              </a:spcAft>
              <a:defRPr sz="2100" b="1">
                <a:solidFill>
                  <a:srgbClr val="152C40"/>
                </a:solidFill>
                <a:latin typeface="Noto Sans"/>
              </a:defRPr>
            </a:pPr>
            <a:r>
              <a:t>Find the passage</a:t>
            </a:r>
          </a:p>
        </p:txBody>
      </p:sp>
      <p:sp>
        <p:nvSpPr>
          <p:cNvPr id="13" name="TEXT Relevant discussion can be scattered acr"/>
          <p:cNvSpPr txBox="1"/>
          <p:nvPr/>
        </p:nvSpPr>
        <p:spPr>
          <a:xfrm>
            <a:off x="795528" y="3767328"/>
            <a:ext cx="3209544" cy="1453895"/>
          </a:xfrm>
          <a:prstGeom prst="rect">
            <a:avLst/>
          </a:prstGeom>
          <a:noFill/>
        </p:spPr>
        <p:txBody>
          <a:bodyPr wrap="none" lIns="0" rIns="0" tIns="0" bIns="0" anchor="t">
            <a:spAutoFit/>
          </a:bodyPr>
          <a:lstStyle/>
          <a:p>
            <a:pPr algn="l">
              <a:lnSpc>
                <a:spcPts val="2595"/>
              </a:lnSpc>
              <a:spcBef>
                <a:spcPts val="0"/>
              </a:spcBef>
              <a:spcAft>
                <a:spcPts val="0"/>
              </a:spcAft>
              <a:defRPr sz="2200" b="0">
                <a:solidFill>
                  <a:srgbClr val="152C40"/>
                </a:solidFill>
                <a:latin typeface="Noto Sans"/>
              </a:defRPr>
            </a:pPr>
            <a:r>
              <a:t>Relevant discussion can</a:t>
            </a:r>
          </a:p>
          <a:p>
            <a:pPr algn="l">
              <a:lnSpc>
                <a:spcPts val="2595"/>
              </a:lnSpc>
              <a:spcBef>
                <a:spcPts val="0"/>
              </a:spcBef>
              <a:spcAft>
                <a:spcPts val="0"/>
              </a:spcAft>
              <a:defRPr sz="2200" b="0">
                <a:solidFill>
                  <a:srgbClr val="152C40"/>
                </a:solidFill>
                <a:latin typeface="Noto Sans"/>
              </a:defRPr>
            </a:pPr>
            <a:r>
              <a:t>be scattered across the</a:t>
            </a:r>
          </a:p>
          <a:p>
            <a:pPr algn="l">
              <a:lnSpc>
                <a:spcPts val="2595"/>
              </a:lnSpc>
              <a:spcBef>
                <a:spcPts val="0"/>
              </a:spcBef>
              <a:spcAft>
                <a:spcPts val="0"/>
              </a:spcAft>
              <a:defRPr sz="2200" b="0">
                <a:solidFill>
                  <a:srgbClr val="152C40"/>
                </a:solidFill>
                <a:latin typeface="Noto Sans"/>
              </a:defRPr>
            </a:pPr>
            <a:r>
              <a:t>recording.</a:t>
            </a:r>
          </a:p>
        </p:txBody>
      </p:sp>
      <p:sp>
        <p:nvSpPr>
          <p:cNvPr id="14" name="Rounded Rectangle 13"/>
          <p:cNvSpPr/>
          <p:nvPr/>
        </p:nvSpPr>
        <p:spPr>
          <a:xfrm>
            <a:off x="4434840" y="2926080"/>
            <a:ext cx="3611880" cy="2423160"/>
          </a:xfrm>
          <a:prstGeom prst="roundRect">
            <a:avLst>
              <a:gd name="adj" fmla="val 6000"/>
            </a:avLst>
          </a:prstGeom>
          <a:solidFill>
            <a:srgbClr val="F0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 Know who spoke"/>
          <p:cNvSpPr txBox="1"/>
          <p:nvPr/>
        </p:nvSpPr>
        <p:spPr>
          <a:xfrm>
            <a:off x="4636008" y="3108960"/>
            <a:ext cx="3209544" cy="502920"/>
          </a:xfrm>
          <a:prstGeom prst="rect">
            <a:avLst/>
          </a:prstGeom>
          <a:noFill/>
        </p:spPr>
        <p:txBody>
          <a:bodyPr wrap="none" lIns="0" rIns="0" tIns="0" bIns="0" anchor="t">
            <a:spAutoFit/>
          </a:bodyPr>
          <a:lstStyle/>
          <a:p>
            <a:pPr algn="l">
              <a:lnSpc>
                <a:spcPts val="2477"/>
              </a:lnSpc>
              <a:spcBef>
                <a:spcPts val="0"/>
              </a:spcBef>
              <a:spcAft>
                <a:spcPts val="0"/>
              </a:spcAft>
              <a:defRPr sz="2100" b="1">
                <a:solidFill>
                  <a:srgbClr val="152C40"/>
                </a:solidFill>
                <a:latin typeface="Noto Sans"/>
              </a:defRPr>
            </a:pPr>
            <a:r>
              <a:t>Know who spoke</a:t>
            </a:r>
          </a:p>
        </p:txBody>
      </p:sp>
      <p:sp>
        <p:nvSpPr>
          <p:cNvPr id="16" name="TEXT Wrong speaker labels can credit the wron"/>
          <p:cNvSpPr txBox="1"/>
          <p:nvPr/>
        </p:nvSpPr>
        <p:spPr>
          <a:xfrm>
            <a:off x="4636008" y="3767328"/>
            <a:ext cx="3209544" cy="1453895"/>
          </a:xfrm>
          <a:prstGeom prst="rect">
            <a:avLst/>
          </a:prstGeom>
          <a:noFill/>
        </p:spPr>
        <p:txBody>
          <a:bodyPr wrap="none" lIns="0" rIns="0" tIns="0" bIns="0" anchor="t">
            <a:spAutoFit/>
          </a:bodyPr>
          <a:lstStyle/>
          <a:p>
            <a:pPr algn="l">
              <a:lnSpc>
                <a:spcPts val="2595"/>
              </a:lnSpc>
              <a:spcBef>
                <a:spcPts val="0"/>
              </a:spcBef>
              <a:spcAft>
                <a:spcPts val="0"/>
              </a:spcAft>
              <a:defRPr sz="2200" b="0">
                <a:solidFill>
                  <a:srgbClr val="152C40"/>
                </a:solidFill>
                <a:latin typeface="Noto Sans"/>
              </a:defRPr>
            </a:pPr>
            <a:r>
              <a:t>Wrong speaker labels</a:t>
            </a:r>
          </a:p>
          <a:p>
            <a:pPr algn="l">
              <a:lnSpc>
                <a:spcPts val="2595"/>
              </a:lnSpc>
              <a:spcBef>
                <a:spcPts val="0"/>
              </a:spcBef>
              <a:spcAft>
                <a:spcPts val="0"/>
              </a:spcAft>
              <a:defRPr sz="2200" b="0">
                <a:solidFill>
                  <a:srgbClr val="152C40"/>
                </a:solidFill>
                <a:latin typeface="Noto Sans"/>
              </a:defRPr>
            </a:pPr>
            <a:r>
              <a:t>can credit the wrong</a:t>
            </a:r>
          </a:p>
          <a:p>
            <a:pPr algn="l">
              <a:lnSpc>
                <a:spcPts val="2595"/>
              </a:lnSpc>
              <a:spcBef>
                <a:spcPts val="0"/>
              </a:spcBef>
              <a:spcAft>
                <a:spcPts val="0"/>
              </a:spcAft>
              <a:defRPr sz="2200" b="0">
                <a:solidFill>
                  <a:srgbClr val="152C40"/>
                </a:solidFill>
                <a:latin typeface="Noto Sans"/>
              </a:defRPr>
            </a:pPr>
            <a:r>
              <a:t>participant.</a:t>
            </a:r>
          </a:p>
        </p:txBody>
      </p:sp>
      <p:sp>
        <p:nvSpPr>
          <p:cNvPr id="17" name="Rounded Rectangle 16"/>
          <p:cNvSpPr/>
          <p:nvPr/>
        </p:nvSpPr>
        <p:spPr>
          <a:xfrm>
            <a:off x="8275320" y="2926080"/>
            <a:ext cx="3611880" cy="2423160"/>
          </a:xfrm>
          <a:prstGeom prst="roundRect">
            <a:avLst>
              <a:gd name="adj" fmla="val 6000"/>
            </a:avLst>
          </a:prstGeom>
          <a:solidFill>
            <a:srgbClr val="F0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 Check the source"/>
          <p:cNvSpPr txBox="1"/>
          <p:nvPr/>
        </p:nvSpPr>
        <p:spPr>
          <a:xfrm>
            <a:off x="8476488" y="3108960"/>
            <a:ext cx="3209544" cy="502920"/>
          </a:xfrm>
          <a:prstGeom prst="rect">
            <a:avLst/>
          </a:prstGeom>
          <a:noFill/>
        </p:spPr>
        <p:txBody>
          <a:bodyPr wrap="none" lIns="0" rIns="0" tIns="0" bIns="0" anchor="t">
            <a:spAutoFit/>
          </a:bodyPr>
          <a:lstStyle/>
          <a:p>
            <a:pPr algn="l">
              <a:lnSpc>
                <a:spcPts val="2477"/>
              </a:lnSpc>
              <a:spcBef>
                <a:spcPts val="0"/>
              </a:spcBef>
              <a:spcAft>
                <a:spcPts val="0"/>
              </a:spcAft>
              <a:defRPr sz="2100" b="1">
                <a:solidFill>
                  <a:srgbClr val="152C40"/>
                </a:solidFill>
                <a:latin typeface="Noto Sans"/>
              </a:defRPr>
            </a:pPr>
            <a:r>
              <a:t>Check the source</a:t>
            </a:r>
          </a:p>
        </p:txBody>
      </p:sp>
      <p:sp>
        <p:nvSpPr>
          <p:cNvPr id="19" name="TEXT A candidate should lead back to its word"/>
          <p:cNvSpPr txBox="1"/>
          <p:nvPr/>
        </p:nvSpPr>
        <p:spPr>
          <a:xfrm>
            <a:off x="8476488" y="3767328"/>
            <a:ext cx="3209544" cy="1453895"/>
          </a:xfrm>
          <a:prstGeom prst="rect">
            <a:avLst/>
          </a:prstGeom>
          <a:noFill/>
        </p:spPr>
        <p:txBody>
          <a:bodyPr wrap="none" lIns="0" rIns="0" tIns="0" bIns="0" anchor="t">
            <a:spAutoFit/>
          </a:bodyPr>
          <a:lstStyle/>
          <a:p>
            <a:pPr algn="l">
              <a:lnSpc>
                <a:spcPts val="2595"/>
              </a:lnSpc>
              <a:spcBef>
                <a:spcPts val="0"/>
              </a:spcBef>
              <a:spcAft>
                <a:spcPts val="0"/>
              </a:spcAft>
              <a:defRPr sz="2200" b="0">
                <a:solidFill>
                  <a:srgbClr val="152C40"/>
                </a:solidFill>
                <a:latin typeface="Noto Sans"/>
              </a:defRPr>
            </a:pPr>
            <a:r>
              <a:t>A candidate should lead</a:t>
            </a:r>
          </a:p>
          <a:p>
            <a:pPr algn="l">
              <a:lnSpc>
                <a:spcPts val="2595"/>
              </a:lnSpc>
              <a:spcBef>
                <a:spcPts val="0"/>
              </a:spcBef>
              <a:spcAft>
                <a:spcPts val="0"/>
              </a:spcAft>
              <a:defRPr sz="2200" b="0">
                <a:solidFill>
                  <a:srgbClr val="152C40"/>
                </a:solidFill>
                <a:latin typeface="Noto Sans"/>
              </a:defRPr>
            </a:pPr>
            <a:r>
              <a:t>back to its words and</a:t>
            </a:r>
          </a:p>
          <a:p>
            <a:pPr algn="l">
              <a:lnSpc>
                <a:spcPts val="2595"/>
              </a:lnSpc>
              <a:spcBef>
                <a:spcPts val="0"/>
              </a:spcBef>
              <a:spcAft>
                <a:spcPts val="0"/>
              </a:spcAft>
              <a:defRPr sz="2200" b="0">
                <a:solidFill>
                  <a:srgbClr val="152C40"/>
                </a:solidFill>
                <a:latin typeface="Noto Sans"/>
              </a:defRPr>
            </a:pPr>
            <a:r>
              <a:t>timestamp.</a:t>
            </a:r>
          </a:p>
        </p:txBody>
      </p:sp>
      <p:sp>
        <p:nvSpPr>
          <p:cNvPr id="20" name="TEXT Problem framing: passage retrieval and e"/>
          <p:cNvSpPr txBox="1"/>
          <p:nvPr/>
        </p:nvSpPr>
        <p:spPr>
          <a:xfrm>
            <a:off x="530352" y="6080760"/>
            <a:ext cx="11064240" cy="237744"/>
          </a:xfrm>
          <a:prstGeom prst="rect">
            <a:avLst/>
          </a:prstGeom>
          <a:noFill/>
        </p:spPr>
        <p:txBody>
          <a:bodyPr wrap="none" lIns="0" rIns="0" tIns="0" bIns="0" anchor="t">
            <a:spAutoFit/>
          </a:bodyPr>
          <a:lstStyle/>
          <a:p>
            <a:pPr algn="l">
              <a:lnSpc>
                <a:spcPts val="1238"/>
              </a:lnSpc>
              <a:spcBef>
                <a:spcPts val="0"/>
              </a:spcBef>
              <a:spcAft>
                <a:spcPts val="0"/>
              </a:spcAft>
              <a:defRPr sz="1050" b="0">
                <a:solidFill>
                  <a:srgbClr val="526675"/>
                </a:solidFill>
                <a:latin typeface="Noto Sans"/>
              </a:defRPr>
            </a:pPr>
            <a:r>
              <a:t>Problem framing: passage retrieval and evidence review. We do not assume any external product lacks these features.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84048"/>
            <a:ext cx="59436" cy="329184"/>
          </a:xfrm>
          <a:prstGeom prst="rect">
            <a:avLst/>
          </a:prstGeom>
          <a:solidFill>
            <a:srgbClr val="B30D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 A PLAIN-LANGUAGE EXAMPLE"/>
          <p:cNvSpPr txBox="1"/>
          <p:nvPr/>
        </p:nvSpPr>
        <p:spPr>
          <a:xfrm>
            <a:off x="658368" y="320040"/>
            <a:ext cx="9144000" cy="228600"/>
          </a:xfrm>
          <a:prstGeom prst="rect">
            <a:avLst/>
          </a:prstGeom>
          <a:noFill/>
        </p:spPr>
        <p:txBody>
          <a:bodyPr wrap="none" lIns="0" rIns="0" tIns="0" bIns="0" anchor="t">
            <a:spAutoFit/>
          </a:bodyPr>
          <a:lstStyle/>
          <a:p>
            <a:pPr algn="l">
              <a:lnSpc>
                <a:spcPts val="1297"/>
              </a:lnSpc>
              <a:spcBef>
                <a:spcPts val="0"/>
              </a:spcBef>
              <a:spcAft>
                <a:spcPts val="0"/>
              </a:spcAft>
              <a:defRPr sz="1100" b="1">
                <a:solidFill>
                  <a:srgbClr val="B30D2C"/>
                </a:solidFill>
                <a:latin typeface="Noto Sans"/>
              </a:defRPr>
            </a:pPr>
            <a:r>
              <a:t>A PLAIN-LANGUAGE EXAMPLE</a:t>
            </a:r>
          </a:p>
        </p:txBody>
      </p:sp>
      <p:sp>
        <p:nvSpPr>
          <p:cNvPr id="5" name="TEXT Problem Statement"/>
          <p:cNvSpPr txBox="1"/>
          <p:nvPr/>
        </p:nvSpPr>
        <p:spPr>
          <a:xfrm>
            <a:off x="484632" y="749808"/>
            <a:ext cx="10881360" cy="502920"/>
          </a:xfrm>
          <a:prstGeom prst="rect">
            <a:avLst/>
          </a:prstGeom>
          <a:noFill/>
        </p:spPr>
        <p:txBody>
          <a:bodyPr wrap="none" lIns="0" rIns="0" tIns="0" bIns="0" anchor="t">
            <a:spAutoFit/>
          </a:bodyPr>
          <a:lstStyle/>
          <a:p>
            <a:pPr algn="l">
              <a:lnSpc>
                <a:spcPts val="3422"/>
              </a:lnSpc>
              <a:spcBef>
                <a:spcPts val="0"/>
              </a:spcBef>
              <a:spcAft>
                <a:spcPts val="0"/>
              </a:spcAft>
              <a:defRPr sz="2900" b="1">
                <a:solidFill>
                  <a:srgbClr val="152C40"/>
                </a:solidFill>
                <a:latin typeface="Noto Sans"/>
              </a:defRPr>
            </a:pPr>
            <a:r>
              <a:t>Problem Statement</a:t>
            </a:r>
          </a:p>
        </p:txBody>
      </p:sp>
      <p:sp>
        <p:nvSpPr>
          <p:cNvPr id="6" name="TEXT Illustrative dialogue only — these are n"/>
          <p:cNvSpPr txBox="1"/>
          <p:nvPr/>
        </p:nvSpPr>
        <p:spPr>
          <a:xfrm>
            <a:off x="502920" y="1298448"/>
            <a:ext cx="11064240" cy="411480"/>
          </a:xfrm>
          <a:prstGeom prst="rect">
            <a:avLst/>
          </a:prstGeom>
          <a:noFill/>
        </p:spPr>
        <p:txBody>
          <a:bodyPr wrap="none" lIns="0" rIns="0" tIns="0" bIns="0" anchor="t">
            <a:spAutoFit/>
          </a:bodyPr>
          <a:lstStyle/>
          <a:p>
            <a:pPr algn="l">
              <a:lnSpc>
                <a:spcPts val="1770"/>
              </a:lnSpc>
              <a:spcBef>
                <a:spcPts val="0"/>
              </a:spcBef>
              <a:spcAft>
                <a:spcPts val="0"/>
              </a:spcAft>
              <a:defRPr sz="1500" b="0">
                <a:solidFill>
                  <a:srgbClr val="526675"/>
                </a:solidFill>
                <a:latin typeface="Noto Sans"/>
              </a:defRPr>
            </a:pPr>
            <a:r>
              <a:t>Illustrative dialogue only — these are not measured model predictions.</a:t>
            </a:r>
          </a:p>
        </p:txBody>
      </p:sp>
      <p:pic>
        <p:nvPicPr>
          <p:cNvPr id="7" name="Picture 6" descr="image3.png"/>
          <p:cNvPicPr>
            <a:picLocks noChangeAspect="1"/>
          </p:cNvPicPr>
          <p:nvPr/>
        </p:nvPicPr>
        <p:blipFill>
          <a:blip r:embed="rId2"/>
          <a:stretch>
            <a:fillRect/>
          </a:stretch>
        </p:blipFill>
        <p:spPr>
          <a:xfrm>
            <a:off x="10195560" y="320040"/>
            <a:ext cx="1508760" cy="286077"/>
          </a:xfrm>
          <a:prstGeom prst="rect">
            <a:avLst/>
          </a:prstGeom>
        </p:spPr>
      </p:pic>
      <p:cxnSp>
        <p:nvCxnSpPr>
          <p:cNvPr id="8" name="Connector 7"/>
          <p:cNvCxnSpPr/>
          <p:nvPr/>
        </p:nvCxnSpPr>
        <p:spPr>
          <a:xfrm>
            <a:off x="502920" y="6419088"/>
            <a:ext cx="11183112" cy="0"/>
          </a:xfrm>
          <a:prstGeom prst="line">
            <a:avLst/>
          </a:prstGeom>
          <a:ln w="12700">
            <a:solidFill>
              <a:srgbClr val="D9E2E7"/>
            </a:solidFill>
          </a:ln>
        </p:spPr>
        <p:style>
          <a:lnRef idx="2">
            <a:schemeClr val="accent1"/>
          </a:lnRef>
          <a:fillRef idx="0">
            <a:schemeClr val="accent1"/>
          </a:fillRef>
          <a:effectRef idx="1">
            <a:schemeClr val="accent1"/>
          </a:effectRef>
          <a:fontRef idx="minor">
            <a:schemeClr val="tx1"/>
          </a:fontRef>
        </p:style>
      </p:cxnSp>
      <p:sp>
        <p:nvSpPr>
          <p:cNvPr id="9" name="TEXT SIT Pune  |  AI &amp; ML  |  Group 12  |  Pr"/>
          <p:cNvSpPr txBox="1"/>
          <p:nvPr/>
        </p:nvSpPr>
        <p:spPr>
          <a:xfrm>
            <a:off x="502920" y="6519672"/>
            <a:ext cx="9509760" cy="173736"/>
          </a:xfrm>
          <a:prstGeom prst="rect">
            <a:avLst/>
          </a:prstGeom>
          <a:noFill/>
        </p:spPr>
        <p:txBody>
          <a:bodyPr wrap="none" lIns="0" rIns="0" tIns="0" bIns="0" anchor="t">
            <a:spAutoFit/>
          </a:bodyPr>
          <a:lstStyle/>
          <a:p>
            <a:pPr algn="l">
              <a:lnSpc>
                <a:spcPts val="1062"/>
              </a:lnSpc>
              <a:spcBef>
                <a:spcPts val="0"/>
              </a:spcBef>
              <a:spcAft>
                <a:spcPts val="0"/>
              </a:spcAft>
              <a:defRPr sz="900" b="0">
                <a:solidFill>
                  <a:srgbClr val="526675"/>
                </a:solidFill>
                <a:latin typeface="Noto Sans"/>
              </a:defRPr>
            </a:pPr>
            <a:r>
              <a:t>SIT Pune | AI &amp; ML | Group 12 | Prepared 20 October 2026</a:t>
            </a:r>
          </a:p>
        </p:txBody>
      </p:sp>
      <p:sp>
        <p:nvSpPr>
          <p:cNvPr id="10" name="TEXT 03 / 18"/>
          <p:cNvSpPr txBox="1"/>
          <p:nvPr/>
        </p:nvSpPr>
        <p:spPr>
          <a:xfrm>
            <a:off x="10789920" y="6510528"/>
            <a:ext cx="914400" cy="201168"/>
          </a:xfrm>
          <a:prstGeom prst="rect">
            <a:avLst/>
          </a:prstGeom>
          <a:noFill/>
        </p:spPr>
        <p:txBody>
          <a:bodyPr wrap="none" lIns="0" rIns="0" tIns="0" bIns="0" anchor="t">
            <a:spAutoFit/>
          </a:bodyPr>
          <a:lstStyle/>
          <a:p>
            <a:pPr algn="r">
              <a:lnSpc>
                <a:spcPts val="1180"/>
              </a:lnSpc>
              <a:spcBef>
                <a:spcPts val="0"/>
              </a:spcBef>
              <a:spcAft>
                <a:spcPts val="0"/>
              </a:spcAft>
              <a:defRPr sz="1000" b="0">
                <a:solidFill>
                  <a:srgbClr val="526675"/>
                </a:solidFill>
                <a:latin typeface="Noto Sans"/>
              </a:defRPr>
            </a:pPr>
            <a:r>
              <a:t>03 / 18</a:t>
            </a:r>
          </a:p>
        </p:txBody>
      </p:sp>
      <p:sp>
        <p:nvSpPr>
          <p:cNvPr id="11" name="Rounded Rectangle 10"/>
          <p:cNvSpPr/>
          <p:nvPr/>
        </p:nvSpPr>
        <p:spPr>
          <a:xfrm>
            <a:off x="594360" y="1965960"/>
            <a:ext cx="5257800" cy="2514600"/>
          </a:xfrm>
          <a:prstGeom prst="roundRect">
            <a:avLst>
              <a:gd name="adj" fmla="val 6000"/>
            </a:avLst>
          </a:prstGeom>
          <a:solidFill>
            <a:srgbClr val="E9F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Discussion"/>
          <p:cNvSpPr txBox="1"/>
          <p:nvPr/>
        </p:nvSpPr>
        <p:spPr>
          <a:xfrm>
            <a:off x="795528" y="2148840"/>
            <a:ext cx="4855464" cy="502920"/>
          </a:xfrm>
          <a:prstGeom prst="rect">
            <a:avLst/>
          </a:prstGeom>
          <a:noFill/>
        </p:spPr>
        <p:txBody>
          <a:bodyPr wrap="none" lIns="0" rIns="0" tIns="0" bIns="0" anchor="t">
            <a:spAutoFit/>
          </a:bodyPr>
          <a:lstStyle/>
          <a:p>
            <a:pPr algn="l">
              <a:lnSpc>
                <a:spcPts val="2477"/>
              </a:lnSpc>
              <a:spcBef>
                <a:spcPts val="0"/>
              </a:spcBef>
              <a:spcAft>
                <a:spcPts val="0"/>
              </a:spcAft>
              <a:defRPr sz="2100" b="1">
                <a:solidFill>
                  <a:srgbClr val="152C40"/>
                </a:solidFill>
                <a:latin typeface="Noto Sans"/>
              </a:defRPr>
            </a:pPr>
            <a:r>
              <a:t>Discussion</a:t>
            </a:r>
          </a:p>
        </p:txBody>
      </p:sp>
      <p:sp>
        <p:nvSpPr>
          <p:cNvPr id="13" name="TEXT “Could we use the smaller prototype?&#10;Let"/>
          <p:cNvSpPr txBox="1"/>
          <p:nvPr/>
        </p:nvSpPr>
        <p:spPr>
          <a:xfrm>
            <a:off x="795528" y="2807208"/>
            <a:ext cx="4855464" cy="1545336"/>
          </a:xfrm>
          <a:prstGeom prst="rect">
            <a:avLst/>
          </a:prstGeom>
          <a:noFill/>
        </p:spPr>
        <p:txBody>
          <a:bodyPr wrap="none" lIns="0" rIns="0" tIns="0" bIns="0" anchor="t">
            <a:spAutoFit/>
          </a:bodyPr>
          <a:lstStyle/>
          <a:p>
            <a:pPr algn="l">
              <a:lnSpc>
                <a:spcPts val="2950"/>
              </a:lnSpc>
              <a:spcBef>
                <a:spcPts val="0"/>
              </a:spcBef>
              <a:spcAft>
                <a:spcPts val="0"/>
              </a:spcAft>
              <a:defRPr sz="2500" b="0">
                <a:solidFill>
                  <a:srgbClr val="152C40"/>
                </a:solidFill>
                <a:latin typeface="Noto Sans"/>
              </a:defRPr>
            </a:pPr>
            <a:r>
              <a:t>“Could we use the smaller</a:t>
            </a:r>
          </a:p>
          <a:p>
            <a:pPr algn="l">
              <a:lnSpc>
                <a:spcPts val="2950"/>
              </a:lnSpc>
              <a:spcBef>
                <a:spcPts val="0"/>
              </a:spcBef>
              <a:spcAft>
                <a:spcPts val="0"/>
              </a:spcAft>
              <a:defRPr sz="2500" b="0">
                <a:solidFill>
                  <a:srgbClr val="152C40"/>
                </a:solidFill>
                <a:latin typeface="Noto Sans"/>
              </a:defRPr>
            </a:pPr>
            <a:r>
              <a:t>prototype?</a:t>
            </a:r>
          </a:p>
          <a:p>
            <a:pPr algn="l">
              <a:lnSpc>
                <a:spcPts val="2950"/>
              </a:lnSpc>
              <a:spcBef>
                <a:spcPts val="0"/>
              </a:spcBef>
              <a:spcAft>
                <a:spcPts val="0"/>
              </a:spcAft>
              <a:defRPr sz="2500" b="0">
                <a:solidFill>
                  <a:srgbClr val="152C40"/>
                </a:solidFill>
                <a:latin typeface="Noto Sans"/>
              </a:defRPr>
            </a:pPr>
            <a:r>
              <a:t>Let’s check its battery life first.”</a:t>
            </a:r>
          </a:p>
        </p:txBody>
      </p:sp>
      <p:sp>
        <p:nvSpPr>
          <p:cNvPr id="14" name="Rounded Rectangle 13"/>
          <p:cNvSpPr/>
          <p:nvPr/>
        </p:nvSpPr>
        <p:spPr>
          <a:xfrm>
            <a:off x="6172200" y="1965960"/>
            <a:ext cx="5394960" cy="2514600"/>
          </a:xfrm>
          <a:prstGeom prst="roundRect">
            <a:avLst>
              <a:gd name="adj" fmla="val 6000"/>
            </a:avLst>
          </a:prstGeom>
          <a:solidFill>
            <a:srgbClr val="FBEE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 Final-decision candidate"/>
          <p:cNvSpPr txBox="1"/>
          <p:nvPr/>
        </p:nvSpPr>
        <p:spPr>
          <a:xfrm>
            <a:off x="6373368" y="2148840"/>
            <a:ext cx="4992624" cy="502920"/>
          </a:xfrm>
          <a:prstGeom prst="rect">
            <a:avLst/>
          </a:prstGeom>
          <a:noFill/>
        </p:spPr>
        <p:txBody>
          <a:bodyPr wrap="none" lIns="0" rIns="0" tIns="0" bIns="0" anchor="t">
            <a:spAutoFit/>
          </a:bodyPr>
          <a:lstStyle/>
          <a:p>
            <a:pPr algn="l">
              <a:lnSpc>
                <a:spcPts val="2477"/>
              </a:lnSpc>
              <a:spcBef>
                <a:spcPts val="0"/>
              </a:spcBef>
              <a:spcAft>
                <a:spcPts val="0"/>
              </a:spcAft>
              <a:defRPr sz="2100" b="1">
                <a:solidFill>
                  <a:srgbClr val="152C40"/>
                </a:solidFill>
                <a:latin typeface="Noto Sans"/>
              </a:defRPr>
            </a:pPr>
            <a:r>
              <a:t>Final-decision candidate</a:t>
            </a:r>
          </a:p>
        </p:txBody>
      </p:sp>
      <p:sp>
        <p:nvSpPr>
          <p:cNvPr id="16" name="TEXT “We agree to use the smaller prototype.”"/>
          <p:cNvSpPr txBox="1"/>
          <p:nvPr/>
        </p:nvSpPr>
        <p:spPr>
          <a:xfrm>
            <a:off x="6373368" y="2807208"/>
            <a:ext cx="4992624" cy="1545336"/>
          </a:xfrm>
          <a:prstGeom prst="rect">
            <a:avLst/>
          </a:prstGeom>
          <a:noFill/>
        </p:spPr>
        <p:txBody>
          <a:bodyPr wrap="none" lIns="0" rIns="0" tIns="0" bIns="0" anchor="t">
            <a:spAutoFit/>
          </a:bodyPr>
          <a:lstStyle/>
          <a:p>
            <a:pPr algn="l">
              <a:lnSpc>
                <a:spcPts val="2950"/>
              </a:lnSpc>
              <a:spcBef>
                <a:spcPts val="0"/>
              </a:spcBef>
              <a:spcAft>
                <a:spcPts val="0"/>
              </a:spcAft>
              <a:defRPr sz="2500" b="0">
                <a:solidFill>
                  <a:srgbClr val="152C40"/>
                </a:solidFill>
                <a:latin typeface="Noto Sans"/>
              </a:defRPr>
            </a:pPr>
            <a:r>
              <a:t>“We agree to use the smaller</a:t>
            </a:r>
          </a:p>
          <a:p>
            <a:pPr algn="l">
              <a:lnSpc>
                <a:spcPts val="2950"/>
              </a:lnSpc>
              <a:spcBef>
                <a:spcPts val="0"/>
              </a:spcBef>
              <a:spcAft>
                <a:spcPts val="0"/>
              </a:spcAft>
              <a:defRPr sz="2500" b="0">
                <a:solidFill>
                  <a:srgbClr val="152C40"/>
                </a:solidFill>
                <a:latin typeface="Noto Sans"/>
              </a:defRPr>
            </a:pPr>
            <a:r>
              <a:t>prototype.”</a:t>
            </a:r>
          </a:p>
        </p:txBody>
      </p:sp>
      <p:sp>
        <p:nvSpPr>
          <p:cNvPr id="17" name="TEXT The learned model suggests discussion pa"/>
          <p:cNvSpPr txBox="1"/>
          <p:nvPr/>
        </p:nvSpPr>
        <p:spPr>
          <a:xfrm>
            <a:off x="777240" y="4983480"/>
            <a:ext cx="10698480" cy="868680"/>
          </a:xfrm>
          <a:prstGeom prst="rect">
            <a:avLst/>
          </a:prstGeom>
          <a:noFill/>
        </p:spPr>
        <p:txBody>
          <a:bodyPr wrap="none" lIns="0" rIns="0" tIns="0" bIns="0" anchor="t">
            <a:spAutoFit/>
          </a:bodyPr>
          <a:lstStyle/>
          <a:p>
            <a:pPr algn="l">
              <a:lnSpc>
                <a:spcPts val="3068"/>
              </a:lnSpc>
              <a:spcBef>
                <a:spcPts val="0"/>
              </a:spcBef>
              <a:spcAft>
                <a:spcPts val="0"/>
              </a:spcAft>
              <a:defRPr sz="2600" b="1">
                <a:solidFill>
                  <a:srgbClr val="152C40"/>
                </a:solidFill>
                <a:latin typeface="Noto Sans"/>
              </a:defRPr>
            </a:pPr>
            <a:r>
              <a:t>The learned model suggests discussion passages.</a:t>
            </a:r>
          </a:p>
          <a:p>
            <a:pPr algn="l">
              <a:lnSpc>
                <a:spcPts val="3068"/>
              </a:lnSpc>
              <a:spcBef>
                <a:spcPts val="0"/>
              </a:spcBef>
              <a:spcAft>
                <a:spcPts val="0"/>
              </a:spcAft>
              <a:defRPr sz="2600" b="1">
                <a:solidFill>
                  <a:srgbClr val="152C40"/>
                </a:solidFill>
                <a:latin typeface="Noto Sans"/>
              </a:defRPr>
            </a:pPr>
            <a:r>
              <a:t>Decision rules and human confirmation are separate.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84048"/>
            <a:ext cx="59436" cy="329184"/>
          </a:xfrm>
          <a:prstGeom prst="rect">
            <a:avLst/>
          </a:prstGeom>
          <a:solidFill>
            <a:srgbClr val="B30D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 OBJECTIVES &amp; REQUIREMENTS"/>
          <p:cNvSpPr txBox="1"/>
          <p:nvPr/>
        </p:nvSpPr>
        <p:spPr>
          <a:xfrm>
            <a:off x="658368" y="320040"/>
            <a:ext cx="9144000" cy="228600"/>
          </a:xfrm>
          <a:prstGeom prst="rect">
            <a:avLst/>
          </a:prstGeom>
          <a:noFill/>
        </p:spPr>
        <p:txBody>
          <a:bodyPr wrap="none" lIns="0" rIns="0" tIns="0" bIns="0" anchor="t">
            <a:spAutoFit/>
          </a:bodyPr>
          <a:lstStyle/>
          <a:p>
            <a:pPr algn="l">
              <a:lnSpc>
                <a:spcPts val="1297"/>
              </a:lnSpc>
              <a:spcBef>
                <a:spcPts val="0"/>
              </a:spcBef>
              <a:spcAft>
                <a:spcPts val="0"/>
              </a:spcAft>
              <a:defRPr sz="1100" b="1">
                <a:solidFill>
                  <a:srgbClr val="B30D2C"/>
                </a:solidFill>
                <a:latin typeface="Noto Sans"/>
              </a:defRPr>
            </a:pPr>
            <a:r>
              <a:t>OBJECTIVES &amp; REQUIREMENTS</a:t>
            </a:r>
          </a:p>
        </p:txBody>
      </p:sp>
      <p:sp>
        <p:nvSpPr>
          <p:cNvPr id="5" name="TEXT Objectives of the Project"/>
          <p:cNvSpPr txBox="1"/>
          <p:nvPr/>
        </p:nvSpPr>
        <p:spPr>
          <a:xfrm>
            <a:off x="484632" y="749808"/>
            <a:ext cx="10881360" cy="502920"/>
          </a:xfrm>
          <a:prstGeom prst="rect">
            <a:avLst/>
          </a:prstGeom>
          <a:noFill/>
        </p:spPr>
        <p:txBody>
          <a:bodyPr wrap="none" lIns="0" rIns="0" tIns="0" bIns="0" anchor="t">
            <a:spAutoFit/>
          </a:bodyPr>
          <a:lstStyle/>
          <a:p>
            <a:pPr algn="l">
              <a:lnSpc>
                <a:spcPts val="3422"/>
              </a:lnSpc>
              <a:spcBef>
                <a:spcPts val="0"/>
              </a:spcBef>
              <a:spcAft>
                <a:spcPts val="0"/>
              </a:spcAft>
              <a:defRPr sz="2900" b="1">
                <a:solidFill>
                  <a:srgbClr val="152C40"/>
                </a:solidFill>
                <a:latin typeface="Noto Sans"/>
              </a:defRPr>
            </a:pPr>
            <a:r>
              <a:t>Objectives of the Project</a:t>
            </a:r>
          </a:p>
        </p:txBody>
      </p:sp>
      <p:pic>
        <p:nvPicPr>
          <p:cNvPr id="6" name="Picture 5" descr="image3.png"/>
          <p:cNvPicPr>
            <a:picLocks noChangeAspect="1"/>
          </p:cNvPicPr>
          <p:nvPr/>
        </p:nvPicPr>
        <p:blipFill>
          <a:blip r:embed="rId2"/>
          <a:stretch>
            <a:fillRect/>
          </a:stretch>
        </p:blipFill>
        <p:spPr>
          <a:xfrm>
            <a:off x="10195560" y="320040"/>
            <a:ext cx="1508760" cy="286077"/>
          </a:xfrm>
          <a:prstGeom prst="rect">
            <a:avLst/>
          </a:prstGeom>
        </p:spPr>
      </p:pic>
      <p:cxnSp>
        <p:nvCxnSpPr>
          <p:cNvPr id="7" name="Connector 6"/>
          <p:cNvCxnSpPr/>
          <p:nvPr/>
        </p:nvCxnSpPr>
        <p:spPr>
          <a:xfrm>
            <a:off x="502920" y="6419088"/>
            <a:ext cx="11183112" cy="0"/>
          </a:xfrm>
          <a:prstGeom prst="line">
            <a:avLst/>
          </a:prstGeom>
          <a:ln w="12700">
            <a:solidFill>
              <a:srgbClr val="D9E2E7"/>
            </a:solidFill>
          </a:ln>
        </p:spPr>
        <p:style>
          <a:lnRef idx="2">
            <a:schemeClr val="accent1"/>
          </a:lnRef>
          <a:fillRef idx="0">
            <a:schemeClr val="accent1"/>
          </a:fillRef>
          <a:effectRef idx="1">
            <a:schemeClr val="accent1"/>
          </a:effectRef>
          <a:fontRef idx="minor">
            <a:schemeClr val="tx1"/>
          </a:fontRef>
        </p:style>
      </p:cxnSp>
      <p:sp>
        <p:nvSpPr>
          <p:cNvPr id="8" name="TEXT SIT Pune  |  AI &amp; ML  |  Group 12  |  Pr"/>
          <p:cNvSpPr txBox="1"/>
          <p:nvPr/>
        </p:nvSpPr>
        <p:spPr>
          <a:xfrm>
            <a:off x="502920" y="6519672"/>
            <a:ext cx="9509760" cy="173736"/>
          </a:xfrm>
          <a:prstGeom prst="rect">
            <a:avLst/>
          </a:prstGeom>
          <a:noFill/>
        </p:spPr>
        <p:txBody>
          <a:bodyPr wrap="none" lIns="0" rIns="0" tIns="0" bIns="0" anchor="t">
            <a:spAutoFit/>
          </a:bodyPr>
          <a:lstStyle/>
          <a:p>
            <a:pPr algn="l">
              <a:lnSpc>
                <a:spcPts val="1062"/>
              </a:lnSpc>
              <a:spcBef>
                <a:spcPts val="0"/>
              </a:spcBef>
              <a:spcAft>
                <a:spcPts val="0"/>
              </a:spcAft>
              <a:defRPr sz="900" b="0">
                <a:solidFill>
                  <a:srgbClr val="526675"/>
                </a:solidFill>
                <a:latin typeface="Noto Sans"/>
              </a:defRPr>
            </a:pPr>
            <a:r>
              <a:t>SIT Pune | AI &amp; ML | Group 12 | Prepared 20 October 2026</a:t>
            </a:r>
          </a:p>
        </p:txBody>
      </p:sp>
      <p:sp>
        <p:nvSpPr>
          <p:cNvPr id="9" name="TEXT 04 / 18"/>
          <p:cNvSpPr txBox="1"/>
          <p:nvPr/>
        </p:nvSpPr>
        <p:spPr>
          <a:xfrm>
            <a:off x="10789920" y="6510528"/>
            <a:ext cx="914400" cy="201168"/>
          </a:xfrm>
          <a:prstGeom prst="rect">
            <a:avLst/>
          </a:prstGeom>
          <a:noFill/>
        </p:spPr>
        <p:txBody>
          <a:bodyPr wrap="none" lIns="0" rIns="0" tIns="0" bIns="0" anchor="t">
            <a:spAutoFit/>
          </a:bodyPr>
          <a:lstStyle/>
          <a:p>
            <a:pPr algn="r">
              <a:lnSpc>
                <a:spcPts val="1180"/>
              </a:lnSpc>
              <a:spcBef>
                <a:spcPts val="0"/>
              </a:spcBef>
              <a:spcAft>
                <a:spcPts val="0"/>
              </a:spcAft>
              <a:defRPr sz="1000" b="0">
                <a:solidFill>
                  <a:srgbClr val="526675"/>
                </a:solidFill>
                <a:latin typeface="Noto Sans"/>
              </a:defRPr>
            </a:pPr>
            <a:r>
              <a:t>04 / 18</a:t>
            </a:r>
          </a:p>
        </p:txBody>
      </p:sp>
      <p:sp>
        <p:nvSpPr>
          <p:cNvPr id="10" name="Rounded Rectangle 9"/>
          <p:cNvSpPr/>
          <p:nvPr/>
        </p:nvSpPr>
        <p:spPr>
          <a:xfrm>
            <a:off x="594360" y="1920240"/>
            <a:ext cx="3611880" cy="2926080"/>
          </a:xfrm>
          <a:prstGeom prst="roundRect">
            <a:avLst>
              <a:gd name="adj" fmla="val 6000"/>
            </a:avLst>
          </a:prstGeom>
          <a:solidFill>
            <a:srgbClr val="F0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 Process locally"/>
          <p:cNvSpPr txBox="1"/>
          <p:nvPr/>
        </p:nvSpPr>
        <p:spPr>
          <a:xfrm>
            <a:off x="795528" y="2103120"/>
            <a:ext cx="3209544" cy="502920"/>
          </a:xfrm>
          <a:prstGeom prst="rect">
            <a:avLst/>
          </a:prstGeom>
          <a:noFill/>
        </p:spPr>
        <p:txBody>
          <a:bodyPr wrap="none" lIns="0" rIns="0" tIns="0" bIns="0" anchor="t">
            <a:spAutoFit/>
          </a:bodyPr>
          <a:lstStyle/>
          <a:p>
            <a:pPr algn="l">
              <a:lnSpc>
                <a:spcPts val="2477"/>
              </a:lnSpc>
              <a:spcBef>
                <a:spcPts val="0"/>
              </a:spcBef>
              <a:spcAft>
                <a:spcPts val="0"/>
              </a:spcAft>
              <a:defRPr sz="2100" b="1">
                <a:solidFill>
                  <a:srgbClr val="152C40"/>
                </a:solidFill>
                <a:latin typeface="Noto Sans"/>
              </a:defRPr>
            </a:pPr>
            <a:r>
              <a:t>Process locally</a:t>
            </a:r>
          </a:p>
        </p:txBody>
      </p:sp>
      <p:sp>
        <p:nvSpPr>
          <p:cNvPr id="12" name="TEXT Audio, speaker analysis and available sl"/>
          <p:cNvSpPr txBox="1"/>
          <p:nvPr/>
        </p:nvSpPr>
        <p:spPr>
          <a:xfrm>
            <a:off x="795528" y="2761488"/>
            <a:ext cx="3209544" cy="1956816"/>
          </a:xfrm>
          <a:prstGeom prst="rect">
            <a:avLst/>
          </a:prstGeom>
          <a:noFill/>
        </p:spPr>
        <p:txBody>
          <a:bodyPr wrap="none" lIns="0" rIns="0" tIns="0" bIns="0" anchor="t">
            <a:spAutoFit/>
          </a:bodyPr>
          <a:lstStyle/>
          <a:p>
            <a:pPr algn="l">
              <a:lnSpc>
                <a:spcPts val="2595"/>
              </a:lnSpc>
              <a:spcBef>
                <a:spcPts val="0"/>
              </a:spcBef>
              <a:spcAft>
                <a:spcPts val="0"/>
              </a:spcAft>
              <a:defRPr sz="2200" b="0">
                <a:solidFill>
                  <a:srgbClr val="152C40"/>
                </a:solidFill>
                <a:latin typeface="Noto Sans"/>
              </a:defRPr>
            </a:pPr>
            <a:r>
              <a:t>Audio, speaker analysis</a:t>
            </a:r>
          </a:p>
          <a:p>
            <a:pPr algn="l">
              <a:lnSpc>
                <a:spcPts val="2595"/>
              </a:lnSpc>
              <a:spcBef>
                <a:spcPts val="0"/>
              </a:spcBef>
              <a:spcAft>
                <a:spcPts val="0"/>
              </a:spcAft>
              <a:defRPr sz="2200" b="0">
                <a:solidFill>
                  <a:srgbClr val="152C40"/>
                </a:solidFill>
                <a:latin typeface="Noto Sans"/>
              </a:defRPr>
            </a:pPr>
            <a:r>
              <a:t>and available slide</a:t>
            </a:r>
          </a:p>
          <a:p>
            <a:pPr algn="l">
              <a:lnSpc>
                <a:spcPts val="2595"/>
              </a:lnSpc>
              <a:spcBef>
                <a:spcPts val="0"/>
              </a:spcBef>
              <a:spcAft>
                <a:spcPts val="0"/>
              </a:spcAft>
              <a:defRPr sz="2200" b="0">
                <a:solidFill>
                  <a:srgbClr val="152C40"/>
                </a:solidFill>
                <a:latin typeface="Noto Sans"/>
              </a:defRPr>
            </a:pPr>
            <a:r>
              <a:t>content are processed</a:t>
            </a:r>
          </a:p>
          <a:p>
            <a:pPr algn="l">
              <a:lnSpc>
                <a:spcPts val="2595"/>
              </a:lnSpc>
              <a:spcBef>
                <a:spcPts val="0"/>
              </a:spcBef>
              <a:spcAft>
                <a:spcPts val="0"/>
              </a:spcAft>
              <a:defRPr sz="2200" b="0">
                <a:solidFill>
                  <a:srgbClr val="152C40"/>
                </a:solidFill>
                <a:latin typeface="Noto Sans"/>
              </a:defRPr>
            </a:pPr>
            <a:r>
              <a:t>on the laptop.</a:t>
            </a:r>
          </a:p>
        </p:txBody>
      </p:sp>
      <p:sp>
        <p:nvSpPr>
          <p:cNvPr id="13" name="Rounded Rectangle 12"/>
          <p:cNvSpPr/>
          <p:nvPr/>
        </p:nvSpPr>
        <p:spPr>
          <a:xfrm>
            <a:off x="4434840" y="1920240"/>
            <a:ext cx="3611880" cy="2926080"/>
          </a:xfrm>
          <a:prstGeom prst="roundRect">
            <a:avLst>
              <a:gd name="adj" fmla="val 6000"/>
            </a:avLst>
          </a:prstGeom>
          <a:solidFill>
            <a:srgbClr val="F0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 Keep evidence attached"/>
          <p:cNvSpPr txBox="1"/>
          <p:nvPr/>
        </p:nvSpPr>
        <p:spPr>
          <a:xfrm>
            <a:off x="4636008" y="2103120"/>
            <a:ext cx="3209544" cy="502920"/>
          </a:xfrm>
          <a:prstGeom prst="rect">
            <a:avLst/>
          </a:prstGeom>
          <a:noFill/>
        </p:spPr>
        <p:txBody>
          <a:bodyPr wrap="none" lIns="0" rIns="0" tIns="0" bIns="0" anchor="t">
            <a:spAutoFit/>
          </a:bodyPr>
          <a:lstStyle/>
          <a:p>
            <a:pPr algn="l">
              <a:lnSpc>
                <a:spcPts val="2477"/>
              </a:lnSpc>
              <a:spcBef>
                <a:spcPts val="0"/>
              </a:spcBef>
              <a:spcAft>
                <a:spcPts val="0"/>
              </a:spcAft>
              <a:defRPr sz="2100" b="1">
                <a:solidFill>
                  <a:srgbClr val="152C40"/>
                </a:solidFill>
                <a:latin typeface="Noto Sans"/>
              </a:defRPr>
            </a:pPr>
            <a:r>
              <a:t>Keep evidence attached</a:t>
            </a:r>
          </a:p>
        </p:txBody>
      </p:sp>
      <p:sp>
        <p:nvSpPr>
          <p:cNvPr id="15" name="TEXT Retain source text, segment IDs, speaker"/>
          <p:cNvSpPr txBox="1"/>
          <p:nvPr/>
        </p:nvSpPr>
        <p:spPr>
          <a:xfrm>
            <a:off x="4636008" y="2761488"/>
            <a:ext cx="3209544" cy="1956816"/>
          </a:xfrm>
          <a:prstGeom prst="rect">
            <a:avLst/>
          </a:prstGeom>
          <a:noFill/>
        </p:spPr>
        <p:txBody>
          <a:bodyPr wrap="none" lIns="0" rIns="0" tIns="0" bIns="0" anchor="t">
            <a:spAutoFit/>
          </a:bodyPr>
          <a:lstStyle/>
          <a:p>
            <a:pPr algn="l">
              <a:lnSpc>
                <a:spcPts val="2595"/>
              </a:lnSpc>
              <a:spcBef>
                <a:spcPts val="0"/>
              </a:spcBef>
              <a:spcAft>
                <a:spcPts val="0"/>
              </a:spcAft>
              <a:defRPr sz="2200" b="0">
                <a:solidFill>
                  <a:srgbClr val="152C40"/>
                </a:solidFill>
                <a:latin typeface="Noto Sans"/>
              </a:defRPr>
            </a:pPr>
            <a:r>
              <a:t>Retain source text,</a:t>
            </a:r>
          </a:p>
          <a:p>
            <a:pPr algn="l">
              <a:lnSpc>
                <a:spcPts val="2595"/>
              </a:lnSpc>
              <a:spcBef>
                <a:spcPts val="0"/>
              </a:spcBef>
              <a:spcAft>
                <a:spcPts val="0"/>
              </a:spcAft>
              <a:defRPr sz="2200" b="0">
                <a:solidFill>
                  <a:srgbClr val="152C40"/>
                </a:solidFill>
                <a:latin typeface="Noto Sans"/>
              </a:defRPr>
            </a:pPr>
            <a:r>
              <a:t>segment IDs, speaker</a:t>
            </a:r>
          </a:p>
          <a:p>
            <a:pPr algn="l">
              <a:lnSpc>
                <a:spcPts val="2595"/>
              </a:lnSpc>
              <a:spcBef>
                <a:spcPts val="0"/>
              </a:spcBef>
              <a:spcAft>
                <a:spcPts val="0"/>
              </a:spcAft>
              <a:defRPr sz="2200" b="0">
                <a:solidFill>
                  <a:srgbClr val="152C40"/>
                </a:solidFill>
                <a:latin typeface="Noto Sans"/>
              </a:defRPr>
            </a:pPr>
            <a:r>
              <a:t>labels and recording</a:t>
            </a:r>
          </a:p>
          <a:p>
            <a:pPr algn="l">
              <a:lnSpc>
                <a:spcPts val="2595"/>
              </a:lnSpc>
              <a:spcBef>
                <a:spcPts val="0"/>
              </a:spcBef>
              <a:spcAft>
                <a:spcPts val="0"/>
              </a:spcAft>
              <a:defRPr sz="2200" b="0">
                <a:solidFill>
                  <a:srgbClr val="152C40"/>
                </a:solidFill>
                <a:latin typeface="Noto Sans"/>
              </a:defRPr>
            </a:pPr>
            <a:r>
              <a:t>timestamps.</a:t>
            </a:r>
          </a:p>
        </p:txBody>
      </p:sp>
      <p:sp>
        <p:nvSpPr>
          <p:cNvPr id="16" name="Rounded Rectangle 15"/>
          <p:cNvSpPr/>
          <p:nvPr/>
        </p:nvSpPr>
        <p:spPr>
          <a:xfrm>
            <a:off x="8275320" y="1920240"/>
            <a:ext cx="3611880" cy="2926080"/>
          </a:xfrm>
          <a:prstGeom prst="roundRect">
            <a:avLst>
              <a:gd name="adj" fmla="val 6000"/>
            </a:avLst>
          </a:prstGeom>
          <a:solidFill>
            <a:srgbClr val="F0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 Measure specific tasks"/>
          <p:cNvSpPr txBox="1"/>
          <p:nvPr/>
        </p:nvSpPr>
        <p:spPr>
          <a:xfrm>
            <a:off x="8476488" y="2103120"/>
            <a:ext cx="3209544" cy="502920"/>
          </a:xfrm>
          <a:prstGeom prst="rect">
            <a:avLst/>
          </a:prstGeom>
          <a:noFill/>
        </p:spPr>
        <p:txBody>
          <a:bodyPr wrap="none" lIns="0" rIns="0" tIns="0" bIns="0" anchor="t">
            <a:spAutoFit/>
          </a:bodyPr>
          <a:lstStyle/>
          <a:p>
            <a:pPr algn="l">
              <a:lnSpc>
                <a:spcPts val="2477"/>
              </a:lnSpc>
              <a:spcBef>
                <a:spcPts val="0"/>
              </a:spcBef>
              <a:spcAft>
                <a:spcPts val="0"/>
              </a:spcAft>
              <a:defRPr sz="2100" b="1">
                <a:solidFill>
                  <a:srgbClr val="152C40"/>
                </a:solidFill>
                <a:latin typeface="Noto Sans"/>
              </a:defRPr>
            </a:pPr>
            <a:r>
              <a:t>Measure specific tasks</a:t>
            </a:r>
          </a:p>
        </p:txBody>
      </p:sp>
      <p:sp>
        <p:nvSpPr>
          <p:cNvPr id="18" name="TEXT Compare discussion classifiers and speec"/>
          <p:cNvSpPr txBox="1"/>
          <p:nvPr/>
        </p:nvSpPr>
        <p:spPr>
          <a:xfrm>
            <a:off x="8476488" y="2761488"/>
            <a:ext cx="3209544" cy="1956816"/>
          </a:xfrm>
          <a:prstGeom prst="rect">
            <a:avLst/>
          </a:prstGeom>
          <a:noFill/>
        </p:spPr>
        <p:txBody>
          <a:bodyPr wrap="none" lIns="0" rIns="0" tIns="0" bIns="0" anchor="t">
            <a:spAutoFit/>
          </a:bodyPr>
          <a:lstStyle/>
          <a:p>
            <a:pPr algn="l">
              <a:lnSpc>
                <a:spcPts val="2595"/>
              </a:lnSpc>
              <a:spcBef>
                <a:spcPts val="0"/>
              </a:spcBef>
              <a:spcAft>
                <a:spcPts val="0"/>
              </a:spcAft>
              <a:defRPr sz="2200" b="0">
                <a:solidFill>
                  <a:srgbClr val="152C40"/>
                </a:solidFill>
                <a:latin typeface="Noto Sans"/>
              </a:defRPr>
            </a:pPr>
            <a:r>
              <a:t>Compare discussion</a:t>
            </a:r>
          </a:p>
          <a:p>
            <a:pPr algn="l">
              <a:lnSpc>
                <a:spcPts val="2595"/>
              </a:lnSpc>
              <a:spcBef>
                <a:spcPts val="0"/>
              </a:spcBef>
              <a:spcAft>
                <a:spcPts val="0"/>
              </a:spcAft>
              <a:defRPr sz="2200" b="0">
                <a:solidFill>
                  <a:srgbClr val="152C40"/>
                </a:solidFill>
                <a:latin typeface="Noto Sans"/>
              </a:defRPr>
            </a:pPr>
            <a:r>
              <a:t>classifiers and speech</a:t>
            </a:r>
          </a:p>
          <a:p>
            <a:pPr algn="l">
              <a:lnSpc>
                <a:spcPts val="2595"/>
              </a:lnSpc>
              <a:spcBef>
                <a:spcPts val="0"/>
              </a:spcBef>
              <a:spcAft>
                <a:spcPts val="0"/>
              </a:spcAft>
              <a:defRPr sz="2200" b="0">
                <a:solidFill>
                  <a:srgbClr val="152C40"/>
                </a:solidFill>
                <a:latin typeface="Noto Sans"/>
              </a:defRPr>
            </a:pPr>
            <a:r>
              <a:t>components with</a:t>
            </a:r>
          </a:p>
          <a:p>
            <a:pPr algn="l">
              <a:lnSpc>
                <a:spcPts val="2595"/>
              </a:lnSpc>
              <a:spcBef>
                <a:spcPts val="0"/>
              </a:spcBef>
              <a:spcAft>
                <a:spcPts val="0"/>
              </a:spcAft>
              <a:defRPr sz="2200" b="0">
                <a:solidFill>
                  <a:srgbClr val="152C40"/>
                </a:solidFill>
                <a:latin typeface="Noto Sans"/>
              </a:defRPr>
            </a:pPr>
            <a:r>
              <a:t>matched references.</a:t>
            </a:r>
          </a:p>
        </p:txBody>
      </p:sp>
      <p:sp>
        <p:nvSpPr>
          <p:cNvPr id="19" name="TEXT Required behaviour: record/upload → anal"/>
          <p:cNvSpPr txBox="1"/>
          <p:nvPr/>
        </p:nvSpPr>
        <p:spPr>
          <a:xfrm>
            <a:off x="731520" y="5303520"/>
            <a:ext cx="10789920" cy="548640"/>
          </a:xfrm>
          <a:prstGeom prst="rect">
            <a:avLst/>
          </a:prstGeom>
          <a:noFill/>
        </p:spPr>
        <p:txBody>
          <a:bodyPr wrap="none" lIns="0" rIns="0" tIns="0" bIns="0" anchor="t">
            <a:spAutoFit/>
          </a:bodyPr>
          <a:lstStyle/>
          <a:p>
            <a:pPr algn="l">
              <a:lnSpc>
                <a:spcPts val="2950"/>
              </a:lnSpc>
              <a:spcBef>
                <a:spcPts val="0"/>
              </a:spcBef>
              <a:spcAft>
                <a:spcPts val="0"/>
              </a:spcAft>
              <a:defRPr sz="2500" b="1">
                <a:solidFill>
                  <a:srgbClr val="087F8C"/>
                </a:solidFill>
                <a:latin typeface="Noto Sans"/>
              </a:defRPr>
            </a:pPr>
            <a:r>
              <a:t>Required behaviour: record/upload → analyse → review → export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84048"/>
            <a:ext cx="59436" cy="329184"/>
          </a:xfrm>
          <a:prstGeom prst="rect">
            <a:avLst/>
          </a:prstGeom>
          <a:solidFill>
            <a:srgbClr val="B30D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 PROJECT PLAN • COMPLETED PHASES"/>
          <p:cNvSpPr txBox="1"/>
          <p:nvPr/>
        </p:nvSpPr>
        <p:spPr>
          <a:xfrm>
            <a:off x="658368" y="320040"/>
            <a:ext cx="9144000" cy="228600"/>
          </a:xfrm>
          <a:prstGeom prst="rect">
            <a:avLst/>
          </a:prstGeom>
          <a:noFill/>
        </p:spPr>
        <p:txBody>
          <a:bodyPr wrap="none" lIns="0" rIns="0" tIns="0" bIns="0" anchor="t">
            <a:spAutoFit/>
          </a:bodyPr>
          <a:lstStyle/>
          <a:p>
            <a:pPr algn="l">
              <a:lnSpc>
                <a:spcPts val="1297"/>
              </a:lnSpc>
              <a:spcBef>
                <a:spcPts val="0"/>
              </a:spcBef>
              <a:spcAft>
                <a:spcPts val="0"/>
              </a:spcAft>
              <a:defRPr sz="1100" b="1">
                <a:solidFill>
                  <a:srgbClr val="B30D2C"/>
                </a:solidFill>
                <a:latin typeface="Noto Sans"/>
              </a:defRPr>
            </a:pPr>
            <a:r>
              <a:t>PROJECT PLAN • COMPLETED PHASES</a:t>
            </a:r>
          </a:p>
        </p:txBody>
      </p:sp>
      <p:sp>
        <p:nvSpPr>
          <p:cNvPr id="5" name="TEXT Project Plan with Timeline"/>
          <p:cNvSpPr txBox="1"/>
          <p:nvPr/>
        </p:nvSpPr>
        <p:spPr>
          <a:xfrm>
            <a:off x="484632" y="749808"/>
            <a:ext cx="10881360" cy="502920"/>
          </a:xfrm>
          <a:prstGeom prst="rect">
            <a:avLst/>
          </a:prstGeom>
          <a:noFill/>
        </p:spPr>
        <p:txBody>
          <a:bodyPr wrap="none" lIns="0" rIns="0" tIns="0" bIns="0" anchor="t">
            <a:spAutoFit/>
          </a:bodyPr>
          <a:lstStyle/>
          <a:p>
            <a:pPr algn="l">
              <a:lnSpc>
                <a:spcPts val="3422"/>
              </a:lnSpc>
              <a:spcBef>
                <a:spcPts val="0"/>
              </a:spcBef>
              <a:spcAft>
                <a:spcPts val="0"/>
              </a:spcAft>
              <a:defRPr sz="2900" b="1">
                <a:solidFill>
                  <a:srgbClr val="152C40"/>
                </a:solidFill>
                <a:latin typeface="Noto Sans"/>
              </a:defRPr>
            </a:pPr>
            <a:r>
              <a:t>Project Plan with Timeline</a:t>
            </a:r>
          </a:p>
        </p:txBody>
      </p:sp>
      <p:sp>
        <p:nvSpPr>
          <p:cNvPr id="6" name="TEXT Phase sequence is documented; unverified"/>
          <p:cNvSpPr txBox="1"/>
          <p:nvPr/>
        </p:nvSpPr>
        <p:spPr>
          <a:xfrm>
            <a:off x="502920" y="1298448"/>
            <a:ext cx="11064240" cy="411480"/>
          </a:xfrm>
          <a:prstGeom prst="rect">
            <a:avLst/>
          </a:prstGeom>
          <a:noFill/>
        </p:spPr>
        <p:txBody>
          <a:bodyPr wrap="none" lIns="0" rIns="0" tIns="0" bIns="0" anchor="t">
            <a:spAutoFit/>
          </a:bodyPr>
          <a:lstStyle/>
          <a:p>
            <a:pPr algn="l">
              <a:lnSpc>
                <a:spcPts val="1770"/>
              </a:lnSpc>
              <a:spcBef>
                <a:spcPts val="0"/>
              </a:spcBef>
              <a:spcAft>
                <a:spcPts val="0"/>
              </a:spcAft>
              <a:defRPr sz="1500" b="0">
                <a:solidFill>
                  <a:srgbClr val="526675"/>
                </a:solidFill>
                <a:latin typeface="Noto Sans"/>
              </a:defRPr>
            </a:pPr>
            <a:r>
              <a:t>Phase sequence is documented; unverified month-by-month dates are not invented.</a:t>
            </a:r>
          </a:p>
        </p:txBody>
      </p:sp>
      <p:pic>
        <p:nvPicPr>
          <p:cNvPr id="7" name="Picture 6" descr="image3.png"/>
          <p:cNvPicPr>
            <a:picLocks noChangeAspect="1"/>
          </p:cNvPicPr>
          <p:nvPr/>
        </p:nvPicPr>
        <p:blipFill>
          <a:blip r:embed="rId2"/>
          <a:stretch>
            <a:fillRect/>
          </a:stretch>
        </p:blipFill>
        <p:spPr>
          <a:xfrm>
            <a:off x="10195560" y="320040"/>
            <a:ext cx="1508760" cy="286077"/>
          </a:xfrm>
          <a:prstGeom prst="rect">
            <a:avLst/>
          </a:prstGeom>
        </p:spPr>
      </p:pic>
      <p:cxnSp>
        <p:nvCxnSpPr>
          <p:cNvPr id="8" name="Connector 7"/>
          <p:cNvCxnSpPr/>
          <p:nvPr/>
        </p:nvCxnSpPr>
        <p:spPr>
          <a:xfrm>
            <a:off x="502920" y="6419088"/>
            <a:ext cx="11183112" cy="0"/>
          </a:xfrm>
          <a:prstGeom prst="line">
            <a:avLst/>
          </a:prstGeom>
          <a:ln w="12700">
            <a:solidFill>
              <a:srgbClr val="D9E2E7"/>
            </a:solidFill>
          </a:ln>
        </p:spPr>
        <p:style>
          <a:lnRef idx="2">
            <a:schemeClr val="accent1"/>
          </a:lnRef>
          <a:fillRef idx="0">
            <a:schemeClr val="accent1"/>
          </a:fillRef>
          <a:effectRef idx="1">
            <a:schemeClr val="accent1"/>
          </a:effectRef>
          <a:fontRef idx="minor">
            <a:schemeClr val="tx1"/>
          </a:fontRef>
        </p:style>
      </p:cxnSp>
      <p:sp>
        <p:nvSpPr>
          <p:cNvPr id="9" name="TEXT SIT Pune  |  AI &amp; ML  |  Group 12  |  Pr"/>
          <p:cNvSpPr txBox="1"/>
          <p:nvPr/>
        </p:nvSpPr>
        <p:spPr>
          <a:xfrm>
            <a:off x="502920" y="6519672"/>
            <a:ext cx="9509760" cy="173736"/>
          </a:xfrm>
          <a:prstGeom prst="rect">
            <a:avLst/>
          </a:prstGeom>
          <a:noFill/>
        </p:spPr>
        <p:txBody>
          <a:bodyPr wrap="none" lIns="0" rIns="0" tIns="0" bIns="0" anchor="t">
            <a:spAutoFit/>
          </a:bodyPr>
          <a:lstStyle/>
          <a:p>
            <a:pPr algn="l">
              <a:lnSpc>
                <a:spcPts val="1062"/>
              </a:lnSpc>
              <a:spcBef>
                <a:spcPts val="0"/>
              </a:spcBef>
              <a:spcAft>
                <a:spcPts val="0"/>
              </a:spcAft>
              <a:defRPr sz="900" b="0">
                <a:solidFill>
                  <a:srgbClr val="526675"/>
                </a:solidFill>
                <a:latin typeface="Noto Sans"/>
              </a:defRPr>
            </a:pPr>
            <a:r>
              <a:t>SIT Pune | AI &amp; ML | Group 12 | Prepared 20 October 2026</a:t>
            </a:r>
          </a:p>
        </p:txBody>
      </p:sp>
      <p:sp>
        <p:nvSpPr>
          <p:cNvPr id="10" name="TEXT 05 / 18"/>
          <p:cNvSpPr txBox="1"/>
          <p:nvPr/>
        </p:nvSpPr>
        <p:spPr>
          <a:xfrm>
            <a:off x="10789920" y="6510528"/>
            <a:ext cx="914400" cy="201168"/>
          </a:xfrm>
          <a:prstGeom prst="rect">
            <a:avLst/>
          </a:prstGeom>
          <a:noFill/>
        </p:spPr>
        <p:txBody>
          <a:bodyPr wrap="none" lIns="0" rIns="0" tIns="0" bIns="0" anchor="t">
            <a:spAutoFit/>
          </a:bodyPr>
          <a:lstStyle/>
          <a:p>
            <a:pPr algn="r">
              <a:lnSpc>
                <a:spcPts val="1180"/>
              </a:lnSpc>
              <a:spcBef>
                <a:spcPts val="0"/>
              </a:spcBef>
              <a:spcAft>
                <a:spcPts val="0"/>
              </a:spcAft>
              <a:defRPr sz="1000" b="0">
                <a:solidFill>
                  <a:srgbClr val="526675"/>
                </a:solidFill>
                <a:latin typeface="Noto Sans"/>
              </a:defRPr>
            </a:pPr>
            <a:r>
              <a:t>05 / 18</a:t>
            </a:r>
          </a:p>
        </p:txBody>
      </p:sp>
      <p:sp>
        <p:nvSpPr>
          <p:cNvPr id="11" name="Rounded Rectangle 10"/>
          <p:cNvSpPr/>
          <p:nvPr/>
        </p:nvSpPr>
        <p:spPr>
          <a:xfrm>
            <a:off x="594360" y="1965960"/>
            <a:ext cx="3611880" cy="1234440"/>
          </a:xfrm>
          <a:prstGeom prst="roundRect">
            <a:avLst>
              <a:gd name="adj" fmla="val 6000"/>
            </a:avLst>
          </a:prstGeom>
          <a:solidFill>
            <a:srgbClr val="F0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1"/>
          <p:cNvSpPr txBox="1"/>
          <p:nvPr/>
        </p:nvSpPr>
        <p:spPr>
          <a:xfrm>
            <a:off x="777240" y="2148840"/>
            <a:ext cx="457200" cy="457200"/>
          </a:xfrm>
          <a:prstGeom prst="rect">
            <a:avLst/>
          </a:prstGeom>
          <a:noFill/>
        </p:spPr>
        <p:txBody>
          <a:bodyPr wrap="none" lIns="0" rIns="0" tIns="0" bIns="0" anchor="t">
            <a:spAutoFit/>
          </a:bodyPr>
          <a:lstStyle/>
          <a:p>
            <a:pPr algn="l">
              <a:lnSpc>
                <a:spcPts val="3540"/>
              </a:lnSpc>
              <a:spcBef>
                <a:spcPts val="0"/>
              </a:spcBef>
              <a:spcAft>
                <a:spcPts val="0"/>
              </a:spcAft>
              <a:defRPr sz="3000" b="1">
                <a:solidFill>
                  <a:srgbClr val="B30D2C"/>
                </a:solidFill>
                <a:latin typeface="Noto Sans"/>
              </a:defRPr>
            </a:pPr>
            <a:r>
              <a:t>1</a:t>
            </a:r>
          </a:p>
        </p:txBody>
      </p:sp>
      <p:sp>
        <p:nvSpPr>
          <p:cNvPr id="13" name="TEXT Scope + literature"/>
          <p:cNvSpPr txBox="1"/>
          <p:nvPr/>
        </p:nvSpPr>
        <p:spPr>
          <a:xfrm>
            <a:off x="1371600" y="2194560"/>
            <a:ext cx="2606040" cy="822960"/>
          </a:xfrm>
          <a:prstGeom prst="rect">
            <a:avLst/>
          </a:prstGeom>
          <a:noFill/>
        </p:spPr>
        <p:txBody>
          <a:bodyPr wrap="none" lIns="0" rIns="0" tIns="0" bIns="0" anchor="t">
            <a:spAutoFit/>
          </a:bodyPr>
          <a:lstStyle/>
          <a:p>
            <a:pPr algn="l">
              <a:lnSpc>
                <a:spcPts val="2595"/>
              </a:lnSpc>
              <a:spcBef>
                <a:spcPts val="0"/>
              </a:spcBef>
              <a:spcAft>
                <a:spcPts val="0"/>
              </a:spcAft>
              <a:defRPr sz="2200" b="1">
                <a:solidFill>
                  <a:srgbClr val="152C40"/>
                </a:solidFill>
                <a:latin typeface="Noto Sans"/>
              </a:defRPr>
            </a:pPr>
            <a:r>
              <a:t>Scope + literature</a:t>
            </a:r>
          </a:p>
        </p:txBody>
      </p:sp>
      <p:sp>
        <p:nvSpPr>
          <p:cNvPr id="14" name="Rounded Rectangle 13"/>
          <p:cNvSpPr/>
          <p:nvPr/>
        </p:nvSpPr>
        <p:spPr>
          <a:xfrm>
            <a:off x="4434840" y="1965960"/>
            <a:ext cx="3611880" cy="1234440"/>
          </a:xfrm>
          <a:prstGeom prst="roundRect">
            <a:avLst>
              <a:gd name="adj" fmla="val 6000"/>
            </a:avLst>
          </a:prstGeom>
          <a:solidFill>
            <a:srgbClr val="F0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 2"/>
          <p:cNvSpPr txBox="1"/>
          <p:nvPr/>
        </p:nvSpPr>
        <p:spPr>
          <a:xfrm>
            <a:off x="4617720" y="2148840"/>
            <a:ext cx="457200" cy="457200"/>
          </a:xfrm>
          <a:prstGeom prst="rect">
            <a:avLst/>
          </a:prstGeom>
          <a:noFill/>
        </p:spPr>
        <p:txBody>
          <a:bodyPr wrap="none" lIns="0" rIns="0" tIns="0" bIns="0" anchor="t">
            <a:spAutoFit/>
          </a:bodyPr>
          <a:lstStyle/>
          <a:p>
            <a:pPr algn="l">
              <a:lnSpc>
                <a:spcPts val="3540"/>
              </a:lnSpc>
              <a:spcBef>
                <a:spcPts val="0"/>
              </a:spcBef>
              <a:spcAft>
                <a:spcPts val="0"/>
              </a:spcAft>
              <a:defRPr sz="3000" b="1">
                <a:solidFill>
                  <a:srgbClr val="B30D2C"/>
                </a:solidFill>
                <a:latin typeface="Noto Sans"/>
              </a:defRPr>
            </a:pPr>
            <a:r>
              <a:t>2</a:t>
            </a:r>
          </a:p>
        </p:txBody>
      </p:sp>
      <p:sp>
        <p:nvSpPr>
          <p:cNvPr id="16" name="TEXT Prepare grouped data"/>
          <p:cNvSpPr txBox="1"/>
          <p:nvPr/>
        </p:nvSpPr>
        <p:spPr>
          <a:xfrm>
            <a:off x="5212080" y="2194560"/>
            <a:ext cx="2606040" cy="822960"/>
          </a:xfrm>
          <a:prstGeom prst="rect">
            <a:avLst/>
          </a:prstGeom>
          <a:noFill/>
        </p:spPr>
        <p:txBody>
          <a:bodyPr wrap="none" lIns="0" rIns="0" tIns="0" bIns="0" anchor="t">
            <a:spAutoFit/>
          </a:bodyPr>
          <a:lstStyle/>
          <a:p>
            <a:pPr algn="l">
              <a:lnSpc>
                <a:spcPts val="2595"/>
              </a:lnSpc>
              <a:spcBef>
                <a:spcPts val="0"/>
              </a:spcBef>
              <a:spcAft>
                <a:spcPts val="0"/>
              </a:spcAft>
              <a:defRPr sz="2200" b="1">
                <a:solidFill>
                  <a:srgbClr val="152C40"/>
                </a:solidFill>
                <a:latin typeface="Noto Sans"/>
              </a:defRPr>
            </a:pPr>
            <a:r>
              <a:t>Prepare grouped</a:t>
            </a:r>
          </a:p>
          <a:p>
            <a:pPr algn="l">
              <a:lnSpc>
                <a:spcPts val="2595"/>
              </a:lnSpc>
              <a:spcBef>
                <a:spcPts val="0"/>
              </a:spcBef>
              <a:spcAft>
                <a:spcPts val="0"/>
              </a:spcAft>
              <a:defRPr sz="2200" b="1">
                <a:solidFill>
                  <a:srgbClr val="152C40"/>
                </a:solidFill>
                <a:latin typeface="Noto Sans"/>
              </a:defRPr>
            </a:pPr>
            <a:r>
              <a:t>data</a:t>
            </a:r>
          </a:p>
        </p:txBody>
      </p:sp>
      <p:sp>
        <p:nvSpPr>
          <p:cNvPr id="17" name="Rounded Rectangle 16"/>
          <p:cNvSpPr/>
          <p:nvPr/>
        </p:nvSpPr>
        <p:spPr>
          <a:xfrm>
            <a:off x="8275320" y="1965960"/>
            <a:ext cx="3611880" cy="1234440"/>
          </a:xfrm>
          <a:prstGeom prst="roundRect">
            <a:avLst>
              <a:gd name="adj" fmla="val 6000"/>
            </a:avLst>
          </a:prstGeom>
          <a:solidFill>
            <a:srgbClr val="F0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 3"/>
          <p:cNvSpPr txBox="1"/>
          <p:nvPr/>
        </p:nvSpPr>
        <p:spPr>
          <a:xfrm>
            <a:off x="8458200" y="2148840"/>
            <a:ext cx="457200" cy="457200"/>
          </a:xfrm>
          <a:prstGeom prst="rect">
            <a:avLst/>
          </a:prstGeom>
          <a:noFill/>
        </p:spPr>
        <p:txBody>
          <a:bodyPr wrap="none" lIns="0" rIns="0" tIns="0" bIns="0" anchor="t">
            <a:spAutoFit/>
          </a:bodyPr>
          <a:lstStyle/>
          <a:p>
            <a:pPr algn="l">
              <a:lnSpc>
                <a:spcPts val="3540"/>
              </a:lnSpc>
              <a:spcBef>
                <a:spcPts val="0"/>
              </a:spcBef>
              <a:spcAft>
                <a:spcPts val="0"/>
              </a:spcAft>
              <a:defRPr sz="3000" b="1">
                <a:solidFill>
                  <a:srgbClr val="B30D2C"/>
                </a:solidFill>
                <a:latin typeface="Noto Sans"/>
              </a:defRPr>
            </a:pPr>
            <a:r>
              <a:t>3</a:t>
            </a:r>
          </a:p>
        </p:txBody>
      </p:sp>
      <p:sp>
        <p:nvSpPr>
          <p:cNvPr id="19" name="TEXT Train + compare"/>
          <p:cNvSpPr txBox="1"/>
          <p:nvPr/>
        </p:nvSpPr>
        <p:spPr>
          <a:xfrm>
            <a:off x="9052560" y="2194560"/>
            <a:ext cx="2606040" cy="822960"/>
          </a:xfrm>
          <a:prstGeom prst="rect">
            <a:avLst/>
          </a:prstGeom>
          <a:noFill/>
        </p:spPr>
        <p:txBody>
          <a:bodyPr wrap="none" lIns="0" rIns="0" tIns="0" bIns="0" anchor="t">
            <a:spAutoFit/>
          </a:bodyPr>
          <a:lstStyle/>
          <a:p>
            <a:pPr algn="l">
              <a:lnSpc>
                <a:spcPts val="2595"/>
              </a:lnSpc>
              <a:spcBef>
                <a:spcPts val="0"/>
              </a:spcBef>
              <a:spcAft>
                <a:spcPts val="0"/>
              </a:spcAft>
              <a:defRPr sz="2200" b="1">
                <a:solidFill>
                  <a:srgbClr val="152C40"/>
                </a:solidFill>
                <a:latin typeface="Noto Sans"/>
              </a:defRPr>
            </a:pPr>
            <a:r>
              <a:t>Train + compare</a:t>
            </a:r>
          </a:p>
        </p:txBody>
      </p:sp>
      <p:sp>
        <p:nvSpPr>
          <p:cNvPr id="20" name="Rounded Rectangle 19"/>
          <p:cNvSpPr/>
          <p:nvPr/>
        </p:nvSpPr>
        <p:spPr>
          <a:xfrm>
            <a:off x="594360" y="3611880"/>
            <a:ext cx="3611880" cy="1234440"/>
          </a:xfrm>
          <a:prstGeom prst="roundRect">
            <a:avLst>
              <a:gd name="adj" fmla="val 6000"/>
            </a:avLst>
          </a:prstGeom>
          <a:solidFill>
            <a:srgbClr val="F0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 4"/>
          <p:cNvSpPr txBox="1"/>
          <p:nvPr/>
        </p:nvSpPr>
        <p:spPr>
          <a:xfrm>
            <a:off x="777240" y="3794760"/>
            <a:ext cx="457200" cy="457200"/>
          </a:xfrm>
          <a:prstGeom prst="rect">
            <a:avLst/>
          </a:prstGeom>
          <a:noFill/>
        </p:spPr>
        <p:txBody>
          <a:bodyPr wrap="none" lIns="0" rIns="0" tIns="0" bIns="0" anchor="t">
            <a:spAutoFit/>
          </a:bodyPr>
          <a:lstStyle/>
          <a:p>
            <a:pPr algn="l">
              <a:lnSpc>
                <a:spcPts val="3540"/>
              </a:lnSpc>
              <a:spcBef>
                <a:spcPts val="0"/>
              </a:spcBef>
              <a:spcAft>
                <a:spcPts val="0"/>
              </a:spcAft>
              <a:defRPr sz="3000" b="1">
                <a:solidFill>
                  <a:srgbClr val="B30D2C"/>
                </a:solidFill>
                <a:latin typeface="Noto Sans"/>
              </a:defRPr>
            </a:pPr>
            <a:r>
              <a:t>4</a:t>
            </a:r>
          </a:p>
        </p:txBody>
      </p:sp>
      <p:sp>
        <p:nvSpPr>
          <p:cNvPr id="22" name="TEXT Select combination"/>
          <p:cNvSpPr txBox="1"/>
          <p:nvPr/>
        </p:nvSpPr>
        <p:spPr>
          <a:xfrm>
            <a:off x="1371600" y="3840480"/>
            <a:ext cx="2606040" cy="822960"/>
          </a:xfrm>
          <a:prstGeom prst="rect">
            <a:avLst/>
          </a:prstGeom>
          <a:noFill/>
        </p:spPr>
        <p:txBody>
          <a:bodyPr wrap="none" lIns="0" rIns="0" tIns="0" bIns="0" anchor="t">
            <a:spAutoFit/>
          </a:bodyPr>
          <a:lstStyle/>
          <a:p>
            <a:pPr algn="l">
              <a:lnSpc>
                <a:spcPts val="2595"/>
              </a:lnSpc>
              <a:spcBef>
                <a:spcPts val="0"/>
              </a:spcBef>
              <a:spcAft>
                <a:spcPts val="0"/>
              </a:spcAft>
              <a:defRPr sz="2200" b="1">
                <a:solidFill>
                  <a:srgbClr val="152C40"/>
                </a:solidFill>
                <a:latin typeface="Noto Sans"/>
              </a:defRPr>
            </a:pPr>
            <a:r>
              <a:t>Select</a:t>
            </a:r>
          </a:p>
          <a:p>
            <a:pPr algn="l">
              <a:lnSpc>
                <a:spcPts val="2595"/>
              </a:lnSpc>
              <a:spcBef>
                <a:spcPts val="0"/>
              </a:spcBef>
              <a:spcAft>
                <a:spcPts val="0"/>
              </a:spcAft>
              <a:defRPr sz="2200" b="1">
                <a:solidFill>
                  <a:srgbClr val="152C40"/>
                </a:solidFill>
                <a:latin typeface="Noto Sans"/>
              </a:defRPr>
            </a:pPr>
            <a:r>
              <a:t>combination</a:t>
            </a:r>
          </a:p>
        </p:txBody>
      </p:sp>
      <p:sp>
        <p:nvSpPr>
          <p:cNvPr id="23" name="Rounded Rectangle 22"/>
          <p:cNvSpPr/>
          <p:nvPr/>
        </p:nvSpPr>
        <p:spPr>
          <a:xfrm>
            <a:off x="4434840" y="3611880"/>
            <a:ext cx="3611880" cy="1234440"/>
          </a:xfrm>
          <a:prstGeom prst="roundRect">
            <a:avLst>
              <a:gd name="adj" fmla="val 6000"/>
            </a:avLst>
          </a:prstGeom>
          <a:solidFill>
            <a:srgbClr val="F0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 5"/>
          <p:cNvSpPr txBox="1"/>
          <p:nvPr/>
        </p:nvSpPr>
        <p:spPr>
          <a:xfrm>
            <a:off x="4617720" y="3794760"/>
            <a:ext cx="457200" cy="457200"/>
          </a:xfrm>
          <a:prstGeom prst="rect">
            <a:avLst/>
          </a:prstGeom>
          <a:noFill/>
        </p:spPr>
        <p:txBody>
          <a:bodyPr wrap="none" lIns="0" rIns="0" tIns="0" bIns="0" anchor="t">
            <a:spAutoFit/>
          </a:bodyPr>
          <a:lstStyle/>
          <a:p>
            <a:pPr algn="l">
              <a:lnSpc>
                <a:spcPts val="3540"/>
              </a:lnSpc>
              <a:spcBef>
                <a:spcPts val="0"/>
              </a:spcBef>
              <a:spcAft>
                <a:spcPts val="0"/>
              </a:spcAft>
              <a:defRPr sz="3000" b="1">
                <a:solidFill>
                  <a:srgbClr val="B30D2C"/>
                </a:solidFill>
                <a:latin typeface="Noto Sans"/>
              </a:defRPr>
            </a:pPr>
            <a:r>
              <a:t>5</a:t>
            </a:r>
          </a:p>
        </p:txBody>
      </p:sp>
      <p:sp>
        <p:nvSpPr>
          <p:cNvPr id="25" name="TEXT Integrate review"/>
          <p:cNvSpPr txBox="1"/>
          <p:nvPr/>
        </p:nvSpPr>
        <p:spPr>
          <a:xfrm>
            <a:off x="5212080" y="3840480"/>
            <a:ext cx="2606040" cy="822960"/>
          </a:xfrm>
          <a:prstGeom prst="rect">
            <a:avLst/>
          </a:prstGeom>
          <a:noFill/>
        </p:spPr>
        <p:txBody>
          <a:bodyPr wrap="none" lIns="0" rIns="0" tIns="0" bIns="0" anchor="t">
            <a:spAutoFit/>
          </a:bodyPr>
          <a:lstStyle/>
          <a:p>
            <a:pPr algn="l">
              <a:lnSpc>
                <a:spcPts val="2595"/>
              </a:lnSpc>
              <a:spcBef>
                <a:spcPts val="0"/>
              </a:spcBef>
              <a:spcAft>
                <a:spcPts val="0"/>
              </a:spcAft>
              <a:defRPr sz="2200" b="1">
                <a:solidFill>
                  <a:srgbClr val="152C40"/>
                </a:solidFill>
                <a:latin typeface="Noto Sans"/>
              </a:defRPr>
            </a:pPr>
            <a:r>
              <a:t>Integrate review</a:t>
            </a:r>
          </a:p>
        </p:txBody>
      </p:sp>
      <p:sp>
        <p:nvSpPr>
          <p:cNvPr id="26" name="Rounded Rectangle 25"/>
          <p:cNvSpPr/>
          <p:nvPr/>
        </p:nvSpPr>
        <p:spPr>
          <a:xfrm>
            <a:off x="8275320" y="3611880"/>
            <a:ext cx="3611880" cy="1234440"/>
          </a:xfrm>
          <a:prstGeom prst="roundRect">
            <a:avLst>
              <a:gd name="adj" fmla="val 6000"/>
            </a:avLst>
          </a:prstGeom>
          <a:solidFill>
            <a:srgbClr val="F0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 6"/>
          <p:cNvSpPr txBox="1"/>
          <p:nvPr/>
        </p:nvSpPr>
        <p:spPr>
          <a:xfrm>
            <a:off x="8458200" y="3794760"/>
            <a:ext cx="457200" cy="457200"/>
          </a:xfrm>
          <a:prstGeom prst="rect">
            <a:avLst/>
          </a:prstGeom>
          <a:noFill/>
        </p:spPr>
        <p:txBody>
          <a:bodyPr wrap="none" lIns="0" rIns="0" tIns="0" bIns="0" anchor="t">
            <a:spAutoFit/>
          </a:bodyPr>
          <a:lstStyle/>
          <a:p>
            <a:pPr algn="l">
              <a:lnSpc>
                <a:spcPts val="3540"/>
              </a:lnSpc>
              <a:spcBef>
                <a:spcPts val="0"/>
              </a:spcBef>
              <a:spcAft>
                <a:spcPts val="0"/>
              </a:spcAft>
              <a:defRPr sz="3000" b="1">
                <a:solidFill>
                  <a:srgbClr val="B30D2C"/>
                </a:solidFill>
                <a:latin typeface="Noto Sans"/>
              </a:defRPr>
            </a:pPr>
            <a:r>
              <a:t>6</a:t>
            </a:r>
          </a:p>
        </p:txBody>
      </p:sp>
      <p:sp>
        <p:nvSpPr>
          <p:cNvPr id="28" name="TEXT Evaluate + report"/>
          <p:cNvSpPr txBox="1"/>
          <p:nvPr/>
        </p:nvSpPr>
        <p:spPr>
          <a:xfrm>
            <a:off x="9052560" y="3840480"/>
            <a:ext cx="2606040" cy="822960"/>
          </a:xfrm>
          <a:prstGeom prst="rect">
            <a:avLst/>
          </a:prstGeom>
          <a:noFill/>
        </p:spPr>
        <p:txBody>
          <a:bodyPr wrap="none" lIns="0" rIns="0" tIns="0" bIns="0" anchor="t">
            <a:spAutoFit/>
          </a:bodyPr>
          <a:lstStyle/>
          <a:p>
            <a:pPr algn="l">
              <a:lnSpc>
                <a:spcPts val="2595"/>
              </a:lnSpc>
              <a:spcBef>
                <a:spcPts val="0"/>
              </a:spcBef>
              <a:spcAft>
                <a:spcPts val="0"/>
              </a:spcAft>
              <a:defRPr sz="2200" b="1">
                <a:solidFill>
                  <a:srgbClr val="152C40"/>
                </a:solidFill>
                <a:latin typeface="Noto Sans"/>
              </a:defRPr>
            </a:pPr>
            <a:r>
              <a:t>Evaluate + report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84048"/>
            <a:ext cx="59436" cy="329184"/>
          </a:xfrm>
          <a:prstGeom prst="rect">
            <a:avLst/>
          </a:prstGeom>
          <a:solidFill>
            <a:srgbClr val="B30D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 LITERATURE &amp; CONTRIBUTION"/>
          <p:cNvSpPr txBox="1"/>
          <p:nvPr/>
        </p:nvSpPr>
        <p:spPr>
          <a:xfrm>
            <a:off x="658368" y="320040"/>
            <a:ext cx="9144000" cy="228600"/>
          </a:xfrm>
          <a:prstGeom prst="rect">
            <a:avLst/>
          </a:prstGeom>
          <a:noFill/>
        </p:spPr>
        <p:txBody>
          <a:bodyPr wrap="none" lIns="0" rIns="0" tIns="0" bIns="0" anchor="t">
            <a:spAutoFit/>
          </a:bodyPr>
          <a:lstStyle/>
          <a:p>
            <a:pPr algn="l">
              <a:lnSpc>
                <a:spcPts val="1297"/>
              </a:lnSpc>
              <a:spcBef>
                <a:spcPts val="0"/>
              </a:spcBef>
              <a:spcAft>
                <a:spcPts val="0"/>
              </a:spcAft>
              <a:defRPr sz="1100" b="1">
                <a:solidFill>
                  <a:srgbClr val="B30D2C"/>
                </a:solidFill>
                <a:latin typeface="Noto Sans"/>
              </a:defRPr>
            </a:pPr>
            <a:r>
              <a:t>LITERATURE &amp; CONTRIBUTION</a:t>
            </a:r>
          </a:p>
        </p:txBody>
      </p:sp>
      <p:sp>
        <p:nvSpPr>
          <p:cNvPr id="5" name="TEXT Literature Review"/>
          <p:cNvSpPr txBox="1"/>
          <p:nvPr/>
        </p:nvSpPr>
        <p:spPr>
          <a:xfrm>
            <a:off x="484632" y="749808"/>
            <a:ext cx="10881360" cy="502920"/>
          </a:xfrm>
          <a:prstGeom prst="rect">
            <a:avLst/>
          </a:prstGeom>
          <a:noFill/>
        </p:spPr>
        <p:txBody>
          <a:bodyPr wrap="none" lIns="0" rIns="0" tIns="0" bIns="0" anchor="t">
            <a:spAutoFit/>
          </a:bodyPr>
          <a:lstStyle/>
          <a:p>
            <a:pPr algn="l">
              <a:lnSpc>
                <a:spcPts val="3422"/>
              </a:lnSpc>
              <a:spcBef>
                <a:spcPts val="0"/>
              </a:spcBef>
              <a:spcAft>
                <a:spcPts val="0"/>
              </a:spcAft>
              <a:defRPr sz="2900" b="1">
                <a:solidFill>
                  <a:srgbClr val="152C40"/>
                </a:solidFill>
                <a:latin typeface="Noto Sans"/>
              </a:defRPr>
            </a:pPr>
            <a:r>
              <a:t>Literature Review</a:t>
            </a:r>
          </a:p>
        </p:txBody>
      </p:sp>
      <p:pic>
        <p:nvPicPr>
          <p:cNvPr id="6" name="Picture 5" descr="image3.png"/>
          <p:cNvPicPr>
            <a:picLocks noChangeAspect="1"/>
          </p:cNvPicPr>
          <p:nvPr/>
        </p:nvPicPr>
        <p:blipFill>
          <a:blip r:embed="rId2"/>
          <a:stretch>
            <a:fillRect/>
          </a:stretch>
        </p:blipFill>
        <p:spPr>
          <a:xfrm>
            <a:off x="10195560" y="320040"/>
            <a:ext cx="1508760" cy="286077"/>
          </a:xfrm>
          <a:prstGeom prst="rect">
            <a:avLst/>
          </a:prstGeom>
        </p:spPr>
      </p:pic>
      <p:cxnSp>
        <p:nvCxnSpPr>
          <p:cNvPr id="7" name="Connector 6"/>
          <p:cNvCxnSpPr/>
          <p:nvPr/>
        </p:nvCxnSpPr>
        <p:spPr>
          <a:xfrm>
            <a:off x="502920" y="6419088"/>
            <a:ext cx="11183112" cy="0"/>
          </a:xfrm>
          <a:prstGeom prst="line">
            <a:avLst/>
          </a:prstGeom>
          <a:ln w="12700">
            <a:solidFill>
              <a:srgbClr val="D9E2E7"/>
            </a:solidFill>
          </a:ln>
        </p:spPr>
        <p:style>
          <a:lnRef idx="2">
            <a:schemeClr val="accent1"/>
          </a:lnRef>
          <a:fillRef idx="0">
            <a:schemeClr val="accent1"/>
          </a:fillRef>
          <a:effectRef idx="1">
            <a:schemeClr val="accent1"/>
          </a:effectRef>
          <a:fontRef idx="minor">
            <a:schemeClr val="tx1"/>
          </a:fontRef>
        </p:style>
      </p:cxnSp>
      <p:sp>
        <p:nvSpPr>
          <p:cNvPr id="8" name="TEXT SIT Pune  |  AI &amp; ML  |  Group 12  |  Pr"/>
          <p:cNvSpPr txBox="1"/>
          <p:nvPr/>
        </p:nvSpPr>
        <p:spPr>
          <a:xfrm>
            <a:off x="502920" y="6519672"/>
            <a:ext cx="9509760" cy="173736"/>
          </a:xfrm>
          <a:prstGeom prst="rect">
            <a:avLst/>
          </a:prstGeom>
          <a:noFill/>
        </p:spPr>
        <p:txBody>
          <a:bodyPr wrap="none" lIns="0" rIns="0" tIns="0" bIns="0" anchor="t">
            <a:spAutoFit/>
          </a:bodyPr>
          <a:lstStyle/>
          <a:p>
            <a:pPr algn="l">
              <a:lnSpc>
                <a:spcPts val="1062"/>
              </a:lnSpc>
              <a:spcBef>
                <a:spcPts val="0"/>
              </a:spcBef>
              <a:spcAft>
                <a:spcPts val="0"/>
              </a:spcAft>
              <a:defRPr sz="900" b="0">
                <a:solidFill>
                  <a:srgbClr val="526675"/>
                </a:solidFill>
                <a:latin typeface="Noto Sans"/>
              </a:defRPr>
            </a:pPr>
            <a:r>
              <a:t>SIT Pune | AI &amp; ML | Group 12 | Prepared 20 October 2026</a:t>
            </a:r>
          </a:p>
        </p:txBody>
      </p:sp>
      <p:sp>
        <p:nvSpPr>
          <p:cNvPr id="9" name="TEXT 06 / 18"/>
          <p:cNvSpPr txBox="1"/>
          <p:nvPr/>
        </p:nvSpPr>
        <p:spPr>
          <a:xfrm>
            <a:off x="10789920" y="6510528"/>
            <a:ext cx="914400" cy="201168"/>
          </a:xfrm>
          <a:prstGeom prst="rect">
            <a:avLst/>
          </a:prstGeom>
          <a:noFill/>
        </p:spPr>
        <p:txBody>
          <a:bodyPr wrap="none" lIns="0" rIns="0" tIns="0" bIns="0" anchor="t">
            <a:spAutoFit/>
          </a:bodyPr>
          <a:lstStyle/>
          <a:p>
            <a:pPr algn="r">
              <a:lnSpc>
                <a:spcPts val="1180"/>
              </a:lnSpc>
              <a:spcBef>
                <a:spcPts val="0"/>
              </a:spcBef>
              <a:spcAft>
                <a:spcPts val="0"/>
              </a:spcAft>
              <a:defRPr sz="1000" b="0">
                <a:solidFill>
                  <a:srgbClr val="526675"/>
                </a:solidFill>
                <a:latin typeface="Noto Sans"/>
              </a:defRPr>
            </a:pPr>
            <a:r>
              <a:t>06 / 18</a:t>
            </a:r>
          </a:p>
        </p:txBody>
      </p:sp>
      <p:sp>
        <p:nvSpPr>
          <p:cNvPr id="10" name="Rectangle 9"/>
          <p:cNvSpPr/>
          <p:nvPr/>
        </p:nvSpPr>
        <p:spPr>
          <a:xfrm>
            <a:off x="594360" y="1938528"/>
            <a:ext cx="2743200" cy="667512"/>
          </a:xfrm>
          <a:prstGeom prst="rect">
            <a:avLst/>
          </a:prstGeom>
          <a:solidFill>
            <a:srgbClr val="152C40"/>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 Research area"/>
          <p:cNvSpPr txBox="1"/>
          <p:nvPr/>
        </p:nvSpPr>
        <p:spPr>
          <a:xfrm>
            <a:off x="685800" y="2007108"/>
            <a:ext cx="2560320" cy="594360"/>
          </a:xfrm>
          <a:prstGeom prst="rect">
            <a:avLst/>
          </a:prstGeom>
          <a:noFill/>
        </p:spPr>
        <p:txBody>
          <a:bodyPr wrap="none" lIns="0" rIns="0" tIns="0" bIns="0" anchor="t">
            <a:spAutoFit/>
          </a:bodyPr>
          <a:lstStyle/>
          <a:p>
            <a:pPr algn="l">
              <a:lnSpc>
                <a:spcPts val="2005"/>
              </a:lnSpc>
              <a:spcBef>
                <a:spcPts val="0"/>
              </a:spcBef>
              <a:spcAft>
                <a:spcPts val="0"/>
              </a:spcAft>
              <a:defRPr sz="1700" b="1">
                <a:solidFill>
                  <a:srgbClr val="FFFFFF"/>
                </a:solidFill>
                <a:latin typeface="Noto Sans"/>
              </a:defRPr>
            </a:pPr>
            <a:r>
              <a:t>Research area</a:t>
            </a:r>
          </a:p>
        </p:txBody>
      </p:sp>
      <p:sp>
        <p:nvSpPr>
          <p:cNvPr id="12" name="Rectangle 11"/>
          <p:cNvSpPr/>
          <p:nvPr/>
        </p:nvSpPr>
        <p:spPr>
          <a:xfrm>
            <a:off x="3337560" y="1938528"/>
            <a:ext cx="3657600" cy="667512"/>
          </a:xfrm>
          <a:prstGeom prst="rect">
            <a:avLst/>
          </a:prstGeom>
          <a:solidFill>
            <a:srgbClr val="152C40"/>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 Established focus"/>
          <p:cNvSpPr txBox="1"/>
          <p:nvPr/>
        </p:nvSpPr>
        <p:spPr>
          <a:xfrm>
            <a:off x="3429000" y="2007108"/>
            <a:ext cx="3474720" cy="594360"/>
          </a:xfrm>
          <a:prstGeom prst="rect">
            <a:avLst/>
          </a:prstGeom>
          <a:noFill/>
        </p:spPr>
        <p:txBody>
          <a:bodyPr wrap="none" lIns="0" rIns="0" tIns="0" bIns="0" anchor="t">
            <a:spAutoFit/>
          </a:bodyPr>
          <a:lstStyle/>
          <a:p>
            <a:pPr algn="l">
              <a:lnSpc>
                <a:spcPts val="2005"/>
              </a:lnSpc>
              <a:spcBef>
                <a:spcPts val="0"/>
              </a:spcBef>
              <a:spcAft>
                <a:spcPts val="0"/>
              </a:spcAft>
              <a:defRPr sz="1700" b="1">
                <a:solidFill>
                  <a:srgbClr val="FFFFFF"/>
                </a:solidFill>
                <a:latin typeface="Noto Sans"/>
              </a:defRPr>
            </a:pPr>
            <a:r>
              <a:t>Established focus</a:t>
            </a:r>
          </a:p>
        </p:txBody>
      </p:sp>
      <p:sp>
        <p:nvSpPr>
          <p:cNvPr id="14" name="Rectangle 13"/>
          <p:cNvSpPr/>
          <p:nvPr/>
        </p:nvSpPr>
        <p:spPr>
          <a:xfrm>
            <a:off x="6995160" y="1938528"/>
            <a:ext cx="4572000" cy="667512"/>
          </a:xfrm>
          <a:prstGeom prst="rect">
            <a:avLst/>
          </a:prstGeom>
          <a:solidFill>
            <a:srgbClr val="152C40"/>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 Our implemented focus"/>
          <p:cNvSpPr txBox="1"/>
          <p:nvPr/>
        </p:nvSpPr>
        <p:spPr>
          <a:xfrm>
            <a:off x="7086600" y="2007108"/>
            <a:ext cx="4389120" cy="594360"/>
          </a:xfrm>
          <a:prstGeom prst="rect">
            <a:avLst/>
          </a:prstGeom>
          <a:noFill/>
        </p:spPr>
        <p:txBody>
          <a:bodyPr wrap="none" lIns="0" rIns="0" tIns="0" bIns="0" anchor="t">
            <a:spAutoFit/>
          </a:bodyPr>
          <a:lstStyle/>
          <a:p>
            <a:pPr algn="l">
              <a:lnSpc>
                <a:spcPts val="2005"/>
              </a:lnSpc>
              <a:spcBef>
                <a:spcPts val="0"/>
              </a:spcBef>
              <a:spcAft>
                <a:spcPts val="0"/>
              </a:spcAft>
              <a:defRPr sz="1700" b="1">
                <a:solidFill>
                  <a:srgbClr val="FFFFFF"/>
                </a:solidFill>
                <a:latin typeface="Noto Sans"/>
              </a:defRPr>
            </a:pPr>
            <a:r>
              <a:t>Our implemented focus</a:t>
            </a:r>
          </a:p>
        </p:txBody>
      </p:sp>
      <p:sp>
        <p:nvSpPr>
          <p:cNvPr id="16" name="Rectangle 15"/>
          <p:cNvSpPr/>
          <p:nvPr/>
        </p:nvSpPr>
        <p:spPr>
          <a:xfrm>
            <a:off x="594360" y="2606040"/>
            <a:ext cx="2743200" cy="667512"/>
          </a:xfrm>
          <a:prstGeom prst="rect">
            <a:avLst/>
          </a:prstGeom>
          <a:solidFill>
            <a:srgbClr val="F0F4F6"/>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 CALO [1]"/>
          <p:cNvSpPr txBox="1"/>
          <p:nvPr/>
        </p:nvSpPr>
        <p:spPr>
          <a:xfrm>
            <a:off x="685800" y="2674620"/>
            <a:ext cx="2560320" cy="594360"/>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52C40"/>
                </a:solidFill>
                <a:latin typeface="Noto Sans"/>
              </a:defRPr>
            </a:pPr>
            <a:r>
              <a:t>CALO [1]</a:t>
            </a:r>
          </a:p>
        </p:txBody>
      </p:sp>
      <p:sp>
        <p:nvSpPr>
          <p:cNvPr id="18" name="Rectangle 17"/>
          <p:cNvSpPr/>
          <p:nvPr/>
        </p:nvSpPr>
        <p:spPr>
          <a:xfrm>
            <a:off x="3337560" y="2606040"/>
            <a:ext cx="3657600" cy="667512"/>
          </a:xfrm>
          <a:prstGeom prst="rect">
            <a:avLst/>
          </a:prstGeom>
          <a:solidFill>
            <a:srgbClr val="F0F4F6"/>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 Integrated meeting assistance"/>
          <p:cNvSpPr txBox="1"/>
          <p:nvPr/>
        </p:nvSpPr>
        <p:spPr>
          <a:xfrm>
            <a:off x="3429000" y="2674620"/>
            <a:ext cx="3474720" cy="594360"/>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52C40"/>
                </a:solidFill>
                <a:latin typeface="Noto Sans"/>
              </a:defRPr>
            </a:pPr>
            <a:r>
              <a:t>Integrated meeting assistance</a:t>
            </a:r>
          </a:p>
        </p:txBody>
      </p:sp>
      <p:sp>
        <p:nvSpPr>
          <p:cNvPr id="20" name="Rectangle 19"/>
          <p:cNvSpPr/>
          <p:nvPr/>
        </p:nvSpPr>
        <p:spPr>
          <a:xfrm>
            <a:off x="6995160" y="2606040"/>
            <a:ext cx="4572000" cy="667512"/>
          </a:xfrm>
          <a:prstGeom prst="rect">
            <a:avLst/>
          </a:prstGeom>
          <a:solidFill>
            <a:srgbClr val="F0F4F6"/>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 Bound the task to local evidence review"/>
          <p:cNvSpPr txBox="1"/>
          <p:nvPr/>
        </p:nvSpPr>
        <p:spPr>
          <a:xfrm>
            <a:off x="7086600" y="2674620"/>
            <a:ext cx="4389120" cy="594360"/>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52C40"/>
                </a:solidFill>
                <a:latin typeface="Noto Sans"/>
              </a:defRPr>
            </a:pPr>
            <a:r>
              <a:t>Bound the task to local evidence review</a:t>
            </a:r>
          </a:p>
        </p:txBody>
      </p:sp>
      <p:sp>
        <p:nvSpPr>
          <p:cNvPr id="22" name="Rectangle 21"/>
          <p:cNvSpPr/>
          <p:nvPr/>
        </p:nvSpPr>
        <p:spPr>
          <a:xfrm>
            <a:off x="594360" y="3273552"/>
            <a:ext cx="2743200" cy="667512"/>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 Whisper / WhisperX [2–3]"/>
          <p:cNvSpPr txBox="1"/>
          <p:nvPr/>
        </p:nvSpPr>
        <p:spPr>
          <a:xfrm>
            <a:off x="685800" y="3342132"/>
            <a:ext cx="2560320" cy="594360"/>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52C40"/>
                </a:solidFill>
                <a:latin typeface="Noto Sans"/>
              </a:defRPr>
            </a:pPr>
            <a:r>
              <a:t>Whisper / WhisperX</a:t>
            </a:r>
          </a:p>
          <a:p>
            <a:pPr algn="l">
              <a:lnSpc>
                <a:spcPts val="2005"/>
              </a:lnSpc>
              <a:spcBef>
                <a:spcPts val="0"/>
              </a:spcBef>
              <a:spcAft>
                <a:spcPts val="0"/>
              </a:spcAft>
              <a:defRPr sz="1700" b="0">
                <a:solidFill>
                  <a:srgbClr val="152C40"/>
                </a:solidFill>
                <a:latin typeface="Noto Sans"/>
              </a:defRPr>
            </a:pPr>
            <a:r>
              <a:t>[2–3]</a:t>
            </a:r>
          </a:p>
        </p:txBody>
      </p:sp>
      <p:sp>
        <p:nvSpPr>
          <p:cNvPr id="24" name="Rectangle 23"/>
          <p:cNvSpPr/>
          <p:nvPr/>
        </p:nvSpPr>
        <p:spPr>
          <a:xfrm>
            <a:off x="3337560" y="3273552"/>
            <a:ext cx="3657600" cy="667512"/>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 Recognition and alignment"/>
          <p:cNvSpPr txBox="1"/>
          <p:nvPr/>
        </p:nvSpPr>
        <p:spPr>
          <a:xfrm>
            <a:off x="3429000" y="3342132"/>
            <a:ext cx="3474720" cy="594360"/>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52C40"/>
                </a:solidFill>
                <a:latin typeface="Noto Sans"/>
              </a:defRPr>
            </a:pPr>
            <a:r>
              <a:t>Recognition and alignment</a:t>
            </a:r>
          </a:p>
        </p:txBody>
      </p:sp>
      <p:sp>
        <p:nvSpPr>
          <p:cNvPr id="26" name="Rectangle 25"/>
          <p:cNvSpPr/>
          <p:nvPr/>
        </p:nvSpPr>
        <p:spPr>
          <a:xfrm>
            <a:off x="6995160" y="3273552"/>
            <a:ext cx="4572000" cy="667512"/>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 Use pretrained speech; no ASR novelty cl"/>
          <p:cNvSpPr txBox="1"/>
          <p:nvPr/>
        </p:nvSpPr>
        <p:spPr>
          <a:xfrm>
            <a:off x="7086600" y="3342132"/>
            <a:ext cx="4389120" cy="594360"/>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52C40"/>
                </a:solidFill>
                <a:latin typeface="Noto Sans"/>
              </a:defRPr>
            </a:pPr>
            <a:r>
              <a:t>Use pretrained speech; no ASR novelty</a:t>
            </a:r>
          </a:p>
          <a:p>
            <a:pPr algn="l">
              <a:lnSpc>
                <a:spcPts val="2005"/>
              </a:lnSpc>
              <a:spcBef>
                <a:spcPts val="0"/>
              </a:spcBef>
              <a:spcAft>
                <a:spcPts val="0"/>
              </a:spcAft>
              <a:defRPr sz="1700" b="0">
                <a:solidFill>
                  <a:srgbClr val="152C40"/>
                </a:solidFill>
                <a:latin typeface="Noto Sans"/>
              </a:defRPr>
            </a:pPr>
            <a:r>
              <a:t>claim</a:t>
            </a:r>
          </a:p>
        </p:txBody>
      </p:sp>
      <p:sp>
        <p:nvSpPr>
          <p:cNvPr id="28" name="Rectangle 27"/>
          <p:cNvSpPr/>
          <p:nvPr/>
        </p:nvSpPr>
        <p:spPr>
          <a:xfrm>
            <a:off x="594360" y="3941064"/>
            <a:ext cx="2743200" cy="667512"/>
          </a:xfrm>
          <a:prstGeom prst="rect">
            <a:avLst/>
          </a:prstGeom>
          <a:solidFill>
            <a:srgbClr val="F0F4F6"/>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 Speakers [4–5, 7–8]"/>
          <p:cNvSpPr txBox="1"/>
          <p:nvPr/>
        </p:nvSpPr>
        <p:spPr>
          <a:xfrm>
            <a:off x="685800" y="4009644"/>
            <a:ext cx="2560320" cy="594360"/>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52C40"/>
                </a:solidFill>
                <a:latin typeface="Noto Sans"/>
              </a:defRPr>
            </a:pPr>
            <a:r>
              <a:t>Speakers [4–5, 7–8]</a:t>
            </a:r>
          </a:p>
        </p:txBody>
      </p:sp>
      <p:sp>
        <p:nvSpPr>
          <p:cNvPr id="30" name="Rectangle 29"/>
          <p:cNvSpPr/>
          <p:nvPr/>
        </p:nvSpPr>
        <p:spPr>
          <a:xfrm>
            <a:off x="3337560" y="3941064"/>
            <a:ext cx="3657600" cy="667512"/>
          </a:xfrm>
          <a:prstGeom prst="rect">
            <a:avLst/>
          </a:prstGeom>
          <a:solidFill>
            <a:srgbClr val="F0F4F6"/>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 Speakers and multilingual evaluation"/>
          <p:cNvSpPr txBox="1"/>
          <p:nvPr/>
        </p:nvSpPr>
        <p:spPr>
          <a:xfrm>
            <a:off x="3429000" y="4009644"/>
            <a:ext cx="3474720" cy="594360"/>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52C40"/>
                </a:solidFill>
                <a:latin typeface="Noto Sans"/>
              </a:defRPr>
            </a:pPr>
            <a:r>
              <a:t>Speakers and multilingual</a:t>
            </a:r>
          </a:p>
          <a:p>
            <a:pPr algn="l">
              <a:lnSpc>
                <a:spcPts val="2005"/>
              </a:lnSpc>
              <a:spcBef>
                <a:spcPts val="0"/>
              </a:spcBef>
              <a:spcAft>
                <a:spcPts val="0"/>
              </a:spcAft>
              <a:defRPr sz="1700" b="0">
                <a:solidFill>
                  <a:srgbClr val="152C40"/>
                </a:solidFill>
                <a:latin typeface="Noto Sans"/>
              </a:defRPr>
            </a:pPr>
            <a:r>
              <a:t>evaluation</a:t>
            </a:r>
          </a:p>
        </p:txBody>
      </p:sp>
      <p:sp>
        <p:nvSpPr>
          <p:cNvPr id="32" name="Rectangle 31"/>
          <p:cNvSpPr/>
          <p:nvPr/>
        </p:nvSpPr>
        <p:spPr>
          <a:xfrm>
            <a:off x="6995160" y="3941064"/>
            <a:ext cx="4572000" cy="667512"/>
          </a:xfrm>
          <a:prstGeom prst="rect">
            <a:avLst/>
          </a:prstGeom>
          <a:solidFill>
            <a:srgbClr val="F0F4F6"/>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 Measure speaker and language limits sepa"/>
          <p:cNvSpPr txBox="1"/>
          <p:nvPr/>
        </p:nvSpPr>
        <p:spPr>
          <a:xfrm>
            <a:off x="7086600" y="4009644"/>
            <a:ext cx="4389120" cy="594360"/>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52C40"/>
                </a:solidFill>
                <a:latin typeface="Noto Sans"/>
              </a:defRPr>
            </a:pPr>
            <a:r>
              <a:t>Measure speaker and language limits</a:t>
            </a:r>
          </a:p>
          <a:p>
            <a:pPr algn="l">
              <a:lnSpc>
                <a:spcPts val="2005"/>
              </a:lnSpc>
              <a:spcBef>
                <a:spcPts val="0"/>
              </a:spcBef>
              <a:spcAft>
                <a:spcPts val="0"/>
              </a:spcAft>
              <a:defRPr sz="1700" b="0">
                <a:solidFill>
                  <a:srgbClr val="152C40"/>
                </a:solidFill>
                <a:latin typeface="Noto Sans"/>
              </a:defRPr>
            </a:pPr>
            <a:r>
              <a:t>separately</a:t>
            </a:r>
          </a:p>
        </p:txBody>
      </p:sp>
      <p:sp>
        <p:nvSpPr>
          <p:cNvPr id="34" name="Rectangle 33"/>
          <p:cNvSpPr/>
          <p:nvPr/>
        </p:nvSpPr>
        <p:spPr>
          <a:xfrm>
            <a:off x="594360" y="4608576"/>
            <a:ext cx="2743200" cy="667512"/>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 Meeting datasets [10–11]"/>
          <p:cNvSpPr txBox="1"/>
          <p:nvPr/>
        </p:nvSpPr>
        <p:spPr>
          <a:xfrm>
            <a:off x="685800" y="4677156"/>
            <a:ext cx="2560320" cy="594360"/>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52C40"/>
                </a:solidFill>
                <a:latin typeface="Noto Sans"/>
              </a:defRPr>
            </a:pPr>
            <a:r>
              <a:t>Meeting datasets</a:t>
            </a:r>
          </a:p>
          <a:p>
            <a:pPr algn="l">
              <a:lnSpc>
                <a:spcPts val="2005"/>
              </a:lnSpc>
              <a:spcBef>
                <a:spcPts val="0"/>
              </a:spcBef>
              <a:spcAft>
                <a:spcPts val="0"/>
              </a:spcAft>
              <a:defRPr sz="1700" b="0">
                <a:solidFill>
                  <a:srgbClr val="152C40"/>
                </a:solidFill>
                <a:latin typeface="Noto Sans"/>
              </a:defRPr>
            </a:pPr>
            <a:r>
              <a:t>[10–11]</a:t>
            </a:r>
          </a:p>
        </p:txBody>
      </p:sp>
      <p:sp>
        <p:nvSpPr>
          <p:cNvPr id="36" name="Rectangle 35"/>
          <p:cNvSpPr/>
          <p:nvPr/>
        </p:nvSpPr>
        <p:spPr>
          <a:xfrm>
            <a:off x="3337560" y="4608576"/>
            <a:ext cx="3657600" cy="667512"/>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 Summaries and supporting evidence"/>
          <p:cNvSpPr txBox="1"/>
          <p:nvPr/>
        </p:nvSpPr>
        <p:spPr>
          <a:xfrm>
            <a:off x="3429000" y="4677156"/>
            <a:ext cx="3474720" cy="594360"/>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52C40"/>
                </a:solidFill>
                <a:latin typeface="Noto Sans"/>
              </a:defRPr>
            </a:pPr>
            <a:r>
              <a:t>Summaries and supporting</a:t>
            </a:r>
          </a:p>
          <a:p>
            <a:pPr algn="l">
              <a:lnSpc>
                <a:spcPts val="2005"/>
              </a:lnSpc>
              <a:spcBef>
                <a:spcPts val="0"/>
              </a:spcBef>
              <a:spcAft>
                <a:spcPts val="0"/>
              </a:spcAft>
              <a:defRPr sz="1700" b="0">
                <a:solidFill>
                  <a:srgbClr val="152C40"/>
                </a:solidFill>
                <a:latin typeface="Noto Sans"/>
              </a:defRPr>
            </a:pPr>
            <a:r>
              <a:t>evidence</a:t>
            </a:r>
          </a:p>
        </p:txBody>
      </p:sp>
      <p:sp>
        <p:nvSpPr>
          <p:cNvPr id="38" name="Rectangle 37"/>
          <p:cNvSpPr/>
          <p:nvPr/>
        </p:nvSpPr>
        <p:spPr>
          <a:xfrm>
            <a:off x="6995160" y="4608576"/>
            <a:ext cx="4572000" cy="667512"/>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 Provide extractive, source-linked sugges"/>
          <p:cNvSpPr txBox="1"/>
          <p:nvPr/>
        </p:nvSpPr>
        <p:spPr>
          <a:xfrm>
            <a:off x="7086600" y="4677156"/>
            <a:ext cx="4389120" cy="594360"/>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52C40"/>
                </a:solidFill>
                <a:latin typeface="Noto Sans"/>
              </a:defRPr>
            </a:pPr>
            <a:r>
              <a:t>Provide extractive, source-linked</a:t>
            </a:r>
          </a:p>
          <a:p>
            <a:pPr algn="l">
              <a:lnSpc>
                <a:spcPts val="2005"/>
              </a:lnSpc>
              <a:spcBef>
                <a:spcPts val="0"/>
              </a:spcBef>
              <a:spcAft>
                <a:spcPts val="0"/>
              </a:spcAft>
              <a:defRPr sz="1700" b="0">
                <a:solidFill>
                  <a:srgbClr val="152C40"/>
                </a:solidFill>
                <a:latin typeface="Noto Sans"/>
              </a:defRPr>
            </a:pPr>
            <a:r>
              <a:t>suggestions</a:t>
            </a:r>
          </a:p>
        </p:txBody>
      </p:sp>
      <p:sp>
        <p:nvSpPr>
          <p:cNvPr id="40" name="TEXT Integrated local review + a matched disc"/>
          <p:cNvSpPr txBox="1"/>
          <p:nvPr/>
        </p:nvSpPr>
        <p:spPr>
          <a:xfrm>
            <a:off x="731520" y="5513832"/>
            <a:ext cx="10698480" cy="457200"/>
          </a:xfrm>
          <a:prstGeom prst="rect">
            <a:avLst/>
          </a:prstGeom>
          <a:noFill/>
        </p:spPr>
        <p:txBody>
          <a:bodyPr wrap="none" lIns="0" rIns="0" tIns="0" bIns="0" anchor="t">
            <a:spAutoFit/>
          </a:bodyPr>
          <a:lstStyle/>
          <a:p>
            <a:pPr algn="l">
              <a:lnSpc>
                <a:spcPts val="2713"/>
              </a:lnSpc>
              <a:spcBef>
                <a:spcPts val="0"/>
              </a:spcBef>
              <a:spcAft>
                <a:spcPts val="0"/>
              </a:spcAft>
              <a:defRPr sz="2300" b="1">
                <a:solidFill>
                  <a:srgbClr val="087F8C"/>
                </a:solidFill>
                <a:latin typeface="Noto Sans"/>
              </a:defRPr>
            </a:pPr>
            <a:r>
              <a:t>Integrated local review + a matched discussion-classifier comparison.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84048"/>
            <a:ext cx="59436" cy="329184"/>
          </a:xfrm>
          <a:prstGeom prst="rect">
            <a:avLst/>
          </a:prstGeom>
          <a:solidFill>
            <a:srgbClr val="B30D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 PROJECT FOCUS"/>
          <p:cNvSpPr txBox="1"/>
          <p:nvPr/>
        </p:nvSpPr>
        <p:spPr>
          <a:xfrm>
            <a:off x="658368" y="320040"/>
            <a:ext cx="9144000" cy="228600"/>
          </a:xfrm>
          <a:prstGeom prst="rect">
            <a:avLst/>
          </a:prstGeom>
          <a:noFill/>
        </p:spPr>
        <p:txBody>
          <a:bodyPr wrap="none" lIns="0" rIns="0" tIns="0" bIns="0" anchor="t">
            <a:spAutoFit/>
          </a:bodyPr>
          <a:lstStyle/>
          <a:p>
            <a:pPr algn="l">
              <a:lnSpc>
                <a:spcPts val="1297"/>
              </a:lnSpc>
              <a:spcBef>
                <a:spcPts val="0"/>
              </a:spcBef>
              <a:spcAft>
                <a:spcPts val="0"/>
              </a:spcAft>
              <a:defRPr sz="1100" b="1">
                <a:solidFill>
                  <a:srgbClr val="B30D2C"/>
                </a:solidFill>
                <a:latin typeface="Noto Sans"/>
              </a:defRPr>
            </a:pPr>
            <a:r>
              <a:t>PROJECT FOCUS</a:t>
            </a:r>
          </a:p>
        </p:txBody>
      </p:sp>
      <p:sp>
        <p:nvSpPr>
          <p:cNvPr id="5" name="TEXT Gap in the Research / Technology / Metho"/>
          <p:cNvSpPr txBox="1"/>
          <p:nvPr/>
        </p:nvSpPr>
        <p:spPr>
          <a:xfrm>
            <a:off x="484632" y="749808"/>
            <a:ext cx="10881360" cy="502920"/>
          </a:xfrm>
          <a:prstGeom prst="rect">
            <a:avLst/>
          </a:prstGeom>
          <a:noFill/>
        </p:spPr>
        <p:txBody>
          <a:bodyPr wrap="none" lIns="0" rIns="0" tIns="0" bIns="0" anchor="t">
            <a:spAutoFit/>
          </a:bodyPr>
          <a:lstStyle/>
          <a:p>
            <a:pPr algn="l">
              <a:lnSpc>
                <a:spcPts val="3422"/>
              </a:lnSpc>
              <a:spcBef>
                <a:spcPts val="0"/>
              </a:spcBef>
              <a:spcAft>
                <a:spcPts val="0"/>
              </a:spcAft>
              <a:defRPr sz="2900" b="1">
                <a:solidFill>
                  <a:srgbClr val="152C40"/>
                </a:solidFill>
                <a:latin typeface="Noto Sans"/>
              </a:defRPr>
            </a:pPr>
            <a:r>
              <a:t>Gap in the Research / Technology / Methodology</a:t>
            </a:r>
          </a:p>
        </p:txBody>
      </p:sp>
      <p:sp>
        <p:nvSpPr>
          <p:cNvPr id="6" name="TEXT Established components exist; the projec"/>
          <p:cNvSpPr txBox="1"/>
          <p:nvPr/>
        </p:nvSpPr>
        <p:spPr>
          <a:xfrm>
            <a:off x="502920" y="1298448"/>
            <a:ext cx="11064240" cy="411480"/>
          </a:xfrm>
          <a:prstGeom prst="rect">
            <a:avLst/>
          </a:prstGeom>
          <a:noFill/>
        </p:spPr>
        <p:txBody>
          <a:bodyPr wrap="none" lIns="0" rIns="0" tIns="0" bIns="0" anchor="t">
            <a:spAutoFit/>
          </a:bodyPr>
          <a:lstStyle/>
          <a:p>
            <a:pPr algn="l">
              <a:lnSpc>
                <a:spcPts val="1770"/>
              </a:lnSpc>
              <a:spcBef>
                <a:spcPts val="0"/>
              </a:spcBef>
              <a:spcAft>
                <a:spcPts val="0"/>
              </a:spcAft>
              <a:defRPr sz="1500" b="0">
                <a:solidFill>
                  <a:srgbClr val="526675"/>
                </a:solidFill>
                <a:latin typeface="Noto Sans"/>
              </a:defRPr>
            </a:pPr>
            <a:r>
              <a:t>Established components exist; the project connects them into a reviewable local workflow.</a:t>
            </a:r>
          </a:p>
        </p:txBody>
      </p:sp>
      <p:pic>
        <p:nvPicPr>
          <p:cNvPr id="7" name="Picture 6" descr="image3.png"/>
          <p:cNvPicPr>
            <a:picLocks noChangeAspect="1"/>
          </p:cNvPicPr>
          <p:nvPr/>
        </p:nvPicPr>
        <p:blipFill>
          <a:blip r:embed="rId2"/>
          <a:stretch>
            <a:fillRect/>
          </a:stretch>
        </p:blipFill>
        <p:spPr>
          <a:xfrm>
            <a:off x="10195560" y="320040"/>
            <a:ext cx="1508760" cy="286077"/>
          </a:xfrm>
          <a:prstGeom prst="rect">
            <a:avLst/>
          </a:prstGeom>
        </p:spPr>
      </p:pic>
      <p:cxnSp>
        <p:nvCxnSpPr>
          <p:cNvPr id="8" name="Connector 7"/>
          <p:cNvCxnSpPr/>
          <p:nvPr/>
        </p:nvCxnSpPr>
        <p:spPr>
          <a:xfrm>
            <a:off x="502920" y="6419088"/>
            <a:ext cx="11183112" cy="0"/>
          </a:xfrm>
          <a:prstGeom prst="line">
            <a:avLst/>
          </a:prstGeom>
          <a:ln w="12700">
            <a:solidFill>
              <a:srgbClr val="D9E2E7"/>
            </a:solidFill>
          </a:ln>
        </p:spPr>
        <p:style>
          <a:lnRef idx="2">
            <a:schemeClr val="accent1"/>
          </a:lnRef>
          <a:fillRef idx="0">
            <a:schemeClr val="accent1"/>
          </a:fillRef>
          <a:effectRef idx="1">
            <a:schemeClr val="accent1"/>
          </a:effectRef>
          <a:fontRef idx="minor">
            <a:schemeClr val="tx1"/>
          </a:fontRef>
        </p:style>
      </p:cxnSp>
      <p:sp>
        <p:nvSpPr>
          <p:cNvPr id="9" name="TEXT SIT Pune  |  AI &amp; ML  |  Group 12  |  Pr"/>
          <p:cNvSpPr txBox="1"/>
          <p:nvPr/>
        </p:nvSpPr>
        <p:spPr>
          <a:xfrm>
            <a:off x="502920" y="6519672"/>
            <a:ext cx="9509760" cy="173736"/>
          </a:xfrm>
          <a:prstGeom prst="rect">
            <a:avLst/>
          </a:prstGeom>
          <a:noFill/>
        </p:spPr>
        <p:txBody>
          <a:bodyPr wrap="none" lIns="0" rIns="0" tIns="0" bIns="0" anchor="t">
            <a:spAutoFit/>
          </a:bodyPr>
          <a:lstStyle/>
          <a:p>
            <a:pPr algn="l">
              <a:lnSpc>
                <a:spcPts val="1062"/>
              </a:lnSpc>
              <a:spcBef>
                <a:spcPts val="0"/>
              </a:spcBef>
              <a:spcAft>
                <a:spcPts val="0"/>
              </a:spcAft>
              <a:defRPr sz="900" b="0">
                <a:solidFill>
                  <a:srgbClr val="526675"/>
                </a:solidFill>
                <a:latin typeface="Noto Sans"/>
              </a:defRPr>
            </a:pPr>
            <a:r>
              <a:t>SIT Pune | AI &amp; ML | Group 12 | Prepared 20 October 2026</a:t>
            </a:r>
          </a:p>
        </p:txBody>
      </p:sp>
      <p:sp>
        <p:nvSpPr>
          <p:cNvPr id="10" name="TEXT 07 / 18"/>
          <p:cNvSpPr txBox="1"/>
          <p:nvPr/>
        </p:nvSpPr>
        <p:spPr>
          <a:xfrm>
            <a:off x="10789920" y="6510528"/>
            <a:ext cx="914400" cy="201168"/>
          </a:xfrm>
          <a:prstGeom prst="rect">
            <a:avLst/>
          </a:prstGeom>
          <a:noFill/>
        </p:spPr>
        <p:txBody>
          <a:bodyPr wrap="none" lIns="0" rIns="0" tIns="0" bIns="0" anchor="t">
            <a:spAutoFit/>
          </a:bodyPr>
          <a:lstStyle/>
          <a:p>
            <a:pPr algn="r">
              <a:lnSpc>
                <a:spcPts val="1180"/>
              </a:lnSpc>
              <a:spcBef>
                <a:spcPts val="0"/>
              </a:spcBef>
              <a:spcAft>
                <a:spcPts val="0"/>
              </a:spcAft>
              <a:defRPr sz="1000" b="0">
                <a:solidFill>
                  <a:srgbClr val="526675"/>
                </a:solidFill>
                <a:latin typeface="Noto Sans"/>
              </a:defRPr>
            </a:pPr>
            <a:r>
              <a:t>07 / 18</a:t>
            </a:r>
          </a:p>
        </p:txBody>
      </p:sp>
      <p:sp>
        <p:nvSpPr>
          <p:cNvPr id="11" name="Rounded Rectangle 10"/>
          <p:cNvSpPr/>
          <p:nvPr/>
        </p:nvSpPr>
        <p:spPr>
          <a:xfrm>
            <a:off x="594360" y="1920240"/>
            <a:ext cx="3611880" cy="3337560"/>
          </a:xfrm>
          <a:prstGeom prst="roundRect">
            <a:avLst>
              <a:gd name="adj" fmla="val 6000"/>
            </a:avLst>
          </a:prstGeom>
          <a:solidFill>
            <a:srgbClr val="F0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Integration need"/>
          <p:cNvSpPr txBox="1"/>
          <p:nvPr/>
        </p:nvSpPr>
        <p:spPr>
          <a:xfrm>
            <a:off x="795528" y="2103120"/>
            <a:ext cx="3209544" cy="502920"/>
          </a:xfrm>
          <a:prstGeom prst="rect">
            <a:avLst/>
          </a:prstGeom>
          <a:noFill/>
        </p:spPr>
        <p:txBody>
          <a:bodyPr wrap="none" lIns="0" rIns="0" tIns="0" bIns="0" anchor="t">
            <a:spAutoFit/>
          </a:bodyPr>
          <a:lstStyle/>
          <a:p>
            <a:pPr algn="l">
              <a:lnSpc>
                <a:spcPts val="2477"/>
              </a:lnSpc>
              <a:spcBef>
                <a:spcPts val="0"/>
              </a:spcBef>
              <a:spcAft>
                <a:spcPts val="0"/>
              </a:spcAft>
              <a:defRPr sz="2100" b="1">
                <a:solidFill>
                  <a:srgbClr val="152C40"/>
                </a:solidFill>
                <a:latin typeface="Noto Sans"/>
              </a:defRPr>
            </a:pPr>
            <a:r>
              <a:t>Integration need</a:t>
            </a:r>
          </a:p>
        </p:txBody>
      </p:sp>
      <p:sp>
        <p:nvSpPr>
          <p:cNvPr id="13" name="TEXT Connect words, speakers and optional sli"/>
          <p:cNvSpPr txBox="1"/>
          <p:nvPr/>
        </p:nvSpPr>
        <p:spPr>
          <a:xfrm>
            <a:off x="795528" y="2761488"/>
            <a:ext cx="3209544" cy="2368296"/>
          </a:xfrm>
          <a:prstGeom prst="rect">
            <a:avLst/>
          </a:prstGeom>
          <a:noFill/>
        </p:spPr>
        <p:txBody>
          <a:bodyPr wrap="none" lIns="0" rIns="0" tIns="0" bIns="0" anchor="t">
            <a:spAutoFit/>
          </a:bodyPr>
          <a:lstStyle/>
          <a:p>
            <a:pPr algn="l">
              <a:lnSpc>
                <a:spcPts val="2595"/>
              </a:lnSpc>
              <a:spcBef>
                <a:spcPts val="0"/>
              </a:spcBef>
              <a:spcAft>
                <a:spcPts val="0"/>
              </a:spcAft>
              <a:defRPr sz="2200" b="0">
                <a:solidFill>
                  <a:srgbClr val="152C40"/>
                </a:solidFill>
                <a:latin typeface="Noto Sans"/>
              </a:defRPr>
            </a:pPr>
            <a:r>
              <a:t>Connect words,</a:t>
            </a:r>
          </a:p>
          <a:p>
            <a:pPr algn="l">
              <a:lnSpc>
                <a:spcPts val="2595"/>
              </a:lnSpc>
              <a:spcBef>
                <a:spcPts val="0"/>
              </a:spcBef>
              <a:spcAft>
                <a:spcPts val="0"/>
              </a:spcAft>
              <a:defRPr sz="2200" b="0">
                <a:solidFill>
                  <a:srgbClr val="152C40"/>
                </a:solidFill>
                <a:latin typeface="Noto Sans"/>
              </a:defRPr>
            </a:pPr>
            <a:r>
              <a:t>speakers and optional</a:t>
            </a:r>
          </a:p>
          <a:p>
            <a:pPr algn="l">
              <a:lnSpc>
                <a:spcPts val="2595"/>
              </a:lnSpc>
              <a:spcBef>
                <a:spcPts val="0"/>
              </a:spcBef>
              <a:spcAft>
                <a:spcPts val="0"/>
              </a:spcAft>
              <a:defRPr sz="2200" b="0">
                <a:solidFill>
                  <a:srgbClr val="152C40"/>
                </a:solidFill>
                <a:latin typeface="Noto Sans"/>
              </a:defRPr>
            </a:pPr>
            <a:r>
              <a:t>slide content while</a:t>
            </a:r>
          </a:p>
          <a:p>
            <a:pPr algn="l">
              <a:lnSpc>
                <a:spcPts val="2595"/>
              </a:lnSpc>
              <a:spcBef>
                <a:spcPts val="0"/>
              </a:spcBef>
              <a:spcAft>
                <a:spcPts val="0"/>
              </a:spcAft>
              <a:defRPr sz="2200" b="0">
                <a:solidFill>
                  <a:srgbClr val="152C40"/>
                </a:solidFill>
                <a:latin typeface="Noto Sans"/>
              </a:defRPr>
            </a:pPr>
            <a:r>
              <a:t>retaining source IDs and</a:t>
            </a:r>
          </a:p>
          <a:p>
            <a:pPr algn="l">
              <a:lnSpc>
                <a:spcPts val="2595"/>
              </a:lnSpc>
              <a:spcBef>
                <a:spcPts val="0"/>
              </a:spcBef>
              <a:spcAft>
                <a:spcPts val="0"/>
              </a:spcAft>
              <a:defRPr sz="2200" b="0">
                <a:solidFill>
                  <a:srgbClr val="152C40"/>
                </a:solidFill>
                <a:latin typeface="Noto Sans"/>
              </a:defRPr>
            </a:pPr>
            <a:r>
              <a:t>timestamps.</a:t>
            </a:r>
          </a:p>
        </p:txBody>
      </p:sp>
      <p:sp>
        <p:nvSpPr>
          <p:cNvPr id="14" name="Rounded Rectangle 13"/>
          <p:cNvSpPr/>
          <p:nvPr/>
        </p:nvSpPr>
        <p:spPr>
          <a:xfrm>
            <a:off x="4434840" y="1920240"/>
            <a:ext cx="3611880" cy="3337560"/>
          </a:xfrm>
          <a:prstGeom prst="roundRect">
            <a:avLst>
              <a:gd name="adj" fmla="val 6000"/>
            </a:avLst>
          </a:prstGeom>
          <a:solidFill>
            <a:srgbClr val="F0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 Evaluation need"/>
          <p:cNvSpPr txBox="1"/>
          <p:nvPr/>
        </p:nvSpPr>
        <p:spPr>
          <a:xfrm>
            <a:off x="4636008" y="2103120"/>
            <a:ext cx="3209544" cy="502920"/>
          </a:xfrm>
          <a:prstGeom prst="rect">
            <a:avLst/>
          </a:prstGeom>
          <a:noFill/>
        </p:spPr>
        <p:txBody>
          <a:bodyPr wrap="none" lIns="0" rIns="0" tIns="0" bIns="0" anchor="t">
            <a:spAutoFit/>
          </a:bodyPr>
          <a:lstStyle/>
          <a:p>
            <a:pPr algn="l">
              <a:lnSpc>
                <a:spcPts val="2477"/>
              </a:lnSpc>
              <a:spcBef>
                <a:spcPts val="0"/>
              </a:spcBef>
              <a:spcAft>
                <a:spcPts val="0"/>
              </a:spcAft>
              <a:defRPr sz="2100" b="1">
                <a:solidFill>
                  <a:srgbClr val="152C40"/>
                </a:solidFill>
                <a:latin typeface="Noto Sans"/>
              </a:defRPr>
            </a:pPr>
            <a:r>
              <a:t>Evaluation need</a:t>
            </a:r>
          </a:p>
        </p:txBody>
      </p:sp>
      <p:sp>
        <p:nvSpPr>
          <p:cNvPr id="16" name="TEXT Measure discussion membership separately"/>
          <p:cNvSpPr txBox="1"/>
          <p:nvPr/>
        </p:nvSpPr>
        <p:spPr>
          <a:xfrm>
            <a:off x="4636008" y="2761488"/>
            <a:ext cx="3209544" cy="2368296"/>
          </a:xfrm>
          <a:prstGeom prst="rect">
            <a:avLst/>
          </a:prstGeom>
          <a:noFill/>
        </p:spPr>
        <p:txBody>
          <a:bodyPr wrap="none" lIns="0" rIns="0" tIns="0" bIns="0" anchor="t">
            <a:spAutoFit/>
          </a:bodyPr>
          <a:lstStyle/>
          <a:p>
            <a:pPr algn="l">
              <a:lnSpc>
                <a:spcPts val="2595"/>
              </a:lnSpc>
              <a:spcBef>
                <a:spcPts val="0"/>
              </a:spcBef>
              <a:spcAft>
                <a:spcPts val="0"/>
              </a:spcAft>
              <a:defRPr sz="2200" b="0">
                <a:solidFill>
                  <a:srgbClr val="152C40"/>
                </a:solidFill>
                <a:latin typeface="Noto Sans"/>
              </a:defRPr>
            </a:pPr>
            <a:r>
              <a:t>Measure discussion</a:t>
            </a:r>
          </a:p>
          <a:p>
            <a:pPr algn="l">
              <a:lnSpc>
                <a:spcPts val="2595"/>
              </a:lnSpc>
              <a:spcBef>
                <a:spcPts val="0"/>
              </a:spcBef>
              <a:spcAft>
                <a:spcPts val="0"/>
              </a:spcAft>
              <a:defRPr sz="2200" b="0">
                <a:solidFill>
                  <a:srgbClr val="152C40"/>
                </a:solidFill>
                <a:latin typeface="Noto Sans"/>
              </a:defRPr>
            </a:pPr>
            <a:r>
              <a:t>membership separately</a:t>
            </a:r>
          </a:p>
          <a:p>
            <a:pPr algn="l">
              <a:lnSpc>
                <a:spcPts val="2595"/>
              </a:lnSpc>
              <a:spcBef>
                <a:spcPts val="0"/>
              </a:spcBef>
              <a:spcAft>
                <a:spcPts val="0"/>
              </a:spcAft>
              <a:defRPr sz="2200" b="0">
                <a:solidFill>
                  <a:srgbClr val="152C40"/>
                </a:solidFill>
                <a:latin typeface="Noto Sans"/>
              </a:defRPr>
            </a:pPr>
            <a:r>
              <a:t>from speech errors and</a:t>
            </a:r>
          </a:p>
          <a:p>
            <a:pPr algn="l">
              <a:lnSpc>
                <a:spcPts val="2595"/>
              </a:lnSpc>
              <a:spcBef>
                <a:spcPts val="0"/>
              </a:spcBef>
              <a:spcAft>
                <a:spcPts val="0"/>
              </a:spcAft>
              <a:defRPr sz="2200" b="0">
                <a:solidFill>
                  <a:srgbClr val="152C40"/>
                </a:solidFill>
                <a:latin typeface="Noto Sans"/>
              </a:defRPr>
            </a:pPr>
            <a:r>
              <a:t>final-decision</a:t>
            </a:r>
          </a:p>
          <a:p>
            <a:pPr algn="l">
              <a:lnSpc>
                <a:spcPts val="2595"/>
              </a:lnSpc>
              <a:spcBef>
                <a:spcPts val="0"/>
              </a:spcBef>
              <a:spcAft>
                <a:spcPts val="0"/>
              </a:spcAft>
              <a:defRPr sz="2200" b="0">
                <a:solidFill>
                  <a:srgbClr val="152C40"/>
                </a:solidFill>
                <a:latin typeface="Noto Sans"/>
              </a:defRPr>
            </a:pPr>
            <a:r>
              <a:t>correctness.</a:t>
            </a:r>
          </a:p>
        </p:txBody>
      </p:sp>
      <p:sp>
        <p:nvSpPr>
          <p:cNvPr id="17" name="Rounded Rectangle 16"/>
          <p:cNvSpPr/>
          <p:nvPr/>
        </p:nvSpPr>
        <p:spPr>
          <a:xfrm>
            <a:off x="8275320" y="1920240"/>
            <a:ext cx="3611880" cy="3337560"/>
          </a:xfrm>
          <a:prstGeom prst="roundRect">
            <a:avLst>
              <a:gd name="adj" fmla="val 6000"/>
            </a:avLst>
          </a:prstGeom>
          <a:solidFill>
            <a:srgbClr val="F0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 Evidence still needed"/>
          <p:cNvSpPr txBox="1"/>
          <p:nvPr/>
        </p:nvSpPr>
        <p:spPr>
          <a:xfrm>
            <a:off x="8476488" y="2103120"/>
            <a:ext cx="3209544" cy="502920"/>
          </a:xfrm>
          <a:prstGeom prst="rect">
            <a:avLst/>
          </a:prstGeom>
          <a:noFill/>
        </p:spPr>
        <p:txBody>
          <a:bodyPr wrap="none" lIns="0" rIns="0" tIns="0" bIns="0" anchor="t">
            <a:spAutoFit/>
          </a:bodyPr>
          <a:lstStyle/>
          <a:p>
            <a:pPr algn="l">
              <a:lnSpc>
                <a:spcPts val="2477"/>
              </a:lnSpc>
              <a:spcBef>
                <a:spcPts val="0"/>
              </a:spcBef>
              <a:spcAft>
                <a:spcPts val="0"/>
              </a:spcAft>
              <a:defRPr sz="2100" b="1">
                <a:solidFill>
                  <a:srgbClr val="152C40"/>
                </a:solidFill>
                <a:latin typeface="Noto Sans"/>
              </a:defRPr>
            </a:pPr>
            <a:r>
              <a:t>Evidence still needed</a:t>
            </a:r>
          </a:p>
        </p:txBody>
      </p:sp>
      <p:sp>
        <p:nvSpPr>
          <p:cNvPr id="19" name="TEXT Validate complete recordings, slide link"/>
          <p:cNvSpPr txBox="1"/>
          <p:nvPr/>
        </p:nvSpPr>
        <p:spPr>
          <a:xfrm>
            <a:off x="8476488" y="2761488"/>
            <a:ext cx="3209544" cy="2368296"/>
          </a:xfrm>
          <a:prstGeom prst="rect">
            <a:avLst/>
          </a:prstGeom>
          <a:noFill/>
        </p:spPr>
        <p:txBody>
          <a:bodyPr wrap="none" lIns="0" rIns="0" tIns="0" bIns="0" anchor="t">
            <a:spAutoFit/>
          </a:bodyPr>
          <a:lstStyle/>
          <a:p>
            <a:pPr algn="l">
              <a:lnSpc>
                <a:spcPts val="2595"/>
              </a:lnSpc>
              <a:spcBef>
                <a:spcPts val="0"/>
              </a:spcBef>
              <a:spcAft>
                <a:spcPts val="0"/>
              </a:spcAft>
              <a:defRPr sz="2200" b="0">
                <a:solidFill>
                  <a:srgbClr val="152C40"/>
                </a:solidFill>
                <a:latin typeface="Noto Sans"/>
              </a:defRPr>
            </a:pPr>
            <a:r>
              <a:t>Validate complete</a:t>
            </a:r>
          </a:p>
          <a:p>
            <a:pPr algn="l">
              <a:lnSpc>
                <a:spcPts val="2595"/>
              </a:lnSpc>
              <a:spcBef>
                <a:spcPts val="0"/>
              </a:spcBef>
              <a:spcAft>
                <a:spcPts val="0"/>
              </a:spcAft>
              <a:defRPr sz="2200" b="0">
                <a:solidFill>
                  <a:srgbClr val="152C40"/>
                </a:solidFill>
                <a:latin typeface="Noto Sans"/>
              </a:defRPr>
            </a:pPr>
            <a:r>
              <a:t>recordings, slide links</a:t>
            </a:r>
          </a:p>
          <a:p>
            <a:pPr algn="l">
              <a:lnSpc>
                <a:spcPts val="2595"/>
              </a:lnSpc>
              <a:spcBef>
                <a:spcPts val="0"/>
              </a:spcBef>
              <a:spcAft>
                <a:spcPts val="0"/>
              </a:spcAft>
              <a:defRPr sz="2200" b="0">
                <a:solidFill>
                  <a:srgbClr val="152C40"/>
                </a:solidFill>
                <a:latin typeface="Noto Sans"/>
              </a:defRPr>
            </a:pPr>
            <a:r>
              <a:t>and human influence</a:t>
            </a:r>
          </a:p>
          <a:p>
            <a:pPr algn="l">
              <a:lnSpc>
                <a:spcPts val="2595"/>
              </a:lnSpc>
              <a:spcBef>
                <a:spcPts val="0"/>
              </a:spcBef>
              <a:spcAft>
                <a:spcPts val="0"/>
              </a:spcAft>
              <a:defRPr sz="2200" b="0">
                <a:solidFill>
                  <a:srgbClr val="152C40"/>
                </a:solidFill>
                <a:latin typeface="Noto Sans"/>
              </a:defRPr>
            </a:pPr>
            <a:r>
              <a:t>rankings on new</a:t>
            </a:r>
          </a:p>
          <a:p>
            <a:pPr algn="l">
              <a:lnSpc>
                <a:spcPts val="2595"/>
              </a:lnSpc>
              <a:spcBef>
                <a:spcPts val="0"/>
              </a:spcBef>
              <a:spcAft>
                <a:spcPts val="0"/>
              </a:spcAft>
              <a:defRPr sz="2200" b="0">
                <a:solidFill>
                  <a:srgbClr val="152C40"/>
                </a:solidFill>
                <a:latin typeface="Noto Sans"/>
              </a:defRPr>
            </a:pPr>
            <a:r>
              <a:t>annotations.</a:t>
            </a:r>
          </a:p>
        </p:txBody>
      </p:sp>
      <p:sp>
        <p:nvSpPr>
          <p:cNvPr id="20" name="TEXT Implemented focus: local, source-linked "/>
          <p:cNvSpPr txBox="1"/>
          <p:nvPr/>
        </p:nvSpPr>
        <p:spPr>
          <a:xfrm>
            <a:off x="731520" y="5532120"/>
            <a:ext cx="10881360" cy="411480"/>
          </a:xfrm>
          <a:prstGeom prst="rect">
            <a:avLst/>
          </a:prstGeom>
          <a:noFill/>
        </p:spPr>
        <p:txBody>
          <a:bodyPr wrap="none" lIns="0" rIns="0" tIns="0" bIns="0" anchor="t">
            <a:spAutoFit/>
          </a:bodyPr>
          <a:lstStyle/>
          <a:p>
            <a:pPr algn="l">
              <a:lnSpc>
                <a:spcPts val="2832"/>
              </a:lnSpc>
              <a:spcBef>
                <a:spcPts val="0"/>
              </a:spcBef>
              <a:spcAft>
                <a:spcPts val="0"/>
              </a:spcAft>
              <a:defRPr sz="2400" b="1">
                <a:solidFill>
                  <a:srgbClr val="087F8C"/>
                </a:solidFill>
                <a:latin typeface="Noto Sans"/>
              </a:defRPr>
            </a:pPr>
            <a:r>
              <a:t>Implemented focus: local, source-linked discussion review.</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84048"/>
            <a:ext cx="59436" cy="329184"/>
          </a:xfrm>
          <a:prstGeom prst="rect">
            <a:avLst/>
          </a:prstGeom>
          <a:solidFill>
            <a:srgbClr val="B30D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 SYSTEM DESIGN"/>
          <p:cNvSpPr txBox="1"/>
          <p:nvPr/>
        </p:nvSpPr>
        <p:spPr>
          <a:xfrm>
            <a:off x="658368" y="320040"/>
            <a:ext cx="9144000" cy="228600"/>
          </a:xfrm>
          <a:prstGeom prst="rect">
            <a:avLst/>
          </a:prstGeom>
          <a:noFill/>
        </p:spPr>
        <p:txBody>
          <a:bodyPr wrap="none" lIns="0" rIns="0" tIns="0" bIns="0" anchor="t">
            <a:spAutoFit/>
          </a:bodyPr>
          <a:lstStyle/>
          <a:p>
            <a:pPr algn="l">
              <a:lnSpc>
                <a:spcPts val="1297"/>
              </a:lnSpc>
              <a:spcBef>
                <a:spcPts val="0"/>
              </a:spcBef>
              <a:spcAft>
                <a:spcPts val="0"/>
              </a:spcAft>
              <a:defRPr sz="1100" b="1">
                <a:solidFill>
                  <a:srgbClr val="B30D2C"/>
                </a:solidFill>
                <a:latin typeface="Noto Sans"/>
              </a:defRPr>
            </a:pPr>
            <a:r>
              <a:t>SYSTEM DESIGN</a:t>
            </a:r>
          </a:p>
        </p:txBody>
      </p:sp>
      <p:sp>
        <p:nvSpPr>
          <p:cNvPr id="5" name="TEXT Description of the Proposed Solution"/>
          <p:cNvSpPr txBox="1"/>
          <p:nvPr/>
        </p:nvSpPr>
        <p:spPr>
          <a:xfrm>
            <a:off x="484632" y="749808"/>
            <a:ext cx="10881360" cy="502920"/>
          </a:xfrm>
          <a:prstGeom prst="rect">
            <a:avLst/>
          </a:prstGeom>
          <a:noFill/>
        </p:spPr>
        <p:txBody>
          <a:bodyPr wrap="none" lIns="0" rIns="0" tIns="0" bIns="0" anchor="t">
            <a:spAutoFit/>
          </a:bodyPr>
          <a:lstStyle/>
          <a:p>
            <a:pPr algn="l">
              <a:lnSpc>
                <a:spcPts val="3422"/>
              </a:lnSpc>
              <a:spcBef>
                <a:spcPts val="0"/>
              </a:spcBef>
              <a:spcAft>
                <a:spcPts val="0"/>
              </a:spcAft>
              <a:defRPr sz="2900" b="1">
                <a:solidFill>
                  <a:srgbClr val="152C40"/>
                </a:solidFill>
                <a:latin typeface="Noto Sans"/>
              </a:defRPr>
            </a:pPr>
            <a:r>
              <a:t>Description of the Proposed Solution</a:t>
            </a:r>
          </a:p>
        </p:txBody>
      </p:sp>
      <p:sp>
        <p:nvSpPr>
          <p:cNvPr id="6" name="TEXT Data flow, model boundaries, persistence"/>
          <p:cNvSpPr txBox="1"/>
          <p:nvPr/>
        </p:nvSpPr>
        <p:spPr>
          <a:xfrm>
            <a:off x="502920" y="1298448"/>
            <a:ext cx="11064240" cy="411480"/>
          </a:xfrm>
          <a:prstGeom prst="rect">
            <a:avLst/>
          </a:prstGeom>
          <a:noFill/>
        </p:spPr>
        <p:txBody>
          <a:bodyPr wrap="none" lIns="0" rIns="0" tIns="0" bIns="0" anchor="t">
            <a:spAutoFit/>
          </a:bodyPr>
          <a:lstStyle/>
          <a:p>
            <a:pPr algn="l">
              <a:lnSpc>
                <a:spcPts val="1770"/>
              </a:lnSpc>
              <a:spcBef>
                <a:spcPts val="0"/>
              </a:spcBef>
              <a:spcAft>
                <a:spcPts val="0"/>
              </a:spcAft>
              <a:defRPr sz="1500" b="0">
                <a:solidFill>
                  <a:srgbClr val="526675"/>
                </a:solidFill>
                <a:latin typeface="Noto Sans"/>
              </a:defRPr>
            </a:pPr>
            <a:r>
              <a:t>Data flow, model boundaries, persistence and human review — all on the laptop.</a:t>
            </a:r>
          </a:p>
        </p:txBody>
      </p:sp>
      <p:pic>
        <p:nvPicPr>
          <p:cNvPr id="7" name="Picture 6" descr="image3.png"/>
          <p:cNvPicPr>
            <a:picLocks noChangeAspect="1"/>
          </p:cNvPicPr>
          <p:nvPr/>
        </p:nvPicPr>
        <p:blipFill>
          <a:blip r:embed="rId2"/>
          <a:stretch>
            <a:fillRect/>
          </a:stretch>
        </p:blipFill>
        <p:spPr>
          <a:xfrm>
            <a:off x="10195560" y="320040"/>
            <a:ext cx="1508760" cy="286077"/>
          </a:xfrm>
          <a:prstGeom prst="rect">
            <a:avLst/>
          </a:prstGeom>
        </p:spPr>
      </p:pic>
      <p:cxnSp>
        <p:nvCxnSpPr>
          <p:cNvPr id="8" name="Connector 7"/>
          <p:cNvCxnSpPr/>
          <p:nvPr/>
        </p:nvCxnSpPr>
        <p:spPr>
          <a:xfrm>
            <a:off x="502920" y="6419088"/>
            <a:ext cx="11183112" cy="0"/>
          </a:xfrm>
          <a:prstGeom prst="line">
            <a:avLst/>
          </a:prstGeom>
          <a:ln w="12700">
            <a:solidFill>
              <a:srgbClr val="D9E2E7"/>
            </a:solidFill>
          </a:ln>
        </p:spPr>
        <p:style>
          <a:lnRef idx="2">
            <a:schemeClr val="accent1"/>
          </a:lnRef>
          <a:fillRef idx="0">
            <a:schemeClr val="accent1"/>
          </a:fillRef>
          <a:effectRef idx="1">
            <a:schemeClr val="accent1"/>
          </a:effectRef>
          <a:fontRef idx="minor">
            <a:schemeClr val="tx1"/>
          </a:fontRef>
        </p:style>
      </p:cxnSp>
      <p:sp>
        <p:nvSpPr>
          <p:cNvPr id="9" name="TEXT SIT Pune  |  AI &amp; ML  |  Group 12  |  Pr"/>
          <p:cNvSpPr txBox="1"/>
          <p:nvPr/>
        </p:nvSpPr>
        <p:spPr>
          <a:xfrm>
            <a:off x="502920" y="6519672"/>
            <a:ext cx="9509760" cy="173736"/>
          </a:xfrm>
          <a:prstGeom prst="rect">
            <a:avLst/>
          </a:prstGeom>
          <a:noFill/>
        </p:spPr>
        <p:txBody>
          <a:bodyPr wrap="none" lIns="0" rIns="0" tIns="0" bIns="0" anchor="t">
            <a:spAutoFit/>
          </a:bodyPr>
          <a:lstStyle/>
          <a:p>
            <a:pPr algn="l">
              <a:lnSpc>
                <a:spcPts val="1062"/>
              </a:lnSpc>
              <a:spcBef>
                <a:spcPts val="0"/>
              </a:spcBef>
              <a:spcAft>
                <a:spcPts val="0"/>
              </a:spcAft>
              <a:defRPr sz="900" b="0">
                <a:solidFill>
                  <a:srgbClr val="526675"/>
                </a:solidFill>
                <a:latin typeface="Noto Sans"/>
              </a:defRPr>
            </a:pPr>
            <a:r>
              <a:t>SIT Pune | AI &amp; ML | Group 12 | Prepared 20 October 2026</a:t>
            </a:r>
          </a:p>
        </p:txBody>
      </p:sp>
      <p:sp>
        <p:nvSpPr>
          <p:cNvPr id="10" name="TEXT 08 / 18"/>
          <p:cNvSpPr txBox="1"/>
          <p:nvPr/>
        </p:nvSpPr>
        <p:spPr>
          <a:xfrm>
            <a:off x="10789920" y="6510528"/>
            <a:ext cx="914400" cy="201168"/>
          </a:xfrm>
          <a:prstGeom prst="rect">
            <a:avLst/>
          </a:prstGeom>
          <a:noFill/>
        </p:spPr>
        <p:txBody>
          <a:bodyPr wrap="none" lIns="0" rIns="0" tIns="0" bIns="0" anchor="t">
            <a:spAutoFit/>
          </a:bodyPr>
          <a:lstStyle/>
          <a:p>
            <a:pPr algn="r">
              <a:lnSpc>
                <a:spcPts val="1180"/>
              </a:lnSpc>
              <a:spcBef>
                <a:spcPts val="0"/>
              </a:spcBef>
              <a:spcAft>
                <a:spcPts val="0"/>
              </a:spcAft>
              <a:defRPr sz="1000" b="0">
                <a:solidFill>
                  <a:srgbClr val="526675"/>
                </a:solidFill>
                <a:latin typeface="Noto Sans"/>
              </a:defRPr>
            </a:pPr>
            <a:r>
              <a:t>08 / 18</a:t>
            </a:r>
          </a:p>
        </p:txBody>
      </p:sp>
      <p:sp>
        <p:nvSpPr>
          <p:cNvPr id="11" name="TEXT 1  Capture"/>
          <p:cNvSpPr txBox="1"/>
          <p:nvPr/>
        </p:nvSpPr>
        <p:spPr>
          <a:xfrm>
            <a:off x="502920" y="1783080"/>
            <a:ext cx="1920240" cy="365760"/>
          </a:xfrm>
          <a:prstGeom prst="rect">
            <a:avLst/>
          </a:prstGeom>
          <a:noFill/>
        </p:spPr>
        <p:txBody>
          <a:bodyPr wrap="none" lIns="0" rIns="0" tIns="0" bIns="0" anchor="t">
            <a:spAutoFit/>
          </a:bodyPr>
          <a:lstStyle/>
          <a:p>
            <a:pPr algn="l">
              <a:lnSpc>
                <a:spcPts val="2005"/>
              </a:lnSpc>
              <a:spcBef>
                <a:spcPts val="0"/>
              </a:spcBef>
              <a:spcAft>
                <a:spcPts val="0"/>
              </a:spcAft>
              <a:defRPr sz="1700" b="1">
                <a:solidFill>
                  <a:srgbClr val="087F8C"/>
                </a:solidFill>
                <a:latin typeface="Noto Sans"/>
              </a:defRPr>
            </a:pPr>
            <a:r>
              <a:t>1 Capture</a:t>
            </a:r>
          </a:p>
        </p:txBody>
      </p:sp>
      <p:sp>
        <p:nvSpPr>
          <p:cNvPr id="12" name="TEXT 2  Speech &amp; slides"/>
          <p:cNvSpPr txBox="1"/>
          <p:nvPr/>
        </p:nvSpPr>
        <p:spPr>
          <a:xfrm>
            <a:off x="2697480" y="1783080"/>
            <a:ext cx="2971800" cy="365760"/>
          </a:xfrm>
          <a:prstGeom prst="rect">
            <a:avLst/>
          </a:prstGeom>
          <a:noFill/>
        </p:spPr>
        <p:txBody>
          <a:bodyPr wrap="none" lIns="0" rIns="0" tIns="0" bIns="0" anchor="t">
            <a:spAutoFit/>
          </a:bodyPr>
          <a:lstStyle/>
          <a:p>
            <a:pPr algn="l">
              <a:lnSpc>
                <a:spcPts val="2005"/>
              </a:lnSpc>
              <a:spcBef>
                <a:spcPts val="0"/>
              </a:spcBef>
              <a:spcAft>
                <a:spcPts val="0"/>
              </a:spcAft>
              <a:defRPr sz="1700" b="1">
                <a:solidFill>
                  <a:srgbClr val="087F8C"/>
                </a:solidFill>
                <a:latin typeface="Noto Sans"/>
              </a:defRPr>
            </a:pPr>
            <a:r>
              <a:t>2 Speech &amp; slides</a:t>
            </a:r>
          </a:p>
        </p:txBody>
      </p:sp>
      <p:sp>
        <p:nvSpPr>
          <p:cNvPr id="13" name="TEXT 3  Analysis"/>
          <p:cNvSpPr txBox="1"/>
          <p:nvPr/>
        </p:nvSpPr>
        <p:spPr>
          <a:xfrm>
            <a:off x="5989320" y="1783080"/>
            <a:ext cx="2834640" cy="365760"/>
          </a:xfrm>
          <a:prstGeom prst="rect">
            <a:avLst/>
          </a:prstGeom>
          <a:noFill/>
        </p:spPr>
        <p:txBody>
          <a:bodyPr wrap="none" lIns="0" rIns="0" tIns="0" bIns="0" anchor="t">
            <a:spAutoFit/>
          </a:bodyPr>
          <a:lstStyle/>
          <a:p>
            <a:pPr algn="l">
              <a:lnSpc>
                <a:spcPts val="2005"/>
              </a:lnSpc>
              <a:spcBef>
                <a:spcPts val="0"/>
              </a:spcBef>
              <a:spcAft>
                <a:spcPts val="0"/>
              </a:spcAft>
              <a:defRPr sz="1700" b="1">
                <a:solidFill>
                  <a:srgbClr val="087F8C"/>
                </a:solidFill>
                <a:latin typeface="Noto Sans"/>
              </a:defRPr>
            </a:pPr>
            <a:r>
              <a:t>3 Analysis</a:t>
            </a:r>
          </a:p>
        </p:txBody>
      </p:sp>
      <p:sp>
        <p:nvSpPr>
          <p:cNvPr id="14" name="TEXT 4  Save &amp; review"/>
          <p:cNvSpPr txBox="1"/>
          <p:nvPr/>
        </p:nvSpPr>
        <p:spPr>
          <a:xfrm>
            <a:off x="9144000" y="1783080"/>
            <a:ext cx="2514600" cy="365760"/>
          </a:xfrm>
          <a:prstGeom prst="rect">
            <a:avLst/>
          </a:prstGeom>
          <a:noFill/>
        </p:spPr>
        <p:txBody>
          <a:bodyPr wrap="none" lIns="0" rIns="0" tIns="0" bIns="0" anchor="t">
            <a:spAutoFit/>
          </a:bodyPr>
          <a:lstStyle/>
          <a:p>
            <a:pPr algn="l">
              <a:lnSpc>
                <a:spcPts val="2005"/>
              </a:lnSpc>
              <a:spcBef>
                <a:spcPts val="0"/>
              </a:spcBef>
              <a:spcAft>
                <a:spcPts val="0"/>
              </a:spcAft>
              <a:defRPr sz="1700" b="1">
                <a:solidFill>
                  <a:srgbClr val="087F8C"/>
                </a:solidFill>
                <a:latin typeface="Noto Sans"/>
              </a:defRPr>
            </a:pPr>
            <a:r>
              <a:t>4 Save &amp; review</a:t>
            </a:r>
          </a:p>
        </p:txBody>
      </p:sp>
      <p:cxnSp>
        <p:nvCxnSpPr>
          <p:cNvPr id="15" name="Connector 14"/>
          <p:cNvCxnSpPr/>
          <p:nvPr/>
        </p:nvCxnSpPr>
        <p:spPr>
          <a:xfrm>
            <a:off x="1463040" y="2871216"/>
            <a:ext cx="0" cy="201168"/>
          </a:xfrm>
          <a:prstGeom prst="line">
            <a:avLst/>
          </a:prstGeom>
          <a:ln w="19050">
            <a:solidFill>
              <a:srgbClr val="526675"/>
            </a:solidFill>
            <a:tailEnd type="triangle"/>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463040" y="3822191"/>
            <a:ext cx="0" cy="201169"/>
          </a:xfrm>
          <a:prstGeom prst="line">
            <a:avLst/>
          </a:prstGeom>
          <a:ln w="19050">
            <a:solidFill>
              <a:srgbClr val="526675"/>
            </a:solidFill>
            <a:tailEnd type="triangle"/>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2423160" y="4434840"/>
            <a:ext cx="137160" cy="0"/>
          </a:xfrm>
          <a:prstGeom prst="line">
            <a:avLst/>
          </a:prstGeom>
          <a:ln w="19050">
            <a:solidFill>
              <a:srgbClr val="526675"/>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2560320" y="2578608"/>
            <a:ext cx="0" cy="1856232"/>
          </a:xfrm>
          <a:prstGeom prst="line">
            <a:avLst/>
          </a:prstGeom>
          <a:ln w="19050">
            <a:solidFill>
              <a:srgbClr val="526675"/>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2560320" y="2578608"/>
            <a:ext cx="137160" cy="0"/>
          </a:xfrm>
          <a:prstGeom prst="line">
            <a:avLst/>
          </a:prstGeom>
          <a:ln w="19050">
            <a:solidFill>
              <a:srgbClr val="526675"/>
            </a:solidFill>
            <a:tailEnd type="triangle"/>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2560320" y="2578608"/>
            <a:ext cx="0" cy="1042416"/>
          </a:xfrm>
          <a:prstGeom prst="line">
            <a:avLst/>
          </a:prstGeom>
          <a:ln w="19050">
            <a:solidFill>
              <a:srgbClr val="526675"/>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2560320" y="3621024"/>
            <a:ext cx="137160" cy="0"/>
          </a:xfrm>
          <a:prstGeom prst="line">
            <a:avLst/>
          </a:prstGeom>
          <a:ln w="19050">
            <a:solidFill>
              <a:srgbClr val="526675"/>
            </a:solidFill>
            <a:tailEnd type="triangle"/>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096512" y="2578608"/>
            <a:ext cx="155448" cy="0"/>
          </a:xfrm>
          <a:prstGeom prst="line">
            <a:avLst/>
          </a:prstGeom>
          <a:ln w="19050">
            <a:solidFill>
              <a:srgbClr val="526675"/>
            </a:solidFill>
            <a:tailEnd type="triangle"/>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096512" y="3621024"/>
            <a:ext cx="155448" cy="0"/>
          </a:xfrm>
          <a:prstGeom prst="line">
            <a:avLst/>
          </a:prstGeom>
          <a:ln w="19050">
            <a:solidFill>
              <a:srgbClr val="526675"/>
            </a:solidFill>
            <a:tailEnd type="triangle"/>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650992" y="2578608"/>
            <a:ext cx="82296" cy="0"/>
          </a:xfrm>
          <a:prstGeom prst="line">
            <a:avLst/>
          </a:prstGeom>
          <a:ln w="1905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733288" y="2578608"/>
            <a:ext cx="0" cy="1901952"/>
          </a:xfrm>
          <a:prstGeom prst="line">
            <a:avLst/>
          </a:prstGeom>
          <a:ln w="1905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5650992" y="4480560"/>
            <a:ext cx="82296" cy="0"/>
          </a:xfrm>
          <a:prstGeom prst="line">
            <a:avLst/>
          </a:prstGeom>
          <a:ln w="19050">
            <a:solidFill>
              <a:srgbClr val="087F8C"/>
            </a:solidFill>
            <a:tailEnd type="triangle"/>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937760" y="4023360"/>
            <a:ext cx="0" cy="201168"/>
          </a:xfrm>
          <a:prstGeom prst="line">
            <a:avLst/>
          </a:prstGeom>
          <a:ln w="19050">
            <a:solidFill>
              <a:srgbClr val="526675"/>
            </a:solidFill>
            <a:tailEnd type="triangle"/>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2423160" y="5440680"/>
            <a:ext cx="274320" cy="0"/>
          </a:xfrm>
          <a:prstGeom prst="line">
            <a:avLst/>
          </a:prstGeom>
          <a:ln w="19050">
            <a:solidFill>
              <a:srgbClr val="526675"/>
            </a:solidFill>
            <a:tailEnd type="triangle"/>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4096512" y="5440680"/>
            <a:ext cx="155448" cy="0"/>
          </a:xfrm>
          <a:prstGeom prst="line">
            <a:avLst/>
          </a:prstGeom>
          <a:ln w="19050">
            <a:solidFill>
              <a:srgbClr val="526675"/>
            </a:solidFill>
            <a:tailEnd type="triangle"/>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4937760" y="4937760"/>
            <a:ext cx="0" cy="155448"/>
          </a:xfrm>
          <a:prstGeom prst="line">
            <a:avLst/>
          </a:prstGeom>
          <a:ln w="19050">
            <a:solidFill>
              <a:srgbClr val="526675"/>
            </a:solidFill>
            <a:tailEnd type="triangle"/>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5650992" y="4590288"/>
            <a:ext cx="173736" cy="0"/>
          </a:xfrm>
          <a:prstGeom prst="line">
            <a:avLst/>
          </a:prstGeom>
          <a:ln w="1905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5824728" y="2606040"/>
            <a:ext cx="0" cy="1984248"/>
          </a:xfrm>
          <a:prstGeom prst="line">
            <a:avLst/>
          </a:prstGeom>
          <a:ln w="1905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824728" y="2606040"/>
            <a:ext cx="164592" cy="0"/>
          </a:xfrm>
          <a:prstGeom prst="line">
            <a:avLst/>
          </a:prstGeom>
          <a:ln w="19050">
            <a:solidFill>
              <a:srgbClr val="087F8C"/>
            </a:solidFill>
            <a:tailEnd type="triangle"/>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5650992" y="5440680"/>
            <a:ext cx="246888" cy="0"/>
          </a:xfrm>
          <a:prstGeom prst="line">
            <a:avLst/>
          </a:prstGeom>
          <a:ln w="19050">
            <a:solidFill>
              <a:srgbClr val="526675"/>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5897880" y="3685032"/>
            <a:ext cx="0" cy="1755648"/>
          </a:xfrm>
          <a:prstGeom prst="line">
            <a:avLst/>
          </a:prstGeom>
          <a:ln w="19050">
            <a:solidFill>
              <a:srgbClr val="526675"/>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5897880" y="3685032"/>
            <a:ext cx="91440" cy="0"/>
          </a:xfrm>
          <a:prstGeom prst="line">
            <a:avLst/>
          </a:prstGeom>
          <a:ln w="19050">
            <a:solidFill>
              <a:srgbClr val="526675"/>
            </a:solidFill>
            <a:tailEnd type="triangle"/>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7388352" y="4041648"/>
            <a:ext cx="0" cy="210312"/>
          </a:xfrm>
          <a:prstGeom prst="line">
            <a:avLst/>
          </a:prstGeom>
          <a:ln w="19050">
            <a:solidFill>
              <a:srgbClr val="526675"/>
            </a:solidFill>
            <a:tailEnd type="triangle"/>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7388352" y="4983480"/>
            <a:ext cx="0" cy="201168"/>
          </a:xfrm>
          <a:prstGeom prst="line">
            <a:avLst/>
          </a:prstGeom>
          <a:ln w="19050">
            <a:solidFill>
              <a:srgbClr val="526675"/>
            </a:solidFill>
            <a:tailEnd type="triangle"/>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8823960" y="2651760"/>
            <a:ext cx="137160" cy="0"/>
          </a:xfrm>
          <a:prstGeom prst="line">
            <a:avLst/>
          </a:prstGeom>
          <a:ln w="19050">
            <a:solidFill>
              <a:srgbClr val="B30D2C"/>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8961120" y="2651760"/>
            <a:ext cx="0" cy="91440"/>
          </a:xfrm>
          <a:prstGeom prst="line">
            <a:avLst/>
          </a:prstGeom>
          <a:ln w="19050">
            <a:solidFill>
              <a:srgbClr val="B30D2C"/>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8961120" y="2743200"/>
            <a:ext cx="182880" cy="0"/>
          </a:xfrm>
          <a:prstGeom prst="line">
            <a:avLst/>
          </a:prstGeom>
          <a:ln w="19050">
            <a:solidFill>
              <a:srgbClr val="B30D2C"/>
            </a:solidFill>
            <a:tailEnd type="triangle"/>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8823960" y="5541264"/>
            <a:ext cx="201168" cy="0"/>
          </a:xfrm>
          <a:prstGeom prst="line">
            <a:avLst/>
          </a:prstGeom>
          <a:ln w="19050">
            <a:solidFill>
              <a:srgbClr val="526675"/>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9025128" y="3154680"/>
            <a:ext cx="0" cy="2386584"/>
          </a:xfrm>
          <a:prstGeom prst="line">
            <a:avLst/>
          </a:prstGeom>
          <a:ln w="19050">
            <a:solidFill>
              <a:srgbClr val="526675"/>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9025128" y="3154680"/>
            <a:ext cx="118872" cy="0"/>
          </a:xfrm>
          <a:prstGeom prst="line">
            <a:avLst/>
          </a:prstGeom>
          <a:ln w="19050">
            <a:solidFill>
              <a:srgbClr val="526675"/>
            </a:solidFill>
            <a:tailEnd type="triangle"/>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10396728" y="3337560"/>
            <a:ext cx="0" cy="228600"/>
          </a:xfrm>
          <a:prstGeom prst="line">
            <a:avLst/>
          </a:prstGeom>
          <a:ln w="19050">
            <a:solidFill>
              <a:srgbClr val="526675"/>
            </a:solidFill>
            <a:tailEnd type="triangle"/>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10396728" y="4361688"/>
            <a:ext cx="0" cy="237744"/>
          </a:xfrm>
          <a:prstGeom prst="line">
            <a:avLst/>
          </a:prstGeom>
          <a:ln w="19050">
            <a:solidFill>
              <a:srgbClr val="526675"/>
            </a:solidFill>
            <a:tailEnd type="triangle"/>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11658600" y="5029200"/>
            <a:ext cx="164592" cy="0"/>
          </a:xfrm>
          <a:prstGeom prst="line">
            <a:avLst/>
          </a:prstGeom>
          <a:ln w="19050">
            <a:solidFill>
              <a:srgbClr val="087F8C"/>
            </a:solidFill>
            <a:prstDash val="dash"/>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11823192" y="3959352"/>
            <a:ext cx="0" cy="1069848"/>
          </a:xfrm>
          <a:prstGeom prst="line">
            <a:avLst/>
          </a:prstGeom>
          <a:ln w="19050">
            <a:solidFill>
              <a:srgbClr val="087F8C"/>
            </a:solidFill>
            <a:prstDash val="dash"/>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a:off x="11658600" y="3959352"/>
            <a:ext cx="164592" cy="0"/>
          </a:xfrm>
          <a:prstGeom prst="line">
            <a:avLst/>
          </a:prstGeom>
          <a:ln w="19050">
            <a:solidFill>
              <a:srgbClr val="087F8C"/>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50" name="Rounded Rectangle 49"/>
          <p:cNvSpPr/>
          <p:nvPr/>
        </p:nvSpPr>
        <p:spPr>
          <a:xfrm>
            <a:off x="502920" y="2240280"/>
            <a:ext cx="1920240" cy="630936"/>
          </a:xfrm>
          <a:prstGeom prst="roundRect">
            <a:avLst>
              <a:gd name="adj" fmla="val 6000"/>
            </a:avLst>
          </a:prstGeom>
          <a:solidFill>
            <a:srgbClr val="F0F4F6"/>
          </a:solidFill>
          <a:ln w="10160">
            <a:solidFill>
              <a:srgbClr val="D9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 Browser input"/>
          <p:cNvSpPr txBox="1"/>
          <p:nvPr/>
        </p:nvSpPr>
        <p:spPr>
          <a:xfrm>
            <a:off x="612648" y="2331720"/>
            <a:ext cx="1700784" cy="384048"/>
          </a:xfrm>
          <a:prstGeom prst="rect">
            <a:avLst/>
          </a:prstGeom>
          <a:noFill/>
        </p:spPr>
        <p:txBody>
          <a:bodyPr wrap="none" lIns="0" rIns="0" tIns="0" bIns="0" anchor="t">
            <a:spAutoFit/>
          </a:bodyPr>
          <a:lstStyle/>
          <a:p>
            <a:pPr algn="l">
              <a:lnSpc>
                <a:spcPts val="1593"/>
              </a:lnSpc>
              <a:spcBef>
                <a:spcPts val="0"/>
              </a:spcBef>
              <a:spcAft>
                <a:spcPts val="0"/>
              </a:spcAft>
              <a:defRPr sz="1350" b="1">
                <a:solidFill>
                  <a:srgbClr val="152C40"/>
                </a:solidFill>
                <a:latin typeface="Noto Sans"/>
              </a:defRPr>
            </a:pPr>
            <a:r>
              <a:t>Browser input</a:t>
            </a:r>
          </a:p>
        </p:txBody>
      </p:sp>
      <p:sp>
        <p:nvSpPr>
          <p:cNvPr id="52" name="Rounded Rectangle 51"/>
          <p:cNvSpPr/>
          <p:nvPr/>
        </p:nvSpPr>
        <p:spPr>
          <a:xfrm>
            <a:off x="502920" y="3072384"/>
            <a:ext cx="1920240" cy="749808"/>
          </a:xfrm>
          <a:prstGeom prst="roundRect">
            <a:avLst>
              <a:gd name="adj" fmla="val 6000"/>
            </a:avLst>
          </a:prstGeom>
          <a:solidFill>
            <a:srgbClr val="F0F4F6"/>
          </a:solidFill>
          <a:ln w="10160">
            <a:solidFill>
              <a:srgbClr val="D9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 FastAPI"/>
          <p:cNvSpPr txBox="1"/>
          <p:nvPr/>
        </p:nvSpPr>
        <p:spPr>
          <a:xfrm>
            <a:off x="612648" y="3163824"/>
            <a:ext cx="1700784" cy="384048"/>
          </a:xfrm>
          <a:prstGeom prst="rect">
            <a:avLst/>
          </a:prstGeom>
          <a:noFill/>
        </p:spPr>
        <p:txBody>
          <a:bodyPr wrap="none" lIns="0" rIns="0" tIns="0" bIns="0" anchor="t">
            <a:spAutoFit/>
          </a:bodyPr>
          <a:lstStyle/>
          <a:p>
            <a:pPr algn="l">
              <a:lnSpc>
                <a:spcPts val="1593"/>
              </a:lnSpc>
              <a:spcBef>
                <a:spcPts val="0"/>
              </a:spcBef>
              <a:spcAft>
                <a:spcPts val="0"/>
              </a:spcAft>
              <a:defRPr sz="1350" b="1">
                <a:solidFill>
                  <a:srgbClr val="152C40"/>
                </a:solidFill>
                <a:latin typeface="Noto Sans"/>
              </a:defRPr>
            </a:pPr>
            <a:r>
              <a:t>FastAPI</a:t>
            </a:r>
          </a:p>
        </p:txBody>
      </p:sp>
      <p:sp>
        <p:nvSpPr>
          <p:cNvPr id="54" name="TEXT Auth + validation"/>
          <p:cNvSpPr txBox="1"/>
          <p:nvPr/>
        </p:nvSpPr>
        <p:spPr>
          <a:xfrm>
            <a:off x="612648" y="3557015"/>
            <a:ext cx="1700784" cy="237743"/>
          </a:xfrm>
          <a:prstGeom prst="rect">
            <a:avLst/>
          </a:prstGeom>
          <a:noFill/>
        </p:spPr>
        <p:txBody>
          <a:bodyPr wrap="none" lIns="0" rIns="0" tIns="0" bIns="0" anchor="t">
            <a:spAutoFit/>
          </a:bodyPr>
          <a:lstStyle/>
          <a:p>
            <a:pPr algn="l">
              <a:lnSpc>
                <a:spcPts val="1321"/>
              </a:lnSpc>
              <a:spcBef>
                <a:spcPts val="0"/>
              </a:spcBef>
              <a:spcAft>
                <a:spcPts val="0"/>
              </a:spcAft>
              <a:defRPr sz="1120" b="0">
                <a:solidFill>
                  <a:srgbClr val="526675"/>
                </a:solidFill>
                <a:latin typeface="Noto Sans"/>
              </a:defRPr>
            </a:pPr>
            <a:r>
              <a:t>Auth + validation</a:t>
            </a:r>
          </a:p>
        </p:txBody>
      </p:sp>
      <p:sp>
        <p:nvSpPr>
          <p:cNvPr id="55" name="Rounded Rectangle 54"/>
          <p:cNvSpPr/>
          <p:nvPr/>
        </p:nvSpPr>
        <p:spPr>
          <a:xfrm>
            <a:off x="502920" y="4023360"/>
            <a:ext cx="1920240" cy="822960"/>
          </a:xfrm>
          <a:prstGeom prst="roundRect">
            <a:avLst>
              <a:gd name="adj" fmla="val 6000"/>
            </a:avLst>
          </a:prstGeom>
          <a:solidFill>
            <a:srgbClr val="F0F4F6"/>
          </a:solidFill>
          <a:ln w="10160">
            <a:solidFill>
              <a:srgbClr val="D9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 Queue + FFmpeg"/>
          <p:cNvSpPr txBox="1"/>
          <p:nvPr/>
        </p:nvSpPr>
        <p:spPr>
          <a:xfrm>
            <a:off x="612648" y="4114800"/>
            <a:ext cx="1700784" cy="384048"/>
          </a:xfrm>
          <a:prstGeom prst="rect">
            <a:avLst/>
          </a:prstGeom>
          <a:noFill/>
        </p:spPr>
        <p:txBody>
          <a:bodyPr wrap="none" lIns="0" rIns="0" tIns="0" bIns="0" anchor="t">
            <a:spAutoFit/>
          </a:bodyPr>
          <a:lstStyle/>
          <a:p>
            <a:pPr algn="l">
              <a:lnSpc>
                <a:spcPts val="1593"/>
              </a:lnSpc>
              <a:spcBef>
                <a:spcPts val="0"/>
              </a:spcBef>
              <a:spcAft>
                <a:spcPts val="0"/>
              </a:spcAft>
              <a:defRPr sz="1350" b="1">
                <a:solidFill>
                  <a:srgbClr val="152C40"/>
                </a:solidFill>
                <a:latin typeface="Noto Sans"/>
              </a:defRPr>
            </a:pPr>
            <a:r>
              <a:t>Queue + FFmpeg</a:t>
            </a:r>
          </a:p>
        </p:txBody>
      </p:sp>
      <p:sp>
        <p:nvSpPr>
          <p:cNvPr id="57" name="TEXT 1 worker; 16 kHz mono"/>
          <p:cNvSpPr txBox="1"/>
          <p:nvPr/>
        </p:nvSpPr>
        <p:spPr>
          <a:xfrm>
            <a:off x="612648" y="4507992"/>
            <a:ext cx="1700784" cy="310896"/>
          </a:xfrm>
          <a:prstGeom prst="rect">
            <a:avLst/>
          </a:prstGeom>
          <a:noFill/>
        </p:spPr>
        <p:txBody>
          <a:bodyPr wrap="none" lIns="0" rIns="0" tIns="0" bIns="0" anchor="t">
            <a:spAutoFit/>
          </a:bodyPr>
          <a:lstStyle/>
          <a:p>
            <a:pPr algn="l">
              <a:lnSpc>
                <a:spcPts val="1321"/>
              </a:lnSpc>
              <a:spcBef>
                <a:spcPts val="0"/>
              </a:spcBef>
              <a:spcAft>
                <a:spcPts val="0"/>
              </a:spcAft>
              <a:defRPr sz="1120" b="0">
                <a:solidFill>
                  <a:srgbClr val="526675"/>
                </a:solidFill>
                <a:latin typeface="Noto Sans"/>
              </a:defRPr>
            </a:pPr>
            <a:r>
              <a:t>1 worker; 16 kHz mono</a:t>
            </a:r>
          </a:p>
        </p:txBody>
      </p:sp>
      <p:sp>
        <p:nvSpPr>
          <p:cNvPr id="58" name="Rounded Rectangle 57"/>
          <p:cNvSpPr/>
          <p:nvPr/>
        </p:nvSpPr>
        <p:spPr>
          <a:xfrm>
            <a:off x="502920" y="5093208"/>
            <a:ext cx="1920240" cy="713232"/>
          </a:xfrm>
          <a:prstGeom prst="roundRect">
            <a:avLst>
              <a:gd name="adj" fmla="val 6000"/>
            </a:avLst>
          </a:prstGeom>
          <a:solidFill>
            <a:srgbClr val="F0F4F6"/>
          </a:solidFill>
          <a:ln w="10160">
            <a:solidFill>
              <a:srgbClr val="D9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 Optional PPTX"/>
          <p:cNvSpPr txBox="1"/>
          <p:nvPr/>
        </p:nvSpPr>
        <p:spPr>
          <a:xfrm>
            <a:off x="612648" y="5184648"/>
            <a:ext cx="1700784" cy="384048"/>
          </a:xfrm>
          <a:prstGeom prst="rect">
            <a:avLst/>
          </a:prstGeom>
          <a:noFill/>
        </p:spPr>
        <p:txBody>
          <a:bodyPr wrap="none" lIns="0" rIns="0" tIns="0" bIns="0" anchor="t">
            <a:spAutoFit/>
          </a:bodyPr>
          <a:lstStyle/>
          <a:p>
            <a:pPr algn="l">
              <a:lnSpc>
                <a:spcPts val="1593"/>
              </a:lnSpc>
              <a:spcBef>
                <a:spcPts val="0"/>
              </a:spcBef>
              <a:spcAft>
                <a:spcPts val="0"/>
              </a:spcAft>
              <a:defRPr sz="1350" b="1">
                <a:solidFill>
                  <a:srgbClr val="152C40"/>
                </a:solidFill>
                <a:latin typeface="Noto Sans"/>
              </a:defRPr>
            </a:pPr>
            <a:r>
              <a:t>Optional PPTX</a:t>
            </a:r>
          </a:p>
        </p:txBody>
      </p:sp>
      <p:sp>
        <p:nvSpPr>
          <p:cNvPr id="60" name="TEXT Ordered slide files"/>
          <p:cNvSpPr txBox="1"/>
          <p:nvPr/>
        </p:nvSpPr>
        <p:spPr>
          <a:xfrm>
            <a:off x="612648" y="5577840"/>
            <a:ext cx="1700784" cy="201167"/>
          </a:xfrm>
          <a:prstGeom prst="rect">
            <a:avLst/>
          </a:prstGeom>
          <a:noFill/>
        </p:spPr>
        <p:txBody>
          <a:bodyPr wrap="none" lIns="0" rIns="0" tIns="0" bIns="0" anchor="t">
            <a:spAutoFit/>
          </a:bodyPr>
          <a:lstStyle/>
          <a:p>
            <a:pPr algn="l">
              <a:lnSpc>
                <a:spcPts val="1321"/>
              </a:lnSpc>
              <a:spcBef>
                <a:spcPts val="0"/>
              </a:spcBef>
              <a:spcAft>
                <a:spcPts val="0"/>
              </a:spcAft>
              <a:defRPr sz="1120" b="0">
                <a:solidFill>
                  <a:srgbClr val="526675"/>
                </a:solidFill>
                <a:latin typeface="Noto Sans"/>
              </a:defRPr>
            </a:pPr>
            <a:r>
              <a:t>Ordered slide files</a:t>
            </a:r>
          </a:p>
        </p:txBody>
      </p:sp>
      <p:sp>
        <p:nvSpPr>
          <p:cNvPr id="61" name="Rounded Rectangle 60"/>
          <p:cNvSpPr/>
          <p:nvPr/>
        </p:nvSpPr>
        <p:spPr>
          <a:xfrm>
            <a:off x="2697480" y="2240280"/>
            <a:ext cx="1399032" cy="685800"/>
          </a:xfrm>
          <a:prstGeom prst="roundRect">
            <a:avLst>
              <a:gd name="adj" fmla="val 6000"/>
            </a:avLst>
          </a:prstGeom>
          <a:solidFill>
            <a:srgbClr val="E9F5F4"/>
          </a:solidFill>
          <a:ln w="10160">
            <a:solidFill>
              <a:srgbClr val="D9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 ASR + VAD"/>
          <p:cNvSpPr txBox="1"/>
          <p:nvPr/>
        </p:nvSpPr>
        <p:spPr>
          <a:xfrm>
            <a:off x="2807208" y="2331720"/>
            <a:ext cx="1179576" cy="384048"/>
          </a:xfrm>
          <a:prstGeom prst="rect">
            <a:avLst/>
          </a:prstGeom>
          <a:noFill/>
        </p:spPr>
        <p:txBody>
          <a:bodyPr wrap="none" lIns="0" rIns="0" tIns="0" bIns="0" anchor="t">
            <a:spAutoFit/>
          </a:bodyPr>
          <a:lstStyle/>
          <a:p>
            <a:pPr algn="l">
              <a:lnSpc>
                <a:spcPts val="1593"/>
              </a:lnSpc>
              <a:spcBef>
                <a:spcPts val="0"/>
              </a:spcBef>
              <a:spcAft>
                <a:spcPts val="0"/>
              </a:spcAft>
              <a:defRPr sz="1350" b="1">
                <a:solidFill>
                  <a:srgbClr val="152C40"/>
                </a:solidFill>
                <a:latin typeface="Noto Sans"/>
              </a:defRPr>
            </a:pPr>
            <a:r>
              <a:t>ASR + VAD</a:t>
            </a:r>
          </a:p>
        </p:txBody>
      </p:sp>
      <p:sp>
        <p:nvSpPr>
          <p:cNvPr id="63" name="TEXT faster-whisper"/>
          <p:cNvSpPr txBox="1"/>
          <p:nvPr/>
        </p:nvSpPr>
        <p:spPr>
          <a:xfrm>
            <a:off x="2807208" y="2724912"/>
            <a:ext cx="1179576" cy="173735"/>
          </a:xfrm>
          <a:prstGeom prst="rect">
            <a:avLst/>
          </a:prstGeom>
          <a:noFill/>
        </p:spPr>
        <p:txBody>
          <a:bodyPr wrap="none" lIns="0" rIns="0" tIns="0" bIns="0" anchor="t">
            <a:spAutoFit/>
          </a:bodyPr>
          <a:lstStyle/>
          <a:p>
            <a:pPr algn="l">
              <a:lnSpc>
                <a:spcPts val="1321"/>
              </a:lnSpc>
              <a:spcBef>
                <a:spcPts val="0"/>
              </a:spcBef>
              <a:spcAft>
                <a:spcPts val="0"/>
              </a:spcAft>
              <a:defRPr sz="1120" b="0">
                <a:solidFill>
                  <a:srgbClr val="526675"/>
                </a:solidFill>
                <a:latin typeface="Noto Sans"/>
              </a:defRPr>
            </a:pPr>
            <a:r>
              <a:t>faster-whisper</a:t>
            </a:r>
          </a:p>
        </p:txBody>
      </p:sp>
      <p:sp>
        <p:nvSpPr>
          <p:cNvPr id="64" name="Rounded Rectangle 63"/>
          <p:cNvSpPr/>
          <p:nvPr/>
        </p:nvSpPr>
        <p:spPr>
          <a:xfrm>
            <a:off x="4251960" y="2240280"/>
            <a:ext cx="1399032" cy="685800"/>
          </a:xfrm>
          <a:prstGeom prst="roundRect">
            <a:avLst>
              <a:gd name="adj" fmla="val 6000"/>
            </a:avLst>
          </a:prstGeom>
          <a:solidFill>
            <a:srgbClr val="E9F5F4"/>
          </a:solidFill>
          <a:ln w="10160">
            <a:solidFill>
              <a:srgbClr val="D9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 Word cache"/>
          <p:cNvSpPr txBox="1"/>
          <p:nvPr/>
        </p:nvSpPr>
        <p:spPr>
          <a:xfrm>
            <a:off x="4361688" y="2331720"/>
            <a:ext cx="1179576" cy="384048"/>
          </a:xfrm>
          <a:prstGeom prst="rect">
            <a:avLst/>
          </a:prstGeom>
          <a:noFill/>
        </p:spPr>
        <p:txBody>
          <a:bodyPr wrap="none" lIns="0" rIns="0" tIns="0" bIns="0" anchor="t">
            <a:spAutoFit/>
          </a:bodyPr>
          <a:lstStyle/>
          <a:p>
            <a:pPr algn="l">
              <a:lnSpc>
                <a:spcPts val="1593"/>
              </a:lnSpc>
              <a:spcBef>
                <a:spcPts val="0"/>
              </a:spcBef>
              <a:spcAft>
                <a:spcPts val="0"/>
              </a:spcAft>
              <a:defRPr sz="1350" b="1">
                <a:solidFill>
                  <a:srgbClr val="152C40"/>
                </a:solidFill>
                <a:latin typeface="Noto Sans"/>
              </a:defRPr>
            </a:pPr>
            <a:r>
              <a:t>Word cache</a:t>
            </a:r>
          </a:p>
        </p:txBody>
      </p:sp>
      <p:sp>
        <p:nvSpPr>
          <p:cNvPr id="66" name="TEXT Words + times"/>
          <p:cNvSpPr txBox="1"/>
          <p:nvPr/>
        </p:nvSpPr>
        <p:spPr>
          <a:xfrm>
            <a:off x="4361688" y="2724912"/>
            <a:ext cx="1179576" cy="173735"/>
          </a:xfrm>
          <a:prstGeom prst="rect">
            <a:avLst/>
          </a:prstGeom>
          <a:noFill/>
        </p:spPr>
        <p:txBody>
          <a:bodyPr wrap="none" lIns="0" rIns="0" tIns="0" bIns="0" anchor="t">
            <a:spAutoFit/>
          </a:bodyPr>
          <a:lstStyle/>
          <a:p>
            <a:pPr algn="l">
              <a:lnSpc>
                <a:spcPts val="1321"/>
              </a:lnSpc>
              <a:spcBef>
                <a:spcPts val="0"/>
              </a:spcBef>
              <a:spcAft>
                <a:spcPts val="0"/>
              </a:spcAft>
              <a:defRPr sz="1120" b="0">
                <a:solidFill>
                  <a:srgbClr val="526675"/>
                </a:solidFill>
                <a:latin typeface="Noto Sans"/>
              </a:defRPr>
            </a:pPr>
            <a:r>
              <a:t>Words + times</a:t>
            </a:r>
          </a:p>
        </p:txBody>
      </p:sp>
      <p:sp>
        <p:nvSpPr>
          <p:cNvPr id="67" name="Rounded Rectangle 66"/>
          <p:cNvSpPr/>
          <p:nvPr/>
        </p:nvSpPr>
        <p:spPr>
          <a:xfrm>
            <a:off x="2697480" y="3246120"/>
            <a:ext cx="1399032" cy="777240"/>
          </a:xfrm>
          <a:prstGeom prst="roundRect">
            <a:avLst>
              <a:gd name="adj" fmla="val 6000"/>
            </a:avLst>
          </a:prstGeom>
          <a:solidFill>
            <a:srgbClr val="E9F5F4"/>
          </a:solidFill>
          <a:ln w="10160">
            <a:solidFill>
              <a:srgbClr val="D9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 Diarization"/>
          <p:cNvSpPr txBox="1"/>
          <p:nvPr/>
        </p:nvSpPr>
        <p:spPr>
          <a:xfrm>
            <a:off x="2807208" y="3337560"/>
            <a:ext cx="1179576" cy="384048"/>
          </a:xfrm>
          <a:prstGeom prst="rect">
            <a:avLst/>
          </a:prstGeom>
          <a:noFill/>
        </p:spPr>
        <p:txBody>
          <a:bodyPr wrap="none" lIns="0" rIns="0" tIns="0" bIns="0" anchor="t">
            <a:spAutoFit/>
          </a:bodyPr>
          <a:lstStyle/>
          <a:p>
            <a:pPr algn="l">
              <a:lnSpc>
                <a:spcPts val="1593"/>
              </a:lnSpc>
              <a:spcBef>
                <a:spcPts val="0"/>
              </a:spcBef>
              <a:spcAft>
                <a:spcPts val="0"/>
              </a:spcAft>
              <a:defRPr sz="1350" b="1">
                <a:solidFill>
                  <a:srgbClr val="152C40"/>
                </a:solidFill>
                <a:latin typeface="Noto Sans"/>
              </a:defRPr>
            </a:pPr>
            <a:r>
              <a:t>Diarization</a:t>
            </a:r>
          </a:p>
        </p:txBody>
      </p:sp>
      <p:sp>
        <p:nvSpPr>
          <p:cNvPr id="69" name="TEXT Sherpa-ONNX"/>
          <p:cNvSpPr txBox="1"/>
          <p:nvPr/>
        </p:nvSpPr>
        <p:spPr>
          <a:xfrm>
            <a:off x="2807208" y="3730752"/>
            <a:ext cx="1179576" cy="265175"/>
          </a:xfrm>
          <a:prstGeom prst="rect">
            <a:avLst/>
          </a:prstGeom>
          <a:noFill/>
        </p:spPr>
        <p:txBody>
          <a:bodyPr wrap="none" lIns="0" rIns="0" tIns="0" bIns="0" anchor="t">
            <a:spAutoFit/>
          </a:bodyPr>
          <a:lstStyle/>
          <a:p>
            <a:pPr algn="l">
              <a:lnSpc>
                <a:spcPts val="1321"/>
              </a:lnSpc>
              <a:spcBef>
                <a:spcPts val="0"/>
              </a:spcBef>
              <a:spcAft>
                <a:spcPts val="0"/>
              </a:spcAft>
              <a:defRPr sz="1120" b="0">
                <a:solidFill>
                  <a:srgbClr val="526675"/>
                </a:solidFill>
                <a:latin typeface="Noto Sans"/>
              </a:defRPr>
            </a:pPr>
            <a:r>
              <a:t>Sherpa-ONNX</a:t>
            </a:r>
          </a:p>
        </p:txBody>
      </p:sp>
      <p:sp>
        <p:nvSpPr>
          <p:cNvPr id="70" name="Rounded Rectangle 69"/>
          <p:cNvSpPr/>
          <p:nvPr/>
        </p:nvSpPr>
        <p:spPr>
          <a:xfrm>
            <a:off x="4251960" y="3246120"/>
            <a:ext cx="1399032" cy="777240"/>
          </a:xfrm>
          <a:prstGeom prst="roundRect">
            <a:avLst>
              <a:gd name="adj" fmla="val 6000"/>
            </a:avLst>
          </a:prstGeom>
          <a:solidFill>
            <a:srgbClr val="E9F5F4"/>
          </a:solidFill>
          <a:ln w="10160">
            <a:solidFill>
              <a:srgbClr val="D9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 Speakers"/>
          <p:cNvSpPr txBox="1"/>
          <p:nvPr/>
        </p:nvSpPr>
        <p:spPr>
          <a:xfrm>
            <a:off x="4361688" y="3337560"/>
            <a:ext cx="1179576" cy="384048"/>
          </a:xfrm>
          <a:prstGeom prst="rect">
            <a:avLst/>
          </a:prstGeom>
          <a:noFill/>
        </p:spPr>
        <p:txBody>
          <a:bodyPr wrap="none" lIns="0" rIns="0" tIns="0" bIns="0" anchor="t">
            <a:spAutoFit/>
          </a:bodyPr>
          <a:lstStyle/>
          <a:p>
            <a:pPr algn="l">
              <a:lnSpc>
                <a:spcPts val="1593"/>
              </a:lnSpc>
              <a:spcBef>
                <a:spcPts val="0"/>
              </a:spcBef>
              <a:spcAft>
                <a:spcPts val="0"/>
              </a:spcAft>
              <a:defRPr sz="1350" b="1">
                <a:solidFill>
                  <a:srgbClr val="152C40"/>
                </a:solidFill>
                <a:latin typeface="Noto Sans"/>
              </a:defRPr>
            </a:pPr>
            <a:r>
              <a:t>Speakers</a:t>
            </a:r>
          </a:p>
        </p:txBody>
      </p:sp>
      <p:sp>
        <p:nvSpPr>
          <p:cNvPr id="72" name="TEXT Who spoke when"/>
          <p:cNvSpPr txBox="1"/>
          <p:nvPr/>
        </p:nvSpPr>
        <p:spPr>
          <a:xfrm>
            <a:off x="4361688" y="3730752"/>
            <a:ext cx="1179576" cy="265175"/>
          </a:xfrm>
          <a:prstGeom prst="rect">
            <a:avLst/>
          </a:prstGeom>
          <a:noFill/>
        </p:spPr>
        <p:txBody>
          <a:bodyPr wrap="none" lIns="0" rIns="0" tIns="0" bIns="0" anchor="t">
            <a:spAutoFit/>
          </a:bodyPr>
          <a:lstStyle/>
          <a:p>
            <a:pPr algn="l">
              <a:lnSpc>
                <a:spcPts val="1321"/>
              </a:lnSpc>
              <a:spcBef>
                <a:spcPts val="0"/>
              </a:spcBef>
              <a:spcAft>
                <a:spcPts val="0"/>
              </a:spcAft>
              <a:defRPr sz="1120" b="0">
                <a:solidFill>
                  <a:srgbClr val="526675"/>
                </a:solidFill>
                <a:latin typeface="Noto Sans"/>
              </a:defRPr>
            </a:pPr>
            <a:r>
              <a:t>Who spoke when</a:t>
            </a:r>
          </a:p>
        </p:txBody>
      </p:sp>
      <p:sp>
        <p:nvSpPr>
          <p:cNvPr id="73" name="Rounded Rectangle 72"/>
          <p:cNvSpPr/>
          <p:nvPr/>
        </p:nvSpPr>
        <p:spPr>
          <a:xfrm>
            <a:off x="4251960" y="4224528"/>
            <a:ext cx="1399032" cy="713232"/>
          </a:xfrm>
          <a:prstGeom prst="roundRect">
            <a:avLst>
              <a:gd name="adj" fmla="val 6000"/>
            </a:avLst>
          </a:prstGeom>
          <a:solidFill>
            <a:srgbClr val="E9F5F4"/>
          </a:solidFill>
          <a:ln w="10160">
            <a:solidFill>
              <a:srgbClr val="D9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 Attribution"/>
          <p:cNvSpPr txBox="1"/>
          <p:nvPr/>
        </p:nvSpPr>
        <p:spPr>
          <a:xfrm>
            <a:off x="4361688" y="4315968"/>
            <a:ext cx="1179576" cy="384048"/>
          </a:xfrm>
          <a:prstGeom prst="rect">
            <a:avLst/>
          </a:prstGeom>
          <a:noFill/>
        </p:spPr>
        <p:txBody>
          <a:bodyPr wrap="none" lIns="0" rIns="0" tIns="0" bIns="0" anchor="t">
            <a:spAutoFit/>
          </a:bodyPr>
          <a:lstStyle/>
          <a:p>
            <a:pPr algn="l">
              <a:lnSpc>
                <a:spcPts val="1593"/>
              </a:lnSpc>
              <a:spcBef>
                <a:spcPts val="0"/>
              </a:spcBef>
              <a:spcAft>
                <a:spcPts val="0"/>
              </a:spcAft>
              <a:defRPr sz="1350" b="1">
                <a:solidFill>
                  <a:srgbClr val="152C40"/>
                </a:solidFill>
                <a:latin typeface="Noto Sans"/>
              </a:defRPr>
            </a:pPr>
            <a:r>
              <a:t>Attribution</a:t>
            </a:r>
          </a:p>
        </p:txBody>
      </p:sp>
      <p:sp>
        <p:nvSpPr>
          <p:cNvPr id="75" name="TEXT Tagged words"/>
          <p:cNvSpPr txBox="1"/>
          <p:nvPr/>
        </p:nvSpPr>
        <p:spPr>
          <a:xfrm>
            <a:off x="4361688" y="4709160"/>
            <a:ext cx="1179576" cy="201167"/>
          </a:xfrm>
          <a:prstGeom prst="rect">
            <a:avLst/>
          </a:prstGeom>
          <a:noFill/>
        </p:spPr>
        <p:txBody>
          <a:bodyPr wrap="none" lIns="0" rIns="0" tIns="0" bIns="0" anchor="t">
            <a:spAutoFit/>
          </a:bodyPr>
          <a:lstStyle/>
          <a:p>
            <a:pPr algn="l">
              <a:lnSpc>
                <a:spcPts val="1321"/>
              </a:lnSpc>
              <a:spcBef>
                <a:spcPts val="0"/>
              </a:spcBef>
              <a:spcAft>
                <a:spcPts val="0"/>
              </a:spcAft>
              <a:defRPr sz="1120" b="0">
                <a:solidFill>
                  <a:srgbClr val="526675"/>
                </a:solidFill>
                <a:latin typeface="Noto Sans"/>
              </a:defRPr>
            </a:pPr>
            <a:r>
              <a:t>Tagged words</a:t>
            </a:r>
          </a:p>
        </p:txBody>
      </p:sp>
      <p:sp>
        <p:nvSpPr>
          <p:cNvPr id="76" name="Rounded Rectangle 75"/>
          <p:cNvSpPr/>
          <p:nvPr/>
        </p:nvSpPr>
        <p:spPr>
          <a:xfrm>
            <a:off x="2697480" y="5093208"/>
            <a:ext cx="1399032" cy="713232"/>
          </a:xfrm>
          <a:prstGeom prst="roundRect">
            <a:avLst>
              <a:gd name="adj" fmla="val 6000"/>
            </a:avLst>
          </a:prstGeom>
          <a:solidFill>
            <a:srgbClr val="F0F4F6"/>
          </a:solidFill>
          <a:ln w="10160">
            <a:solidFill>
              <a:srgbClr val="D9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 Slide parsing"/>
          <p:cNvSpPr txBox="1"/>
          <p:nvPr/>
        </p:nvSpPr>
        <p:spPr>
          <a:xfrm>
            <a:off x="2807208" y="5184648"/>
            <a:ext cx="1179576" cy="384048"/>
          </a:xfrm>
          <a:prstGeom prst="rect">
            <a:avLst/>
          </a:prstGeom>
          <a:noFill/>
        </p:spPr>
        <p:txBody>
          <a:bodyPr wrap="none" lIns="0" rIns="0" tIns="0" bIns="0" anchor="t">
            <a:spAutoFit/>
          </a:bodyPr>
          <a:lstStyle/>
          <a:p>
            <a:pPr algn="l">
              <a:lnSpc>
                <a:spcPts val="1593"/>
              </a:lnSpc>
              <a:spcBef>
                <a:spcPts val="0"/>
              </a:spcBef>
              <a:spcAft>
                <a:spcPts val="0"/>
              </a:spcAft>
              <a:defRPr sz="1350" b="1">
                <a:solidFill>
                  <a:srgbClr val="152C40"/>
                </a:solidFill>
                <a:latin typeface="Noto Sans"/>
              </a:defRPr>
            </a:pPr>
            <a:r>
              <a:t>Slide parsing</a:t>
            </a:r>
          </a:p>
        </p:txBody>
      </p:sp>
      <p:sp>
        <p:nvSpPr>
          <p:cNvPr id="78" name="TEXT Text/tables/notes"/>
          <p:cNvSpPr txBox="1"/>
          <p:nvPr/>
        </p:nvSpPr>
        <p:spPr>
          <a:xfrm>
            <a:off x="2807208" y="5577840"/>
            <a:ext cx="1179576" cy="201167"/>
          </a:xfrm>
          <a:prstGeom prst="rect">
            <a:avLst/>
          </a:prstGeom>
          <a:noFill/>
        </p:spPr>
        <p:txBody>
          <a:bodyPr wrap="none" lIns="0" rIns="0" tIns="0" bIns="0" anchor="t">
            <a:spAutoFit/>
          </a:bodyPr>
          <a:lstStyle/>
          <a:p>
            <a:pPr algn="l">
              <a:lnSpc>
                <a:spcPts val="1321"/>
              </a:lnSpc>
              <a:spcBef>
                <a:spcPts val="0"/>
              </a:spcBef>
              <a:spcAft>
                <a:spcPts val="0"/>
              </a:spcAft>
              <a:defRPr sz="1120" b="0">
                <a:solidFill>
                  <a:srgbClr val="526675"/>
                </a:solidFill>
                <a:latin typeface="Noto Sans"/>
              </a:defRPr>
            </a:pPr>
            <a:r>
              <a:t>Text/tables/notes</a:t>
            </a:r>
          </a:p>
        </p:txBody>
      </p:sp>
      <p:sp>
        <p:nvSpPr>
          <p:cNvPr id="79" name="Rounded Rectangle 78"/>
          <p:cNvSpPr/>
          <p:nvPr/>
        </p:nvSpPr>
        <p:spPr>
          <a:xfrm>
            <a:off x="4251960" y="5093208"/>
            <a:ext cx="1399032" cy="713232"/>
          </a:xfrm>
          <a:prstGeom prst="roundRect">
            <a:avLst>
              <a:gd name="adj" fmla="val 6000"/>
            </a:avLst>
          </a:prstGeom>
          <a:solidFill>
            <a:srgbClr val="F0F4F6"/>
          </a:solidFill>
          <a:ln w="10160">
            <a:solidFill>
              <a:srgbClr val="D9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 Align or skip"/>
          <p:cNvSpPr txBox="1"/>
          <p:nvPr/>
        </p:nvSpPr>
        <p:spPr>
          <a:xfrm>
            <a:off x="4361688" y="5184648"/>
            <a:ext cx="1179576" cy="384048"/>
          </a:xfrm>
          <a:prstGeom prst="rect">
            <a:avLst/>
          </a:prstGeom>
          <a:noFill/>
        </p:spPr>
        <p:txBody>
          <a:bodyPr wrap="none" lIns="0" rIns="0" tIns="0" bIns="0" anchor="t">
            <a:spAutoFit/>
          </a:bodyPr>
          <a:lstStyle/>
          <a:p>
            <a:pPr algn="l">
              <a:lnSpc>
                <a:spcPts val="1593"/>
              </a:lnSpc>
              <a:spcBef>
                <a:spcPts val="0"/>
              </a:spcBef>
              <a:spcAft>
                <a:spcPts val="0"/>
              </a:spcAft>
              <a:defRPr sz="1350" b="1">
                <a:solidFill>
                  <a:srgbClr val="152C40"/>
                </a:solidFill>
                <a:latin typeface="Noto Sans"/>
              </a:defRPr>
            </a:pPr>
            <a:r>
              <a:t>Align or skip</a:t>
            </a:r>
          </a:p>
        </p:txBody>
      </p:sp>
      <p:sp>
        <p:nvSpPr>
          <p:cNvPr id="81" name="TEXT MiniLM / TF-IDF"/>
          <p:cNvSpPr txBox="1"/>
          <p:nvPr/>
        </p:nvSpPr>
        <p:spPr>
          <a:xfrm>
            <a:off x="4361688" y="5577840"/>
            <a:ext cx="1179576" cy="201167"/>
          </a:xfrm>
          <a:prstGeom prst="rect">
            <a:avLst/>
          </a:prstGeom>
          <a:noFill/>
        </p:spPr>
        <p:txBody>
          <a:bodyPr wrap="none" lIns="0" rIns="0" tIns="0" bIns="0" anchor="t">
            <a:spAutoFit/>
          </a:bodyPr>
          <a:lstStyle/>
          <a:p>
            <a:pPr algn="l">
              <a:lnSpc>
                <a:spcPts val="1321"/>
              </a:lnSpc>
              <a:spcBef>
                <a:spcPts val="0"/>
              </a:spcBef>
              <a:spcAft>
                <a:spcPts val="0"/>
              </a:spcAft>
              <a:defRPr sz="1120" b="0">
                <a:solidFill>
                  <a:srgbClr val="526675"/>
                </a:solidFill>
                <a:latin typeface="Noto Sans"/>
              </a:defRPr>
            </a:pPr>
            <a:r>
              <a:t>MiniLM / TF-IDF</a:t>
            </a:r>
          </a:p>
        </p:txBody>
      </p:sp>
      <p:sp>
        <p:nvSpPr>
          <p:cNvPr id="82" name="Rounded Rectangle 81"/>
          <p:cNvSpPr/>
          <p:nvPr/>
        </p:nvSpPr>
        <p:spPr>
          <a:xfrm>
            <a:off x="5989320" y="2240280"/>
            <a:ext cx="2834640" cy="960120"/>
          </a:xfrm>
          <a:prstGeom prst="roundRect">
            <a:avLst>
              <a:gd name="adj" fmla="val 6000"/>
            </a:avLst>
          </a:prstGeom>
          <a:solidFill>
            <a:srgbClr val="FBEEF1"/>
          </a:solidFill>
          <a:ln w="10160">
            <a:solidFill>
              <a:srgbClr val="D9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 Learned English review"/>
          <p:cNvSpPr txBox="1"/>
          <p:nvPr/>
        </p:nvSpPr>
        <p:spPr>
          <a:xfrm>
            <a:off x="6099048" y="2331720"/>
            <a:ext cx="2615184" cy="384048"/>
          </a:xfrm>
          <a:prstGeom prst="rect">
            <a:avLst/>
          </a:prstGeom>
          <a:noFill/>
        </p:spPr>
        <p:txBody>
          <a:bodyPr wrap="none" lIns="0" rIns="0" tIns="0" bIns="0" anchor="t">
            <a:spAutoFit/>
          </a:bodyPr>
          <a:lstStyle/>
          <a:p>
            <a:pPr algn="l">
              <a:lnSpc>
                <a:spcPts val="1593"/>
              </a:lnSpc>
              <a:spcBef>
                <a:spcPts val="0"/>
              </a:spcBef>
              <a:spcAft>
                <a:spcPts val="0"/>
              </a:spcAft>
              <a:defRPr sz="1350" b="1">
                <a:solidFill>
                  <a:srgbClr val="152C40"/>
                </a:solidFill>
                <a:latin typeface="Noto Sans"/>
              </a:defRPr>
            </a:pPr>
            <a:r>
              <a:t>Learned English review</a:t>
            </a:r>
          </a:p>
        </p:txBody>
      </p:sp>
      <p:sp>
        <p:nvSpPr>
          <p:cNvPr id="84" name="TEXT TF-IDF → 75% forest + 25% linear&#10;Smooth "/>
          <p:cNvSpPr txBox="1"/>
          <p:nvPr/>
        </p:nvSpPr>
        <p:spPr>
          <a:xfrm>
            <a:off x="6099048" y="2724912"/>
            <a:ext cx="2615184" cy="448056"/>
          </a:xfrm>
          <a:prstGeom prst="rect">
            <a:avLst/>
          </a:prstGeom>
          <a:noFill/>
        </p:spPr>
        <p:txBody>
          <a:bodyPr wrap="none" lIns="0" rIns="0" tIns="0" bIns="0" anchor="t">
            <a:spAutoFit/>
          </a:bodyPr>
          <a:lstStyle/>
          <a:p>
            <a:pPr algn="l">
              <a:lnSpc>
                <a:spcPts val="1321"/>
              </a:lnSpc>
              <a:spcBef>
                <a:spcPts val="0"/>
              </a:spcBef>
              <a:spcAft>
                <a:spcPts val="0"/>
              </a:spcAft>
              <a:defRPr sz="1120" b="0">
                <a:solidFill>
                  <a:srgbClr val="526675"/>
                </a:solidFill>
                <a:latin typeface="Noto Sans"/>
              </a:defRPr>
            </a:pPr>
            <a:r>
              <a:t>TF-IDF → 75% forest + 25% linear</a:t>
            </a:r>
          </a:p>
          <a:p>
            <a:pPr algn="l">
              <a:lnSpc>
                <a:spcPts val="1321"/>
              </a:lnSpc>
              <a:spcBef>
                <a:spcPts val="0"/>
              </a:spcBef>
              <a:spcAft>
                <a:spcPts val="0"/>
              </a:spcAft>
              <a:defRPr sz="1120" b="0">
                <a:solidFill>
                  <a:srgbClr val="526675"/>
                </a:solidFill>
                <a:latin typeface="Noto Sans"/>
              </a:defRPr>
            </a:pPr>
            <a:r>
              <a:t>Smooth → threshold → suggestions</a:t>
            </a:r>
          </a:p>
        </p:txBody>
      </p:sp>
      <p:sp>
        <p:nvSpPr>
          <p:cNvPr id="85" name="Rounded Rectangle 84"/>
          <p:cNvSpPr/>
          <p:nvPr/>
        </p:nvSpPr>
        <p:spPr>
          <a:xfrm>
            <a:off x="5989320" y="3337560"/>
            <a:ext cx="2834640" cy="704088"/>
          </a:xfrm>
          <a:prstGeom prst="roundRect">
            <a:avLst>
              <a:gd name="adj" fmla="val 6000"/>
            </a:avLst>
          </a:prstGeom>
          <a:solidFill>
            <a:srgbClr val="F0F4F6"/>
          </a:solidFill>
          <a:ln w="10160">
            <a:solidFill>
              <a:srgbClr val="D9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 Event rules → evidence"/>
          <p:cNvSpPr txBox="1"/>
          <p:nvPr/>
        </p:nvSpPr>
        <p:spPr>
          <a:xfrm>
            <a:off x="6099048" y="3429000"/>
            <a:ext cx="2615184" cy="384048"/>
          </a:xfrm>
          <a:prstGeom prst="rect">
            <a:avLst/>
          </a:prstGeom>
          <a:noFill/>
        </p:spPr>
        <p:txBody>
          <a:bodyPr wrap="none" lIns="0" rIns="0" tIns="0" bIns="0" anchor="t">
            <a:spAutoFit/>
          </a:bodyPr>
          <a:lstStyle/>
          <a:p>
            <a:pPr algn="l">
              <a:lnSpc>
                <a:spcPts val="1593"/>
              </a:lnSpc>
              <a:spcBef>
                <a:spcPts val="0"/>
              </a:spcBef>
              <a:spcAft>
                <a:spcPts val="0"/>
              </a:spcAft>
              <a:defRPr sz="1350" b="1">
                <a:solidFill>
                  <a:srgbClr val="152C40"/>
                </a:solidFill>
                <a:latin typeface="Noto Sans"/>
              </a:defRPr>
            </a:pPr>
            <a:r>
              <a:t>Event rules → evidence</a:t>
            </a:r>
          </a:p>
        </p:txBody>
      </p:sp>
      <p:sp>
        <p:nvSpPr>
          <p:cNvPr id="87" name="TEXT Proposals / questions / agreements"/>
          <p:cNvSpPr txBox="1"/>
          <p:nvPr/>
        </p:nvSpPr>
        <p:spPr>
          <a:xfrm>
            <a:off x="6099048" y="3822191"/>
            <a:ext cx="2615184" cy="192023"/>
          </a:xfrm>
          <a:prstGeom prst="rect">
            <a:avLst/>
          </a:prstGeom>
          <a:noFill/>
        </p:spPr>
        <p:txBody>
          <a:bodyPr wrap="none" lIns="0" rIns="0" tIns="0" bIns="0" anchor="t">
            <a:spAutoFit/>
          </a:bodyPr>
          <a:lstStyle/>
          <a:p>
            <a:pPr algn="l">
              <a:lnSpc>
                <a:spcPts val="1321"/>
              </a:lnSpc>
              <a:spcBef>
                <a:spcPts val="0"/>
              </a:spcBef>
              <a:spcAft>
                <a:spcPts val="0"/>
              </a:spcAft>
              <a:defRPr sz="1120" b="0">
                <a:solidFill>
                  <a:srgbClr val="526675"/>
                </a:solidFill>
                <a:latin typeface="Noto Sans"/>
              </a:defRPr>
            </a:pPr>
            <a:r>
              <a:t>Proposals / questions / agreements</a:t>
            </a:r>
          </a:p>
        </p:txBody>
      </p:sp>
      <p:sp>
        <p:nvSpPr>
          <p:cNvPr id="88" name="Rounded Rectangle 87"/>
          <p:cNvSpPr/>
          <p:nvPr/>
        </p:nvSpPr>
        <p:spPr>
          <a:xfrm>
            <a:off x="5989320" y="4251960"/>
            <a:ext cx="2834640" cy="731520"/>
          </a:xfrm>
          <a:prstGeom prst="roundRect">
            <a:avLst>
              <a:gd name="adj" fmla="val 6000"/>
            </a:avLst>
          </a:prstGeom>
          <a:solidFill>
            <a:srgbClr val="F0F4F6"/>
          </a:solidFill>
          <a:ln w="10160">
            <a:solidFill>
              <a:srgbClr val="D9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 Decisions → interactions"/>
          <p:cNvSpPr txBox="1"/>
          <p:nvPr/>
        </p:nvSpPr>
        <p:spPr>
          <a:xfrm>
            <a:off x="6099048" y="4343400"/>
            <a:ext cx="2615184" cy="384048"/>
          </a:xfrm>
          <a:prstGeom prst="rect">
            <a:avLst/>
          </a:prstGeom>
          <a:noFill/>
        </p:spPr>
        <p:txBody>
          <a:bodyPr wrap="none" lIns="0" rIns="0" tIns="0" bIns="0" anchor="t">
            <a:spAutoFit/>
          </a:bodyPr>
          <a:lstStyle/>
          <a:p>
            <a:pPr algn="l">
              <a:lnSpc>
                <a:spcPts val="1593"/>
              </a:lnSpc>
              <a:spcBef>
                <a:spcPts val="0"/>
              </a:spcBef>
              <a:spcAft>
                <a:spcPts val="0"/>
              </a:spcAft>
              <a:defRPr sz="1350" b="1">
                <a:solidFill>
                  <a:srgbClr val="152C40"/>
                </a:solidFill>
                <a:latin typeface="Noto Sans"/>
              </a:defRPr>
            </a:pPr>
            <a:r>
              <a:t>Decisions → interactions</a:t>
            </a:r>
          </a:p>
        </p:txBody>
      </p:sp>
      <p:sp>
        <p:nvSpPr>
          <p:cNvPr id="90" name="TEXT Source anchors and relationships"/>
          <p:cNvSpPr txBox="1"/>
          <p:nvPr/>
        </p:nvSpPr>
        <p:spPr>
          <a:xfrm>
            <a:off x="6099048" y="4736592"/>
            <a:ext cx="2615184" cy="219456"/>
          </a:xfrm>
          <a:prstGeom prst="rect">
            <a:avLst/>
          </a:prstGeom>
          <a:noFill/>
        </p:spPr>
        <p:txBody>
          <a:bodyPr wrap="none" lIns="0" rIns="0" tIns="0" bIns="0" anchor="t">
            <a:spAutoFit/>
          </a:bodyPr>
          <a:lstStyle/>
          <a:p>
            <a:pPr algn="l">
              <a:lnSpc>
                <a:spcPts val="1321"/>
              </a:lnSpc>
              <a:spcBef>
                <a:spcPts val="0"/>
              </a:spcBef>
              <a:spcAft>
                <a:spcPts val="0"/>
              </a:spcAft>
              <a:defRPr sz="1120" b="0">
                <a:solidFill>
                  <a:srgbClr val="526675"/>
                </a:solidFill>
                <a:latin typeface="Noto Sans"/>
              </a:defRPr>
            </a:pPr>
            <a:r>
              <a:t>Source anchors and relationships</a:t>
            </a:r>
          </a:p>
        </p:txBody>
      </p:sp>
      <p:sp>
        <p:nvSpPr>
          <p:cNvPr id="91" name="Rounded Rectangle 90"/>
          <p:cNvSpPr/>
          <p:nvPr/>
        </p:nvSpPr>
        <p:spPr>
          <a:xfrm>
            <a:off x="5989320" y="5184648"/>
            <a:ext cx="2834640" cy="713232"/>
          </a:xfrm>
          <a:prstGeom prst="roundRect">
            <a:avLst>
              <a:gd name="adj" fmla="val 6000"/>
            </a:avLst>
          </a:prstGeom>
          <a:solidFill>
            <a:srgbClr val="FFF3E2"/>
          </a:solidFill>
          <a:ln w="10160">
            <a:solidFill>
              <a:srgbClr val="D9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 Exploratory influence"/>
          <p:cNvSpPr txBox="1"/>
          <p:nvPr/>
        </p:nvSpPr>
        <p:spPr>
          <a:xfrm>
            <a:off x="6099048" y="5276088"/>
            <a:ext cx="2615184" cy="384048"/>
          </a:xfrm>
          <a:prstGeom prst="rect">
            <a:avLst/>
          </a:prstGeom>
          <a:noFill/>
        </p:spPr>
        <p:txBody>
          <a:bodyPr wrap="none" lIns="0" rIns="0" tIns="0" bIns="0" anchor="t">
            <a:spAutoFit/>
          </a:bodyPr>
          <a:lstStyle/>
          <a:p>
            <a:pPr algn="l">
              <a:lnSpc>
                <a:spcPts val="1593"/>
              </a:lnSpc>
              <a:spcBef>
                <a:spcPts val="0"/>
              </a:spcBef>
              <a:spcAft>
                <a:spcPts val="0"/>
              </a:spcAft>
              <a:defRPr sz="1350" b="1">
                <a:solidFill>
                  <a:srgbClr val="152C40"/>
                </a:solidFill>
                <a:latin typeface="Noto Sans"/>
              </a:defRPr>
            </a:pPr>
            <a:r>
              <a:t>Exploratory influence</a:t>
            </a:r>
          </a:p>
        </p:txBody>
      </p:sp>
      <p:sp>
        <p:nvSpPr>
          <p:cNvPr id="93" name="TEXT Unvalidated heuristic"/>
          <p:cNvSpPr txBox="1"/>
          <p:nvPr/>
        </p:nvSpPr>
        <p:spPr>
          <a:xfrm>
            <a:off x="6099048" y="5669280"/>
            <a:ext cx="2615184" cy="201167"/>
          </a:xfrm>
          <a:prstGeom prst="rect">
            <a:avLst/>
          </a:prstGeom>
          <a:noFill/>
        </p:spPr>
        <p:txBody>
          <a:bodyPr wrap="none" lIns="0" rIns="0" tIns="0" bIns="0" anchor="t">
            <a:spAutoFit/>
          </a:bodyPr>
          <a:lstStyle/>
          <a:p>
            <a:pPr algn="l">
              <a:lnSpc>
                <a:spcPts val="1321"/>
              </a:lnSpc>
              <a:spcBef>
                <a:spcPts val="0"/>
              </a:spcBef>
              <a:spcAft>
                <a:spcPts val="0"/>
              </a:spcAft>
              <a:defRPr sz="1120" b="0">
                <a:solidFill>
                  <a:srgbClr val="526675"/>
                </a:solidFill>
                <a:latin typeface="Noto Sans"/>
              </a:defRPr>
            </a:pPr>
            <a:r>
              <a:t>Unvalidated heuristic</a:t>
            </a:r>
          </a:p>
        </p:txBody>
      </p:sp>
      <p:sp>
        <p:nvSpPr>
          <p:cNvPr id="94" name="Rounded Rectangle 93"/>
          <p:cNvSpPr/>
          <p:nvPr/>
        </p:nvSpPr>
        <p:spPr>
          <a:xfrm>
            <a:off x="9144000" y="2240280"/>
            <a:ext cx="2514600" cy="1097280"/>
          </a:xfrm>
          <a:prstGeom prst="roundRect">
            <a:avLst>
              <a:gd name="adj" fmla="val 6000"/>
            </a:avLst>
          </a:prstGeom>
          <a:solidFill>
            <a:srgbClr val="E9F5F4"/>
          </a:solidFill>
          <a:ln w="10160">
            <a:solidFill>
              <a:srgbClr val="D9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 Report builder"/>
          <p:cNvSpPr txBox="1"/>
          <p:nvPr/>
        </p:nvSpPr>
        <p:spPr>
          <a:xfrm>
            <a:off x="9253728" y="2331720"/>
            <a:ext cx="2295144" cy="384048"/>
          </a:xfrm>
          <a:prstGeom prst="rect">
            <a:avLst/>
          </a:prstGeom>
          <a:noFill/>
        </p:spPr>
        <p:txBody>
          <a:bodyPr wrap="none" lIns="0" rIns="0" tIns="0" bIns="0" anchor="t">
            <a:spAutoFit/>
          </a:bodyPr>
          <a:lstStyle/>
          <a:p>
            <a:pPr algn="l">
              <a:lnSpc>
                <a:spcPts val="1593"/>
              </a:lnSpc>
              <a:spcBef>
                <a:spcPts val="0"/>
              </a:spcBef>
              <a:spcAft>
                <a:spcPts val="0"/>
              </a:spcAft>
              <a:defRPr sz="1350" b="1">
                <a:solidFill>
                  <a:srgbClr val="152C40"/>
                </a:solidFill>
                <a:latin typeface="Noto Sans"/>
              </a:defRPr>
            </a:pPr>
            <a:r>
              <a:t>Report builder</a:t>
            </a:r>
          </a:p>
        </p:txBody>
      </p:sp>
      <p:sp>
        <p:nvSpPr>
          <p:cNvPr id="96" name="TEXT Suggestions + rule outputs&#10;Source IDs st"/>
          <p:cNvSpPr txBox="1"/>
          <p:nvPr/>
        </p:nvSpPr>
        <p:spPr>
          <a:xfrm>
            <a:off x="9253728" y="2724912"/>
            <a:ext cx="2295144" cy="585215"/>
          </a:xfrm>
          <a:prstGeom prst="rect">
            <a:avLst/>
          </a:prstGeom>
          <a:noFill/>
        </p:spPr>
        <p:txBody>
          <a:bodyPr wrap="none" lIns="0" rIns="0" tIns="0" bIns="0" anchor="t">
            <a:spAutoFit/>
          </a:bodyPr>
          <a:lstStyle/>
          <a:p>
            <a:pPr algn="l">
              <a:lnSpc>
                <a:spcPts val="1321"/>
              </a:lnSpc>
              <a:spcBef>
                <a:spcPts val="0"/>
              </a:spcBef>
              <a:spcAft>
                <a:spcPts val="0"/>
              </a:spcAft>
              <a:defRPr sz="1120" b="0">
                <a:solidFill>
                  <a:srgbClr val="526675"/>
                </a:solidFill>
                <a:latin typeface="Noto Sans"/>
              </a:defRPr>
            </a:pPr>
            <a:r>
              <a:t>Suggestions + rule outputs</a:t>
            </a:r>
          </a:p>
          <a:p>
            <a:pPr algn="l">
              <a:lnSpc>
                <a:spcPts val="1321"/>
              </a:lnSpc>
              <a:spcBef>
                <a:spcPts val="0"/>
              </a:spcBef>
              <a:spcAft>
                <a:spcPts val="0"/>
              </a:spcAft>
              <a:defRPr sz="1120" b="0">
                <a:solidFill>
                  <a:srgbClr val="526675"/>
                </a:solidFill>
                <a:latin typeface="Noto Sans"/>
              </a:defRPr>
            </a:pPr>
            <a:r>
              <a:t>Source IDs stay attached</a:t>
            </a:r>
          </a:p>
        </p:txBody>
      </p:sp>
      <p:sp>
        <p:nvSpPr>
          <p:cNvPr id="97" name="Rounded Rectangle 96"/>
          <p:cNvSpPr/>
          <p:nvPr/>
        </p:nvSpPr>
        <p:spPr>
          <a:xfrm>
            <a:off x="9144000" y="3566160"/>
            <a:ext cx="2514600" cy="795528"/>
          </a:xfrm>
          <a:prstGeom prst="roundRect">
            <a:avLst>
              <a:gd name="adj" fmla="val 6000"/>
            </a:avLst>
          </a:prstGeom>
          <a:solidFill>
            <a:srgbClr val="F0F4F6"/>
          </a:solidFill>
          <a:ln w="10160">
            <a:solidFill>
              <a:srgbClr val="D9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 Local persistence"/>
          <p:cNvSpPr txBox="1"/>
          <p:nvPr/>
        </p:nvSpPr>
        <p:spPr>
          <a:xfrm>
            <a:off x="9253728" y="3657600"/>
            <a:ext cx="2295144" cy="384048"/>
          </a:xfrm>
          <a:prstGeom prst="rect">
            <a:avLst/>
          </a:prstGeom>
          <a:noFill/>
        </p:spPr>
        <p:txBody>
          <a:bodyPr wrap="none" lIns="0" rIns="0" tIns="0" bIns="0" anchor="t">
            <a:spAutoFit/>
          </a:bodyPr>
          <a:lstStyle/>
          <a:p>
            <a:pPr algn="l">
              <a:lnSpc>
                <a:spcPts val="1593"/>
              </a:lnSpc>
              <a:spcBef>
                <a:spcPts val="0"/>
              </a:spcBef>
              <a:spcAft>
                <a:spcPts val="0"/>
              </a:spcAft>
              <a:defRPr sz="1350" b="1">
                <a:solidFill>
                  <a:srgbClr val="152C40"/>
                </a:solidFill>
                <a:latin typeface="Noto Sans"/>
              </a:defRPr>
            </a:pPr>
            <a:r>
              <a:t>Local persistence</a:t>
            </a:r>
          </a:p>
        </p:txBody>
      </p:sp>
      <p:sp>
        <p:nvSpPr>
          <p:cNvPr id="99" name="TEXT SQLite reports + file artifacts"/>
          <p:cNvSpPr txBox="1"/>
          <p:nvPr/>
        </p:nvSpPr>
        <p:spPr>
          <a:xfrm>
            <a:off x="9253728" y="4050791"/>
            <a:ext cx="2295144" cy="283463"/>
          </a:xfrm>
          <a:prstGeom prst="rect">
            <a:avLst/>
          </a:prstGeom>
          <a:noFill/>
        </p:spPr>
        <p:txBody>
          <a:bodyPr wrap="none" lIns="0" rIns="0" tIns="0" bIns="0" anchor="t">
            <a:spAutoFit/>
          </a:bodyPr>
          <a:lstStyle/>
          <a:p>
            <a:pPr algn="l">
              <a:lnSpc>
                <a:spcPts val="1321"/>
              </a:lnSpc>
              <a:spcBef>
                <a:spcPts val="0"/>
              </a:spcBef>
              <a:spcAft>
                <a:spcPts val="0"/>
              </a:spcAft>
              <a:defRPr sz="1120" b="0">
                <a:solidFill>
                  <a:srgbClr val="526675"/>
                </a:solidFill>
                <a:latin typeface="Noto Sans"/>
              </a:defRPr>
            </a:pPr>
            <a:r>
              <a:t>SQLite reports + file artifacts</a:t>
            </a:r>
          </a:p>
        </p:txBody>
      </p:sp>
      <p:sp>
        <p:nvSpPr>
          <p:cNvPr id="100" name="Rounded Rectangle 99"/>
          <p:cNvSpPr/>
          <p:nvPr/>
        </p:nvSpPr>
        <p:spPr>
          <a:xfrm>
            <a:off x="9144000" y="4599432"/>
            <a:ext cx="2514600" cy="1188720"/>
          </a:xfrm>
          <a:prstGeom prst="roundRect">
            <a:avLst>
              <a:gd name="adj" fmla="val 6000"/>
            </a:avLst>
          </a:prstGeom>
          <a:solidFill>
            <a:srgbClr val="E9F5F4"/>
          </a:solidFill>
          <a:ln w="10160">
            <a:solidFill>
              <a:srgbClr val="D9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 Review + exports"/>
          <p:cNvSpPr txBox="1"/>
          <p:nvPr/>
        </p:nvSpPr>
        <p:spPr>
          <a:xfrm>
            <a:off x="9253728" y="4690872"/>
            <a:ext cx="2295144" cy="384048"/>
          </a:xfrm>
          <a:prstGeom prst="rect">
            <a:avLst/>
          </a:prstGeom>
          <a:noFill/>
        </p:spPr>
        <p:txBody>
          <a:bodyPr wrap="none" lIns="0" rIns="0" tIns="0" bIns="0" anchor="t">
            <a:spAutoFit/>
          </a:bodyPr>
          <a:lstStyle/>
          <a:p>
            <a:pPr algn="l">
              <a:lnSpc>
                <a:spcPts val="1593"/>
              </a:lnSpc>
              <a:spcBef>
                <a:spcPts val="0"/>
              </a:spcBef>
              <a:spcAft>
                <a:spcPts val="0"/>
              </a:spcAft>
              <a:defRPr sz="1350" b="1">
                <a:solidFill>
                  <a:srgbClr val="152C40"/>
                </a:solidFill>
                <a:latin typeface="Noto Sans"/>
              </a:defRPr>
            </a:pPr>
            <a:r>
              <a:t>Review + exports</a:t>
            </a:r>
          </a:p>
        </p:txBody>
      </p:sp>
      <p:sp>
        <p:nvSpPr>
          <p:cNvPr id="102" name="TEXT Listen • labels • evidence&#10;JSON / MD / H"/>
          <p:cNvSpPr txBox="1"/>
          <p:nvPr/>
        </p:nvSpPr>
        <p:spPr>
          <a:xfrm>
            <a:off x="9253728" y="5084064"/>
            <a:ext cx="2295144" cy="676656"/>
          </a:xfrm>
          <a:prstGeom prst="rect">
            <a:avLst/>
          </a:prstGeom>
          <a:noFill/>
        </p:spPr>
        <p:txBody>
          <a:bodyPr wrap="none" lIns="0" rIns="0" tIns="0" bIns="0" anchor="t">
            <a:spAutoFit/>
          </a:bodyPr>
          <a:lstStyle/>
          <a:p>
            <a:pPr algn="l">
              <a:lnSpc>
                <a:spcPts val="1321"/>
              </a:lnSpc>
              <a:spcBef>
                <a:spcPts val="0"/>
              </a:spcBef>
              <a:spcAft>
                <a:spcPts val="0"/>
              </a:spcAft>
              <a:defRPr sz="1120" b="0">
                <a:solidFill>
                  <a:srgbClr val="526675"/>
                </a:solidFill>
                <a:latin typeface="Noto Sans"/>
              </a:defRPr>
            </a:pPr>
            <a:r>
              <a:t>Listen • labels • evidence</a:t>
            </a:r>
          </a:p>
          <a:p>
            <a:pPr algn="l">
              <a:lnSpc>
                <a:spcPts val="1321"/>
              </a:lnSpc>
              <a:spcBef>
                <a:spcPts val="0"/>
              </a:spcBef>
              <a:spcAft>
                <a:spcPts val="0"/>
              </a:spcAft>
              <a:defRPr sz="1120" b="0">
                <a:solidFill>
                  <a:srgbClr val="526675"/>
                </a:solidFill>
                <a:latin typeface="Noto Sans"/>
              </a:defRPr>
            </a:pPr>
            <a:r>
              <a:t>JSON / MD / HTML / CSV</a:t>
            </a:r>
          </a:p>
        </p:txBody>
      </p:sp>
      <p:sp>
        <p:nvSpPr>
          <p:cNvPr id="103" name="TEXT Arrows show data dependencies, not paral"/>
          <p:cNvSpPr txBox="1"/>
          <p:nvPr/>
        </p:nvSpPr>
        <p:spPr>
          <a:xfrm>
            <a:off x="530352" y="6080760"/>
            <a:ext cx="11064240" cy="237744"/>
          </a:xfrm>
          <a:prstGeom prst="rect">
            <a:avLst/>
          </a:prstGeom>
          <a:noFill/>
        </p:spPr>
        <p:txBody>
          <a:bodyPr wrap="none" lIns="0" rIns="0" tIns="0" bIns="0" anchor="t">
            <a:spAutoFit/>
          </a:bodyPr>
          <a:lstStyle/>
          <a:p>
            <a:pPr algn="l">
              <a:lnSpc>
                <a:spcPts val="1238"/>
              </a:lnSpc>
              <a:spcBef>
                <a:spcPts val="0"/>
              </a:spcBef>
              <a:spcAft>
                <a:spcPts val="0"/>
              </a:spcAft>
              <a:defRPr sz="1050" b="0">
                <a:solidFill>
                  <a:srgbClr val="526675"/>
                </a:solidFill>
                <a:latin typeface="Noto Sans"/>
              </a:defRPr>
            </a:pPr>
            <a:r>
              <a:t>Arrows show data dependencies, not parallel compute. ASR drafts precede final speaker attribution; cached words are reused.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84048"/>
            <a:ext cx="59436" cy="329184"/>
          </a:xfrm>
          <a:prstGeom prst="rect">
            <a:avLst/>
          </a:prstGeom>
          <a:solidFill>
            <a:srgbClr val="B30D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 FUNCTIONAL &amp; OPERATIONAL REQUIREMENTS"/>
          <p:cNvSpPr txBox="1"/>
          <p:nvPr/>
        </p:nvSpPr>
        <p:spPr>
          <a:xfrm>
            <a:off x="658368" y="320040"/>
            <a:ext cx="9144000" cy="228600"/>
          </a:xfrm>
          <a:prstGeom prst="rect">
            <a:avLst/>
          </a:prstGeom>
          <a:noFill/>
        </p:spPr>
        <p:txBody>
          <a:bodyPr wrap="none" lIns="0" rIns="0" tIns="0" bIns="0" anchor="t">
            <a:spAutoFit/>
          </a:bodyPr>
          <a:lstStyle/>
          <a:p>
            <a:pPr algn="l">
              <a:lnSpc>
                <a:spcPts val="1297"/>
              </a:lnSpc>
              <a:spcBef>
                <a:spcPts val="0"/>
              </a:spcBef>
              <a:spcAft>
                <a:spcPts val="0"/>
              </a:spcAft>
              <a:defRPr sz="1100" b="1">
                <a:solidFill>
                  <a:srgbClr val="B30D2C"/>
                </a:solidFill>
                <a:latin typeface="Noto Sans"/>
              </a:defRPr>
            </a:pPr>
            <a:r>
              <a:t>FUNCTIONAL &amp; OPERATIONAL REQUIREMENTS</a:t>
            </a:r>
          </a:p>
        </p:txBody>
      </p:sp>
      <p:sp>
        <p:nvSpPr>
          <p:cNvPr id="5" name="TEXT Requirement Analysis"/>
          <p:cNvSpPr txBox="1"/>
          <p:nvPr/>
        </p:nvSpPr>
        <p:spPr>
          <a:xfrm>
            <a:off x="484632" y="749808"/>
            <a:ext cx="10881360" cy="502920"/>
          </a:xfrm>
          <a:prstGeom prst="rect">
            <a:avLst/>
          </a:prstGeom>
          <a:noFill/>
        </p:spPr>
        <p:txBody>
          <a:bodyPr wrap="none" lIns="0" rIns="0" tIns="0" bIns="0" anchor="t">
            <a:spAutoFit/>
          </a:bodyPr>
          <a:lstStyle/>
          <a:p>
            <a:pPr algn="l">
              <a:lnSpc>
                <a:spcPts val="3422"/>
              </a:lnSpc>
              <a:spcBef>
                <a:spcPts val="0"/>
              </a:spcBef>
              <a:spcAft>
                <a:spcPts val="0"/>
              </a:spcAft>
              <a:defRPr sz="2900" b="1">
                <a:solidFill>
                  <a:srgbClr val="152C40"/>
                </a:solidFill>
                <a:latin typeface="Noto Sans"/>
              </a:defRPr>
            </a:pPr>
            <a:r>
              <a:t>Requirement Analysis</a:t>
            </a:r>
          </a:p>
        </p:txBody>
      </p:sp>
      <p:pic>
        <p:nvPicPr>
          <p:cNvPr id="6" name="Picture 5" descr="image3.png"/>
          <p:cNvPicPr>
            <a:picLocks noChangeAspect="1"/>
          </p:cNvPicPr>
          <p:nvPr/>
        </p:nvPicPr>
        <p:blipFill>
          <a:blip r:embed="rId2"/>
          <a:stretch>
            <a:fillRect/>
          </a:stretch>
        </p:blipFill>
        <p:spPr>
          <a:xfrm>
            <a:off x="10195560" y="320040"/>
            <a:ext cx="1508760" cy="286077"/>
          </a:xfrm>
          <a:prstGeom prst="rect">
            <a:avLst/>
          </a:prstGeom>
        </p:spPr>
      </p:pic>
      <p:cxnSp>
        <p:nvCxnSpPr>
          <p:cNvPr id="7" name="Connector 6"/>
          <p:cNvCxnSpPr/>
          <p:nvPr/>
        </p:nvCxnSpPr>
        <p:spPr>
          <a:xfrm>
            <a:off x="502920" y="6419088"/>
            <a:ext cx="11183112" cy="0"/>
          </a:xfrm>
          <a:prstGeom prst="line">
            <a:avLst/>
          </a:prstGeom>
          <a:ln w="12700">
            <a:solidFill>
              <a:srgbClr val="D9E2E7"/>
            </a:solidFill>
          </a:ln>
        </p:spPr>
        <p:style>
          <a:lnRef idx="2">
            <a:schemeClr val="accent1"/>
          </a:lnRef>
          <a:fillRef idx="0">
            <a:schemeClr val="accent1"/>
          </a:fillRef>
          <a:effectRef idx="1">
            <a:schemeClr val="accent1"/>
          </a:effectRef>
          <a:fontRef idx="minor">
            <a:schemeClr val="tx1"/>
          </a:fontRef>
        </p:style>
      </p:cxnSp>
      <p:sp>
        <p:nvSpPr>
          <p:cNvPr id="8" name="TEXT SIT Pune  |  AI &amp; ML  |  Group 12  |  Pr"/>
          <p:cNvSpPr txBox="1"/>
          <p:nvPr/>
        </p:nvSpPr>
        <p:spPr>
          <a:xfrm>
            <a:off x="502920" y="6519672"/>
            <a:ext cx="9509760" cy="173736"/>
          </a:xfrm>
          <a:prstGeom prst="rect">
            <a:avLst/>
          </a:prstGeom>
          <a:noFill/>
        </p:spPr>
        <p:txBody>
          <a:bodyPr wrap="none" lIns="0" rIns="0" tIns="0" bIns="0" anchor="t">
            <a:spAutoFit/>
          </a:bodyPr>
          <a:lstStyle/>
          <a:p>
            <a:pPr algn="l">
              <a:lnSpc>
                <a:spcPts val="1062"/>
              </a:lnSpc>
              <a:spcBef>
                <a:spcPts val="0"/>
              </a:spcBef>
              <a:spcAft>
                <a:spcPts val="0"/>
              </a:spcAft>
              <a:defRPr sz="900" b="0">
                <a:solidFill>
                  <a:srgbClr val="526675"/>
                </a:solidFill>
                <a:latin typeface="Noto Sans"/>
              </a:defRPr>
            </a:pPr>
            <a:r>
              <a:t>SIT Pune | AI &amp; ML | Group 12 | Prepared 20 October 2026</a:t>
            </a:r>
          </a:p>
        </p:txBody>
      </p:sp>
      <p:sp>
        <p:nvSpPr>
          <p:cNvPr id="9" name="TEXT 09 / 18"/>
          <p:cNvSpPr txBox="1"/>
          <p:nvPr/>
        </p:nvSpPr>
        <p:spPr>
          <a:xfrm>
            <a:off x="10789920" y="6510528"/>
            <a:ext cx="914400" cy="201168"/>
          </a:xfrm>
          <a:prstGeom prst="rect">
            <a:avLst/>
          </a:prstGeom>
          <a:noFill/>
        </p:spPr>
        <p:txBody>
          <a:bodyPr wrap="none" lIns="0" rIns="0" tIns="0" bIns="0" anchor="t">
            <a:spAutoFit/>
          </a:bodyPr>
          <a:lstStyle/>
          <a:p>
            <a:pPr algn="r">
              <a:lnSpc>
                <a:spcPts val="1180"/>
              </a:lnSpc>
              <a:spcBef>
                <a:spcPts val="0"/>
              </a:spcBef>
              <a:spcAft>
                <a:spcPts val="0"/>
              </a:spcAft>
              <a:defRPr sz="1000" b="0">
                <a:solidFill>
                  <a:srgbClr val="526675"/>
                </a:solidFill>
                <a:latin typeface="Noto Sans"/>
              </a:defRPr>
            </a:pPr>
            <a:r>
              <a:t>09 / 18</a:t>
            </a:r>
          </a:p>
        </p:txBody>
      </p:sp>
      <p:sp>
        <p:nvSpPr>
          <p:cNvPr id="10" name="Rounded Rectangle 9"/>
          <p:cNvSpPr/>
          <p:nvPr/>
        </p:nvSpPr>
        <p:spPr>
          <a:xfrm>
            <a:off x="594360" y="1920240"/>
            <a:ext cx="5394960" cy="3566160"/>
          </a:xfrm>
          <a:prstGeom prst="roundRect">
            <a:avLst>
              <a:gd name="adj" fmla="val 6000"/>
            </a:avLst>
          </a:prstGeom>
          <a:solidFill>
            <a:srgbClr val="E9F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 Functional requirements"/>
          <p:cNvSpPr txBox="1"/>
          <p:nvPr/>
        </p:nvSpPr>
        <p:spPr>
          <a:xfrm>
            <a:off x="795528" y="2103120"/>
            <a:ext cx="4992624" cy="502920"/>
          </a:xfrm>
          <a:prstGeom prst="rect">
            <a:avLst/>
          </a:prstGeom>
          <a:noFill/>
        </p:spPr>
        <p:txBody>
          <a:bodyPr wrap="none" lIns="0" rIns="0" tIns="0" bIns="0" anchor="t">
            <a:spAutoFit/>
          </a:bodyPr>
          <a:lstStyle/>
          <a:p>
            <a:pPr algn="l">
              <a:lnSpc>
                <a:spcPts val="2477"/>
              </a:lnSpc>
              <a:spcBef>
                <a:spcPts val="0"/>
              </a:spcBef>
              <a:spcAft>
                <a:spcPts val="0"/>
              </a:spcAft>
              <a:defRPr sz="2100" b="1">
                <a:solidFill>
                  <a:srgbClr val="152C40"/>
                </a:solidFill>
                <a:latin typeface="Noto Sans"/>
              </a:defRPr>
            </a:pPr>
            <a:r>
              <a:t>Functional requirements</a:t>
            </a:r>
          </a:p>
        </p:txBody>
      </p:sp>
      <p:sp>
        <p:nvSpPr>
          <p:cNvPr id="12" name="TEXT Record or upload audio.&#10;Optionally add p"/>
          <p:cNvSpPr txBox="1"/>
          <p:nvPr/>
        </p:nvSpPr>
        <p:spPr>
          <a:xfrm>
            <a:off x="795528" y="2761488"/>
            <a:ext cx="4992624" cy="2596896"/>
          </a:xfrm>
          <a:prstGeom prst="rect">
            <a:avLst/>
          </a:prstGeom>
          <a:noFill/>
        </p:spPr>
        <p:txBody>
          <a:bodyPr wrap="none" lIns="0" rIns="0" tIns="0" bIns="0" anchor="t">
            <a:spAutoFit/>
          </a:bodyPr>
          <a:lstStyle/>
          <a:p>
            <a:pPr algn="l">
              <a:lnSpc>
                <a:spcPts val="2713"/>
              </a:lnSpc>
              <a:spcBef>
                <a:spcPts val="0"/>
              </a:spcBef>
              <a:spcAft>
                <a:spcPts val="0"/>
              </a:spcAft>
              <a:defRPr sz="2300" b="0">
                <a:solidFill>
                  <a:srgbClr val="152C40"/>
                </a:solidFill>
                <a:latin typeface="Noto Sans"/>
              </a:defRPr>
            </a:pPr>
            <a:r>
              <a:t>Record or upload audio.</a:t>
            </a:r>
          </a:p>
          <a:p>
            <a:pPr algn="l">
              <a:lnSpc>
                <a:spcPts val="2713"/>
              </a:lnSpc>
              <a:spcBef>
                <a:spcPts val="0"/>
              </a:spcBef>
              <a:spcAft>
                <a:spcPts val="0"/>
              </a:spcAft>
              <a:defRPr sz="2300" b="0">
                <a:solidFill>
                  <a:srgbClr val="152C40"/>
                </a:solidFill>
                <a:latin typeface="Noto Sans"/>
              </a:defRPr>
            </a:pPr>
            <a:r>
              <a:t>Optionally add presentation slides.</a:t>
            </a:r>
          </a:p>
          <a:p>
            <a:pPr algn="l">
              <a:lnSpc>
                <a:spcPts val="2713"/>
              </a:lnSpc>
              <a:spcBef>
                <a:spcPts val="0"/>
              </a:spcBef>
              <a:spcAft>
                <a:spcPts val="0"/>
              </a:spcAft>
              <a:defRPr sz="2300" b="0">
                <a:solidFill>
                  <a:srgbClr val="152C40"/>
                </a:solidFill>
                <a:latin typeface="Noto Sans"/>
              </a:defRPr>
            </a:pPr>
            <a:r>
              <a:t>Review source text and</a:t>
            </a:r>
          </a:p>
          <a:p>
            <a:pPr algn="l">
              <a:lnSpc>
                <a:spcPts val="2713"/>
              </a:lnSpc>
              <a:spcBef>
                <a:spcPts val="0"/>
              </a:spcBef>
              <a:spcAft>
                <a:spcPts val="0"/>
              </a:spcAft>
              <a:defRPr sz="2300" b="0">
                <a:solidFill>
                  <a:srgbClr val="152C40"/>
                </a:solidFill>
                <a:latin typeface="Noto Sans"/>
              </a:defRPr>
            </a:pPr>
            <a:r>
              <a:t>timestamps.</a:t>
            </a:r>
          </a:p>
          <a:p>
            <a:pPr algn="l">
              <a:lnSpc>
                <a:spcPts val="2713"/>
              </a:lnSpc>
              <a:spcBef>
                <a:spcPts val="0"/>
              </a:spcBef>
              <a:spcAft>
                <a:spcPts val="0"/>
              </a:spcAft>
              <a:defRPr sz="2300" b="0">
                <a:solidFill>
                  <a:srgbClr val="152C40"/>
                </a:solidFill>
                <a:latin typeface="Noto Sans"/>
              </a:defRPr>
            </a:pPr>
            <a:r>
              <a:t>Correct speaker display names.</a:t>
            </a:r>
          </a:p>
          <a:p>
            <a:pPr algn="l">
              <a:lnSpc>
                <a:spcPts val="2713"/>
              </a:lnSpc>
              <a:spcBef>
                <a:spcPts val="0"/>
              </a:spcBef>
              <a:spcAft>
                <a:spcPts val="0"/>
              </a:spcAft>
              <a:defRPr sz="2300" b="0">
                <a:solidFill>
                  <a:srgbClr val="152C40"/>
                </a:solidFill>
                <a:latin typeface="Noto Sans"/>
              </a:defRPr>
            </a:pPr>
            <a:r>
              <a:t>Export source-linked reports.</a:t>
            </a:r>
          </a:p>
        </p:txBody>
      </p:sp>
      <p:sp>
        <p:nvSpPr>
          <p:cNvPr id="13" name="Rounded Rectangle 12"/>
          <p:cNvSpPr/>
          <p:nvPr/>
        </p:nvSpPr>
        <p:spPr>
          <a:xfrm>
            <a:off x="6263640" y="1920240"/>
            <a:ext cx="5303520" cy="3566160"/>
          </a:xfrm>
          <a:prstGeom prst="roundRect">
            <a:avLst>
              <a:gd name="adj" fmla="val 6000"/>
            </a:avLst>
          </a:prstGeom>
          <a:solidFill>
            <a:srgbClr val="F0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 Operational requirements"/>
          <p:cNvSpPr txBox="1"/>
          <p:nvPr/>
        </p:nvSpPr>
        <p:spPr>
          <a:xfrm>
            <a:off x="6464807" y="2103120"/>
            <a:ext cx="4901183" cy="502920"/>
          </a:xfrm>
          <a:prstGeom prst="rect">
            <a:avLst/>
          </a:prstGeom>
          <a:noFill/>
        </p:spPr>
        <p:txBody>
          <a:bodyPr wrap="none" lIns="0" rIns="0" tIns="0" bIns="0" anchor="t">
            <a:spAutoFit/>
          </a:bodyPr>
          <a:lstStyle/>
          <a:p>
            <a:pPr algn="l">
              <a:lnSpc>
                <a:spcPts val="2477"/>
              </a:lnSpc>
              <a:spcBef>
                <a:spcPts val="0"/>
              </a:spcBef>
              <a:spcAft>
                <a:spcPts val="0"/>
              </a:spcAft>
              <a:defRPr sz="2100" b="1">
                <a:solidFill>
                  <a:srgbClr val="152C40"/>
                </a:solidFill>
                <a:latin typeface="Noto Sans"/>
              </a:defRPr>
            </a:pPr>
            <a:r>
              <a:t>Operational requirements</a:t>
            </a:r>
          </a:p>
        </p:txBody>
      </p:sp>
      <p:sp>
        <p:nvSpPr>
          <p:cNvPr id="15" name="TEXT Preprovision local model assets.&#10;Show ex"/>
          <p:cNvSpPr txBox="1"/>
          <p:nvPr/>
        </p:nvSpPr>
        <p:spPr>
          <a:xfrm>
            <a:off x="6464807" y="2761488"/>
            <a:ext cx="4901183" cy="2596896"/>
          </a:xfrm>
          <a:prstGeom prst="rect">
            <a:avLst/>
          </a:prstGeom>
          <a:noFill/>
        </p:spPr>
        <p:txBody>
          <a:bodyPr wrap="none" lIns="0" rIns="0" tIns="0" bIns="0" anchor="t">
            <a:spAutoFit/>
          </a:bodyPr>
          <a:lstStyle/>
          <a:p>
            <a:pPr algn="l">
              <a:lnSpc>
                <a:spcPts val="2713"/>
              </a:lnSpc>
              <a:spcBef>
                <a:spcPts val="0"/>
              </a:spcBef>
              <a:spcAft>
                <a:spcPts val="0"/>
              </a:spcAft>
              <a:defRPr sz="2300" b="0">
                <a:solidFill>
                  <a:srgbClr val="152C40"/>
                </a:solidFill>
                <a:latin typeface="Noto Sans"/>
              </a:defRPr>
            </a:pPr>
            <a:r>
              <a:t>Preprovision local model assets.</a:t>
            </a:r>
          </a:p>
          <a:p>
            <a:pPr algn="l">
              <a:lnSpc>
                <a:spcPts val="2713"/>
              </a:lnSpc>
              <a:spcBef>
                <a:spcPts val="0"/>
              </a:spcBef>
              <a:spcAft>
                <a:spcPts val="0"/>
              </a:spcAft>
              <a:defRPr sz="2300" b="0">
                <a:solidFill>
                  <a:srgbClr val="152C40"/>
                </a:solidFill>
                <a:latin typeface="Noto Sans"/>
              </a:defRPr>
            </a:pPr>
            <a:r>
              <a:t>Show explicit processing stages.</a:t>
            </a:r>
          </a:p>
          <a:p>
            <a:pPr algn="l">
              <a:lnSpc>
                <a:spcPts val="2713"/>
              </a:lnSpc>
              <a:spcBef>
                <a:spcPts val="0"/>
              </a:spcBef>
              <a:spcAft>
                <a:spcPts val="0"/>
              </a:spcAft>
              <a:defRPr sz="2300" b="0">
                <a:solidFill>
                  <a:srgbClr val="152C40"/>
                </a:solidFill>
                <a:latin typeface="Noto Sans"/>
              </a:defRPr>
            </a:pPr>
            <a:r>
              <a:t>Queue one analysis job at a time.</a:t>
            </a:r>
          </a:p>
          <a:p>
            <a:pPr algn="l">
              <a:lnSpc>
                <a:spcPts val="2713"/>
              </a:lnSpc>
              <a:spcBef>
                <a:spcPts val="0"/>
              </a:spcBef>
              <a:spcAft>
                <a:spcPts val="0"/>
              </a:spcAft>
              <a:defRPr sz="2300" b="0">
                <a:solidFill>
                  <a:srgbClr val="152C40"/>
                </a:solidFill>
                <a:latin typeface="Noto Sans"/>
              </a:defRPr>
            </a:pPr>
            <a:r>
              <a:t>Persist job and report state.</a:t>
            </a:r>
          </a:p>
          <a:p>
            <a:pPr algn="l">
              <a:lnSpc>
                <a:spcPts val="2713"/>
              </a:lnSpc>
              <a:spcBef>
                <a:spcPts val="0"/>
              </a:spcBef>
              <a:spcAft>
                <a:spcPts val="0"/>
              </a:spcAft>
              <a:defRPr sz="2300" b="0">
                <a:solidFill>
                  <a:srgbClr val="152C40"/>
                </a:solidFill>
                <a:latin typeface="Noto Sans"/>
              </a:defRPr>
            </a:pPr>
            <a:r>
              <a:t>Keep optional-stage failures</a:t>
            </a:r>
          </a:p>
          <a:p>
            <a:pPr algn="l">
              <a:lnSpc>
                <a:spcPts val="2713"/>
              </a:lnSpc>
              <a:spcBef>
                <a:spcPts val="0"/>
              </a:spcBef>
              <a:spcAft>
                <a:spcPts val="0"/>
              </a:spcAft>
              <a:defRPr sz="2300" b="0">
                <a:solidFill>
                  <a:srgbClr val="152C40"/>
                </a:solidFill>
                <a:latin typeface="Noto Sans"/>
              </a:defRPr>
            </a:pPr>
            <a:r>
              <a:t>visible.</a:t>
            </a:r>
          </a:p>
        </p:txBody>
      </p:sp>
      <p:sp>
        <p:nvSpPr>
          <p:cNvPr id="16" name="TEXT Speaker renaming changes display metadat"/>
          <p:cNvSpPr txBox="1"/>
          <p:nvPr/>
        </p:nvSpPr>
        <p:spPr>
          <a:xfrm>
            <a:off x="530352" y="6080760"/>
            <a:ext cx="11064240" cy="237744"/>
          </a:xfrm>
          <a:prstGeom prst="rect">
            <a:avLst/>
          </a:prstGeom>
          <a:noFill/>
        </p:spPr>
        <p:txBody>
          <a:bodyPr wrap="none" lIns="0" rIns="0" tIns="0" bIns="0" anchor="t">
            <a:spAutoFit/>
          </a:bodyPr>
          <a:lstStyle/>
          <a:p>
            <a:pPr algn="l">
              <a:lnSpc>
                <a:spcPts val="1238"/>
              </a:lnSpc>
              <a:spcBef>
                <a:spcPts val="0"/>
              </a:spcBef>
              <a:spcAft>
                <a:spcPts val="0"/>
              </a:spcAft>
              <a:defRPr sz="1050" b="0">
                <a:solidFill>
                  <a:srgbClr val="526675"/>
                </a:solidFill>
                <a:latin typeface="Noto Sans"/>
              </a:defRPr>
            </a:pPr>
            <a:r>
              <a:t>Speaker renaming changes display metadata; correcting acoustic clusters requires speaker analysis to be rerun.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84048"/>
            <a:ext cx="59436" cy="329184"/>
          </a:xfrm>
          <a:prstGeom prst="rect">
            <a:avLst/>
          </a:prstGeom>
          <a:solidFill>
            <a:srgbClr val="B30D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 IMPLEMENTED COMPONENTS"/>
          <p:cNvSpPr txBox="1"/>
          <p:nvPr/>
        </p:nvSpPr>
        <p:spPr>
          <a:xfrm>
            <a:off x="658368" y="320040"/>
            <a:ext cx="9144000" cy="228600"/>
          </a:xfrm>
          <a:prstGeom prst="rect">
            <a:avLst/>
          </a:prstGeom>
          <a:noFill/>
        </p:spPr>
        <p:txBody>
          <a:bodyPr wrap="none" lIns="0" rIns="0" tIns="0" bIns="0" anchor="t">
            <a:spAutoFit/>
          </a:bodyPr>
          <a:lstStyle/>
          <a:p>
            <a:pPr algn="l">
              <a:lnSpc>
                <a:spcPts val="1297"/>
              </a:lnSpc>
              <a:spcBef>
                <a:spcPts val="0"/>
              </a:spcBef>
              <a:spcAft>
                <a:spcPts val="0"/>
              </a:spcAft>
              <a:defRPr sz="1100" b="1">
                <a:solidFill>
                  <a:srgbClr val="B30D2C"/>
                </a:solidFill>
                <a:latin typeface="Noto Sans"/>
              </a:defRPr>
            </a:pPr>
            <a:r>
              <a:t>IMPLEMENTED COMPONENTS</a:t>
            </a:r>
          </a:p>
        </p:txBody>
      </p:sp>
      <p:sp>
        <p:nvSpPr>
          <p:cNvPr id="5" name="TEXT Technology Stack"/>
          <p:cNvSpPr txBox="1"/>
          <p:nvPr/>
        </p:nvSpPr>
        <p:spPr>
          <a:xfrm>
            <a:off x="484632" y="749808"/>
            <a:ext cx="10881360" cy="502920"/>
          </a:xfrm>
          <a:prstGeom prst="rect">
            <a:avLst/>
          </a:prstGeom>
          <a:noFill/>
        </p:spPr>
        <p:txBody>
          <a:bodyPr wrap="none" lIns="0" rIns="0" tIns="0" bIns="0" anchor="t">
            <a:spAutoFit/>
          </a:bodyPr>
          <a:lstStyle/>
          <a:p>
            <a:pPr algn="l">
              <a:lnSpc>
                <a:spcPts val="3422"/>
              </a:lnSpc>
              <a:spcBef>
                <a:spcPts val="0"/>
              </a:spcBef>
              <a:spcAft>
                <a:spcPts val="0"/>
              </a:spcAft>
              <a:defRPr sz="2900" b="1">
                <a:solidFill>
                  <a:srgbClr val="152C40"/>
                </a:solidFill>
                <a:latin typeface="Noto Sans"/>
              </a:defRPr>
            </a:pPr>
            <a:r>
              <a:t>Technology Stack</a:t>
            </a:r>
          </a:p>
        </p:txBody>
      </p:sp>
      <p:pic>
        <p:nvPicPr>
          <p:cNvPr id="6" name="Picture 5" descr="image3.png"/>
          <p:cNvPicPr>
            <a:picLocks noChangeAspect="1"/>
          </p:cNvPicPr>
          <p:nvPr/>
        </p:nvPicPr>
        <p:blipFill>
          <a:blip r:embed="rId2"/>
          <a:stretch>
            <a:fillRect/>
          </a:stretch>
        </p:blipFill>
        <p:spPr>
          <a:xfrm>
            <a:off x="10195560" y="320040"/>
            <a:ext cx="1508760" cy="286077"/>
          </a:xfrm>
          <a:prstGeom prst="rect">
            <a:avLst/>
          </a:prstGeom>
        </p:spPr>
      </p:pic>
      <p:cxnSp>
        <p:nvCxnSpPr>
          <p:cNvPr id="7" name="Connector 6"/>
          <p:cNvCxnSpPr/>
          <p:nvPr/>
        </p:nvCxnSpPr>
        <p:spPr>
          <a:xfrm>
            <a:off x="502920" y="6419088"/>
            <a:ext cx="11183112" cy="0"/>
          </a:xfrm>
          <a:prstGeom prst="line">
            <a:avLst/>
          </a:prstGeom>
          <a:ln w="12700">
            <a:solidFill>
              <a:srgbClr val="D9E2E7"/>
            </a:solidFill>
          </a:ln>
        </p:spPr>
        <p:style>
          <a:lnRef idx="2">
            <a:schemeClr val="accent1"/>
          </a:lnRef>
          <a:fillRef idx="0">
            <a:schemeClr val="accent1"/>
          </a:fillRef>
          <a:effectRef idx="1">
            <a:schemeClr val="accent1"/>
          </a:effectRef>
          <a:fontRef idx="minor">
            <a:schemeClr val="tx1"/>
          </a:fontRef>
        </p:style>
      </p:cxnSp>
      <p:sp>
        <p:nvSpPr>
          <p:cNvPr id="8" name="TEXT SIT Pune  |  AI &amp; ML  |  Group 12  |  Pr"/>
          <p:cNvSpPr txBox="1"/>
          <p:nvPr/>
        </p:nvSpPr>
        <p:spPr>
          <a:xfrm>
            <a:off x="502920" y="6519672"/>
            <a:ext cx="9509760" cy="173736"/>
          </a:xfrm>
          <a:prstGeom prst="rect">
            <a:avLst/>
          </a:prstGeom>
          <a:noFill/>
        </p:spPr>
        <p:txBody>
          <a:bodyPr wrap="none" lIns="0" rIns="0" tIns="0" bIns="0" anchor="t">
            <a:spAutoFit/>
          </a:bodyPr>
          <a:lstStyle/>
          <a:p>
            <a:pPr algn="l">
              <a:lnSpc>
                <a:spcPts val="1062"/>
              </a:lnSpc>
              <a:spcBef>
                <a:spcPts val="0"/>
              </a:spcBef>
              <a:spcAft>
                <a:spcPts val="0"/>
              </a:spcAft>
              <a:defRPr sz="900" b="0">
                <a:solidFill>
                  <a:srgbClr val="526675"/>
                </a:solidFill>
                <a:latin typeface="Noto Sans"/>
              </a:defRPr>
            </a:pPr>
            <a:r>
              <a:t>SIT Pune | AI &amp; ML | Group 12 | Prepared 20 October 2026</a:t>
            </a:r>
          </a:p>
        </p:txBody>
      </p:sp>
      <p:sp>
        <p:nvSpPr>
          <p:cNvPr id="9" name="TEXT 10 / 18"/>
          <p:cNvSpPr txBox="1"/>
          <p:nvPr/>
        </p:nvSpPr>
        <p:spPr>
          <a:xfrm>
            <a:off x="10789920" y="6510528"/>
            <a:ext cx="914400" cy="201168"/>
          </a:xfrm>
          <a:prstGeom prst="rect">
            <a:avLst/>
          </a:prstGeom>
          <a:noFill/>
        </p:spPr>
        <p:txBody>
          <a:bodyPr wrap="none" lIns="0" rIns="0" tIns="0" bIns="0" anchor="t">
            <a:spAutoFit/>
          </a:bodyPr>
          <a:lstStyle/>
          <a:p>
            <a:pPr algn="r">
              <a:lnSpc>
                <a:spcPts val="1180"/>
              </a:lnSpc>
              <a:spcBef>
                <a:spcPts val="0"/>
              </a:spcBef>
              <a:spcAft>
                <a:spcPts val="0"/>
              </a:spcAft>
              <a:defRPr sz="1000" b="0">
                <a:solidFill>
                  <a:srgbClr val="526675"/>
                </a:solidFill>
                <a:latin typeface="Noto Sans"/>
              </a:defRPr>
            </a:pPr>
            <a:r>
              <a:t>10 / 18</a:t>
            </a:r>
          </a:p>
        </p:txBody>
      </p:sp>
      <p:sp>
        <p:nvSpPr>
          <p:cNvPr id="10" name="Rectangle 9"/>
          <p:cNvSpPr/>
          <p:nvPr/>
        </p:nvSpPr>
        <p:spPr>
          <a:xfrm>
            <a:off x="594360" y="1874519"/>
            <a:ext cx="2331720" cy="585216"/>
          </a:xfrm>
          <a:prstGeom prst="rect">
            <a:avLst/>
          </a:prstGeom>
          <a:solidFill>
            <a:srgbClr val="152C40"/>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 Layer"/>
          <p:cNvSpPr txBox="1"/>
          <p:nvPr/>
        </p:nvSpPr>
        <p:spPr>
          <a:xfrm>
            <a:off x="685800" y="1943100"/>
            <a:ext cx="2148839" cy="512064"/>
          </a:xfrm>
          <a:prstGeom prst="rect">
            <a:avLst/>
          </a:prstGeom>
          <a:noFill/>
        </p:spPr>
        <p:txBody>
          <a:bodyPr wrap="none" lIns="0" rIns="0" tIns="0" bIns="0" anchor="t">
            <a:spAutoFit/>
          </a:bodyPr>
          <a:lstStyle/>
          <a:p>
            <a:pPr algn="l">
              <a:lnSpc>
                <a:spcPts val="2005"/>
              </a:lnSpc>
              <a:spcBef>
                <a:spcPts val="0"/>
              </a:spcBef>
              <a:spcAft>
                <a:spcPts val="0"/>
              </a:spcAft>
              <a:defRPr sz="1700" b="1">
                <a:solidFill>
                  <a:srgbClr val="FFFFFF"/>
                </a:solidFill>
                <a:latin typeface="Noto Sans"/>
              </a:defRPr>
            </a:pPr>
            <a:r>
              <a:t>Layer</a:t>
            </a:r>
          </a:p>
        </p:txBody>
      </p:sp>
      <p:sp>
        <p:nvSpPr>
          <p:cNvPr id="12" name="Rectangle 11"/>
          <p:cNvSpPr/>
          <p:nvPr/>
        </p:nvSpPr>
        <p:spPr>
          <a:xfrm>
            <a:off x="2926079" y="1874519"/>
            <a:ext cx="4572000" cy="585216"/>
          </a:xfrm>
          <a:prstGeom prst="rect">
            <a:avLst/>
          </a:prstGeom>
          <a:solidFill>
            <a:srgbClr val="152C40"/>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 Technology"/>
          <p:cNvSpPr txBox="1"/>
          <p:nvPr/>
        </p:nvSpPr>
        <p:spPr>
          <a:xfrm>
            <a:off x="3017520" y="1943100"/>
            <a:ext cx="4389120" cy="512064"/>
          </a:xfrm>
          <a:prstGeom prst="rect">
            <a:avLst/>
          </a:prstGeom>
          <a:noFill/>
        </p:spPr>
        <p:txBody>
          <a:bodyPr wrap="none" lIns="0" rIns="0" tIns="0" bIns="0" anchor="t">
            <a:spAutoFit/>
          </a:bodyPr>
          <a:lstStyle/>
          <a:p>
            <a:pPr algn="l">
              <a:lnSpc>
                <a:spcPts val="2005"/>
              </a:lnSpc>
              <a:spcBef>
                <a:spcPts val="0"/>
              </a:spcBef>
              <a:spcAft>
                <a:spcPts val="0"/>
              </a:spcAft>
              <a:defRPr sz="1700" b="1">
                <a:solidFill>
                  <a:srgbClr val="FFFFFF"/>
                </a:solidFill>
                <a:latin typeface="Noto Sans"/>
              </a:defRPr>
            </a:pPr>
            <a:r>
              <a:t>Technology</a:t>
            </a:r>
          </a:p>
        </p:txBody>
      </p:sp>
      <p:sp>
        <p:nvSpPr>
          <p:cNvPr id="14" name="Rectangle 13"/>
          <p:cNvSpPr/>
          <p:nvPr/>
        </p:nvSpPr>
        <p:spPr>
          <a:xfrm>
            <a:off x="7498079" y="1874519"/>
            <a:ext cx="4069080" cy="585216"/>
          </a:xfrm>
          <a:prstGeom prst="rect">
            <a:avLst/>
          </a:prstGeom>
          <a:solidFill>
            <a:srgbClr val="152C40"/>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 Purpose"/>
          <p:cNvSpPr txBox="1"/>
          <p:nvPr/>
        </p:nvSpPr>
        <p:spPr>
          <a:xfrm>
            <a:off x="7589519" y="1943100"/>
            <a:ext cx="3886200" cy="512064"/>
          </a:xfrm>
          <a:prstGeom prst="rect">
            <a:avLst/>
          </a:prstGeom>
          <a:noFill/>
        </p:spPr>
        <p:txBody>
          <a:bodyPr wrap="none" lIns="0" rIns="0" tIns="0" bIns="0" anchor="t">
            <a:spAutoFit/>
          </a:bodyPr>
          <a:lstStyle/>
          <a:p>
            <a:pPr algn="l">
              <a:lnSpc>
                <a:spcPts val="2005"/>
              </a:lnSpc>
              <a:spcBef>
                <a:spcPts val="0"/>
              </a:spcBef>
              <a:spcAft>
                <a:spcPts val="0"/>
              </a:spcAft>
              <a:defRPr sz="1700" b="1">
                <a:solidFill>
                  <a:srgbClr val="FFFFFF"/>
                </a:solidFill>
                <a:latin typeface="Noto Sans"/>
              </a:defRPr>
            </a:pPr>
            <a:r>
              <a:t>Purpose</a:t>
            </a:r>
          </a:p>
        </p:txBody>
      </p:sp>
      <p:sp>
        <p:nvSpPr>
          <p:cNvPr id="16" name="Rectangle 15"/>
          <p:cNvSpPr/>
          <p:nvPr/>
        </p:nvSpPr>
        <p:spPr>
          <a:xfrm>
            <a:off x="594360" y="2459736"/>
            <a:ext cx="2331720" cy="585216"/>
          </a:xfrm>
          <a:prstGeom prst="rect">
            <a:avLst/>
          </a:prstGeom>
          <a:solidFill>
            <a:srgbClr val="F0F4F6"/>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 Interface"/>
          <p:cNvSpPr txBox="1"/>
          <p:nvPr/>
        </p:nvSpPr>
        <p:spPr>
          <a:xfrm>
            <a:off x="685800" y="2528316"/>
            <a:ext cx="2148839" cy="512064"/>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52C40"/>
                </a:solidFill>
                <a:latin typeface="Noto Sans"/>
              </a:defRPr>
            </a:pPr>
            <a:r>
              <a:t>Interface</a:t>
            </a:r>
          </a:p>
        </p:txBody>
      </p:sp>
      <p:sp>
        <p:nvSpPr>
          <p:cNvPr id="18" name="Rectangle 17"/>
          <p:cNvSpPr/>
          <p:nvPr/>
        </p:nvSpPr>
        <p:spPr>
          <a:xfrm>
            <a:off x="2926079" y="2459736"/>
            <a:ext cx="4572000" cy="585216"/>
          </a:xfrm>
          <a:prstGeom prst="rect">
            <a:avLst/>
          </a:prstGeom>
          <a:solidFill>
            <a:srgbClr val="F0F4F6"/>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 React + browser audio"/>
          <p:cNvSpPr txBox="1"/>
          <p:nvPr/>
        </p:nvSpPr>
        <p:spPr>
          <a:xfrm>
            <a:off x="3017520" y="2528316"/>
            <a:ext cx="4389120" cy="512064"/>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52C40"/>
                </a:solidFill>
                <a:latin typeface="Noto Sans"/>
              </a:defRPr>
            </a:pPr>
            <a:r>
              <a:t>React + browser audio</a:t>
            </a:r>
          </a:p>
        </p:txBody>
      </p:sp>
      <p:sp>
        <p:nvSpPr>
          <p:cNvPr id="20" name="Rectangle 19"/>
          <p:cNvSpPr/>
          <p:nvPr/>
        </p:nvSpPr>
        <p:spPr>
          <a:xfrm>
            <a:off x="7498079" y="2459736"/>
            <a:ext cx="4069080" cy="585216"/>
          </a:xfrm>
          <a:prstGeom prst="rect">
            <a:avLst/>
          </a:prstGeom>
          <a:solidFill>
            <a:srgbClr val="F0F4F6"/>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 Record, upload and source review"/>
          <p:cNvSpPr txBox="1"/>
          <p:nvPr/>
        </p:nvSpPr>
        <p:spPr>
          <a:xfrm>
            <a:off x="7589519" y="2528316"/>
            <a:ext cx="3886200" cy="512064"/>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52C40"/>
                </a:solidFill>
                <a:latin typeface="Noto Sans"/>
              </a:defRPr>
            </a:pPr>
            <a:r>
              <a:t>Record, upload and source review</a:t>
            </a:r>
          </a:p>
        </p:txBody>
      </p:sp>
      <p:sp>
        <p:nvSpPr>
          <p:cNvPr id="22" name="Rectangle 21"/>
          <p:cNvSpPr/>
          <p:nvPr/>
        </p:nvSpPr>
        <p:spPr>
          <a:xfrm>
            <a:off x="594360" y="3044952"/>
            <a:ext cx="2331720" cy="585216"/>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 Local service"/>
          <p:cNvSpPr txBox="1"/>
          <p:nvPr/>
        </p:nvSpPr>
        <p:spPr>
          <a:xfrm>
            <a:off x="685800" y="3113532"/>
            <a:ext cx="2148839" cy="512064"/>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52C40"/>
                </a:solidFill>
                <a:latin typeface="Noto Sans"/>
              </a:defRPr>
            </a:pPr>
            <a:r>
              <a:t>Local service</a:t>
            </a:r>
          </a:p>
        </p:txBody>
      </p:sp>
      <p:sp>
        <p:nvSpPr>
          <p:cNvPr id="24" name="Rectangle 23"/>
          <p:cNvSpPr/>
          <p:nvPr/>
        </p:nvSpPr>
        <p:spPr>
          <a:xfrm>
            <a:off x="2926079" y="3044952"/>
            <a:ext cx="4572000" cy="585216"/>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 FastAPI + Python"/>
          <p:cNvSpPr txBox="1"/>
          <p:nvPr/>
        </p:nvSpPr>
        <p:spPr>
          <a:xfrm>
            <a:off x="3017520" y="3113532"/>
            <a:ext cx="4389120" cy="512064"/>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52C40"/>
                </a:solidFill>
                <a:latin typeface="Noto Sans"/>
              </a:defRPr>
            </a:pPr>
            <a:r>
              <a:t>FastAPI + Python</a:t>
            </a:r>
          </a:p>
        </p:txBody>
      </p:sp>
      <p:sp>
        <p:nvSpPr>
          <p:cNvPr id="26" name="Rectangle 25"/>
          <p:cNvSpPr/>
          <p:nvPr/>
        </p:nvSpPr>
        <p:spPr>
          <a:xfrm>
            <a:off x="7498079" y="3044952"/>
            <a:ext cx="4069080" cy="585216"/>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 Validation, queue and orchestration"/>
          <p:cNvSpPr txBox="1"/>
          <p:nvPr/>
        </p:nvSpPr>
        <p:spPr>
          <a:xfrm>
            <a:off x="7589519" y="3113532"/>
            <a:ext cx="3886200" cy="512064"/>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52C40"/>
                </a:solidFill>
                <a:latin typeface="Noto Sans"/>
              </a:defRPr>
            </a:pPr>
            <a:r>
              <a:t>Validation, queue and orchestration</a:t>
            </a:r>
          </a:p>
        </p:txBody>
      </p:sp>
      <p:sp>
        <p:nvSpPr>
          <p:cNvPr id="28" name="Rectangle 27"/>
          <p:cNvSpPr/>
          <p:nvPr/>
        </p:nvSpPr>
        <p:spPr>
          <a:xfrm>
            <a:off x="594360" y="3630168"/>
            <a:ext cx="2331720" cy="585216"/>
          </a:xfrm>
          <a:prstGeom prst="rect">
            <a:avLst/>
          </a:prstGeom>
          <a:solidFill>
            <a:srgbClr val="F0F4F6"/>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 Audio and speakers"/>
          <p:cNvSpPr txBox="1"/>
          <p:nvPr/>
        </p:nvSpPr>
        <p:spPr>
          <a:xfrm>
            <a:off x="685800" y="3698748"/>
            <a:ext cx="2148839" cy="512064"/>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52C40"/>
                </a:solidFill>
                <a:latin typeface="Noto Sans"/>
              </a:defRPr>
            </a:pPr>
            <a:r>
              <a:t>Audio and speakers</a:t>
            </a:r>
          </a:p>
        </p:txBody>
      </p:sp>
      <p:sp>
        <p:nvSpPr>
          <p:cNvPr id="30" name="Rectangle 29"/>
          <p:cNvSpPr/>
          <p:nvPr/>
        </p:nvSpPr>
        <p:spPr>
          <a:xfrm>
            <a:off x="2926079" y="3630168"/>
            <a:ext cx="4572000" cy="585216"/>
          </a:xfrm>
          <a:prstGeom prst="rect">
            <a:avLst/>
          </a:prstGeom>
          <a:solidFill>
            <a:srgbClr val="F0F4F6"/>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 FFmpeg / faster-whisper / Sherpa-ONNX"/>
          <p:cNvSpPr txBox="1"/>
          <p:nvPr/>
        </p:nvSpPr>
        <p:spPr>
          <a:xfrm>
            <a:off x="3017520" y="3698748"/>
            <a:ext cx="4389120" cy="512064"/>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52C40"/>
                </a:solidFill>
                <a:latin typeface="Noto Sans"/>
              </a:defRPr>
            </a:pPr>
            <a:r>
              <a:t>FFmpeg / faster-whisper / Sherpa-ONNX</a:t>
            </a:r>
          </a:p>
        </p:txBody>
      </p:sp>
      <p:sp>
        <p:nvSpPr>
          <p:cNvPr id="32" name="Rectangle 31"/>
          <p:cNvSpPr/>
          <p:nvPr/>
        </p:nvSpPr>
        <p:spPr>
          <a:xfrm>
            <a:off x="7498079" y="3630168"/>
            <a:ext cx="4069080" cy="585216"/>
          </a:xfrm>
          <a:prstGeom prst="rect">
            <a:avLst/>
          </a:prstGeom>
          <a:solidFill>
            <a:srgbClr val="F0F4F6"/>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 Normalize, recognise and diarize"/>
          <p:cNvSpPr txBox="1"/>
          <p:nvPr/>
        </p:nvSpPr>
        <p:spPr>
          <a:xfrm>
            <a:off x="7589519" y="3698748"/>
            <a:ext cx="3886200" cy="512064"/>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52C40"/>
                </a:solidFill>
                <a:latin typeface="Noto Sans"/>
              </a:defRPr>
            </a:pPr>
            <a:r>
              <a:t>Normalize, recognise and diarize</a:t>
            </a:r>
          </a:p>
        </p:txBody>
      </p:sp>
      <p:sp>
        <p:nvSpPr>
          <p:cNvPr id="34" name="Rectangle 33"/>
          <p:cNvSpPr/>
          <p:nvPr/>
        </p:nvSpPr>
        <p:spPr>
          <a:xfrm>
            <a:off x="594360" y="4215383"/>
            <a:ext cx="2331720" cy="585216"/>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 Slides"/>
          <p:cNvSpPr txBox="1"/>
          <p:nvPr/>
        </p:nvSpPr>
        <p:spPr>
          <a:xfrm>
            <a:off x="685800" y="4283964"/>
            <a:ext cx="2148839" cy="512064"/>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52C40"/>
                </a:solidFill>
                <a:latin typeface="Noto Sans"/>
              </a:defRPr>
            </a:pPr>
            <a:r>
              <a:t>Slides</a:t>
            </a:r>
          </a:p>
        </p:txBody>
      </p:sp>
      <p:sp>
        <p:nvSpPr>
          <p:cNvPr id="36" name="Rectangle 35"/>
          <p:cNvSpPr/>
          <p:nvPr/>
        </p:nvSpPr>
        <p:spPr>
          <a:xfrm>
            <a:off x="2926079" y="4215383"/>
            <a:ext cx="4572000" cy="585216"/>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 PPTX parsing / MiniLM / TF-IDF"/>
          <p:cNvSpPr txBox="1"/>
          <p:nvPr/>
        </p:nvSpPr>
        <p:spPr>
          <a:xfrm>
            <a:off x="3017520" y="4283964"/>
            <a:ext cx="4389120" cy="512064"/>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52C40"/>
                </a:solidFill>
                <a:latin typeface="Noto Sans"/>
              </a:defRPr>
            </a:pPr>
            <a:r>
              <a:t>PPTX parsing / MiniLM / TF-IDF</a:t>
            </a:r>
          </a:p>
        </p:txBody>
      </p:sp>
      <p:sp>
        <p:nvSpPr>
          <p:cNvPr id="38" name="Rectangle 37"/>
          <p:cNvSpPr/>
          <p:nvPr/>
        </p:nvSpPr>
        <p:spPr>
          <a:xfrm>
            <a:off x="7498079" y="4215383"/>
            <a:ext cx="4069080" cy="585216"/>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 Extract text and propose links"/>
          <p:cNvSpPr txBox="1"/>
          <p:nvPr/>
        </p:nvSpPr>
        <p:spPr>
          <a:xfrm>
            <a:off x="7589519" y="4283964"/>
            <a:ext cx="3886200" cy="512064"/>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52C40"/>
                </a:solidFill>
                <a:latin typeface="Noto Sans"/>
              </a:defRPr>
            </a:pPr>
            <a:r>
              <a:t>Extract text and propose links</a:t>
            </a:r>
          </a:p>
        </p:txBody>
      </p:sp>
      <p:sp>
        <p:nvSpPr>
          <p:cNvPr id="40" name="Rectangle 39"/>
          <p:cNvSpPr/>
          <p:nvPr/>
        </p:nvSpPr>
        <p:spPr>
          <a:xfrm>
            <a:off x="594360" y="4800600"/>
            <a:ext cx="2331720" cy="585216"/>
          </a:xfrm>
          <a:prstGeom prst="rect">
            <a:avLst/>
          </a:prstGeom>
          <a:solidFill>
            <a:srgbClr val="F0F4F6"/>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 Learned discussion"/>
          <p:cNvSpPr txBox="1"/>
          <p:nvPr/>
        </p:nvSpPr>
        <p:spPr>
          <a:xfrm>
            <a:off x="685800" y="4869180"/>
            <a:ext cx="2148839" cy="512064"/>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52C40"/>
                </a:solidFill>
                <a:latin typeface="Noto Sans"/>
              </a:defRPr>
            </a:pPr>
            <a:r>
              <a:t>Learned discussion</a:t>
            </a:r>
          </a:p>
        </p:txBody>
      </p:sp>
      <p:sp>
        <p:nvSpPr>
          <p:cNvPr id="42" name="Rectangle 41"/>
          <p:cNvSpPr/>
          <p:nvPr/>
        </p:nvSpPr>
        <p:spPr>
          <a:xfrm>
            <a:off x="2926079" y="4800600"/>
            <a:ext cx="4572000" cy="585216"/>
          </a:xfrm>
          <a:prstGeom prst="rect">
            <a:avLst/>
          </a:prstGeom>
          <a:solidFill>
            <a:srgbClr val="F0F4F6"/>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 scikit-learn: TF-IDF + forest / logistic"/>
          <p:cNvSpPr txBox="1"/>
          <p:nvPr/>
        </p:nvSpPr>
        <p:spPr>
          <a:xfrm>
            <a:off x="3017520" y="4869180"/>
            <a:ext cx="4389120" cy="512064"/>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52C40"/>
                </a:solidFill>
                <a:latin typeface="Noto Sans"/>
              </a:defRPr>
            </a:pPr>
            <a:r>
              <a:t>scikit-learn: TF-IDF + forest / logistic</a:t>
            </a:r>
          </a:p>
        </p:txBody>
      </p:sp>
      <p:sp>
        <p:nvSpPr>
          <p:cNvPr id="44" name="Rectangle 43"/>
          <p:cNvSpPr/>
          <p:nvPr/>
        </p:nvSpPr>
        <p:spPr>
          <a:xfrm>
            <a:off x="7498079" y="4800600"/>
            <a:ext cx="4069080" cy="585216"/>
          </a:xfrm>
          <a:prstGeom prst="rect">
            <a:avLst/>
          </a:prstGeom>
          <a:solidFill>
            <a:srgbClr val="F0F4F6"/>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 English discussion suggestions"/>
          <p:cNvSpPr txBox="1"/>
          <p:nvPr/>
        </p:nvSpPr>
        <p:spPr>
          <a:xfrm>
            <a:off x="7589519" y="4869180"/>
            <a:ext cx="3886200" cy="512064"/>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52C40"/>
                </a:solidFill>
                <a:latin typeface="Noto Sans"/>
              </a:defRPr>
            </a:pPr>
            <a:r>
              <a:t>English discussion suggestions</a:t>
            </a:r>
          </a:p>
        </p:txBody>
      </p:sp>
      <p:sp>
        <p:nvSpPr>
          <p:cNvPr id="46" name="Rectangle 45"/>
          <p:cNvSpPr/>
          <p:nvPr/>
        </p:nvSpPr>
        <p:spPr>
          <a:xfrm>
            <a:off x="594360" y="5385816"/>
            <a:ext cx="2331720" cy="585216"/>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 Storage and reports"/>
          <p:cNvSpPr txBox="1"/>
          <p:nvPr/>
        </p:nvSpPr>
        <p:spPr>
          <a:xfrm>
            <a:off x="685800" y="5454396"/>
            <a:ext cx="2148839" cy="512064"/>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52C40"/>
                </a:solidFill>
                <a:latin typeface="Noto Sans"/>
              </a:defRPr>
            </a:pPr>
            <a:r>
              <a:t>Storage and reports</a:t>
            </a:r>
          </a:p>
        </p:txBody>
      </p:sp>
      <p:sp>
        <p:nvSpPr>
          <p:cNvPr id="48" name="Rectangle 47"/>
          <p:cNvSpPr/>
          <p:nvPr/>
        </p:nvSpPr>
        <p:spPr>
          <a:xfrm>
            <a:off x="2926079" y="5385816"/>
            <a:ext cx="4572000" cy="585216"/>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 SQLite + local artifacts"/>
          <p:cNvSpPr txBox="1"/>
          <p:nvPr/>
        </p:nvSpPr>
        <p:spPr>
          <a:xfrm>
            <a:off x="3017520" y="5454396"/>
            <a:ext cx="4389120" cy="512064"/>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52C40"/>
                </a:solidFill>
                <a:latin typeface="Noto Sans"/>
              </a:defRPr>
            </a:pPr>
            <a:r>
              <a:t>SQLite + local artifacts</a:t>
            </a:r>
          </a:p>
        </p:txBody>
      </p:sp>
      <p:sp>
        <p:nvSpPr>
          <p:cNvPr id="50" name="Rectangle 49"/>
          <p:cNvSpPr/>
          <p:nvPr/>
        </p:nvSpPr>
        <p:spPr>
          <a:xfrm>
            <a:off x="7498079" y="5385816"/>
            <a:ext cx="4069080" cy="585216"/>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 Saved review and report exports"/>
          <p:cNvSpPr txBox="1"/>
          <p:nvPr/>
        </p:nvSpPr>
        <p:spPr>
          <a:xfrm>
            <a:off x="7589519" y="5454396"/>
            <a:ext cx="3886200" cy="512064"/>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52C40"/>
                </a:solidFill>
                <a:latin typeface="Noto Sans"/>
              </a:defRPr>
            </a:pPr>
            <a:r>
              <a:t>Saved review and report exports</a:t>
            </a:r>
          </a:p>
        </p:txBody>
      </p:sp>
      <p:sp>
        <p:nvSpPr>
          <p:cNvPr id="52" name="TEXT Speech and embedding models are pretrain"/>
          <p:cNvSpPr txBox="1"/>
          <p:nvPr/>
        </p:nvSpPr>
        <p:spPr>
          <a:xfrm>
            <a:off x="530352" y="6080760"/>
            <a:ext cx="11064240" cy="237744"/>
          </a:xfrm>
          <a:prstGeom prst="rect">
            <a:avLst/>
          </a:prstGeom>
          <a:noFill/>
        </p:spPr>
        <p:txBody>
          <a:bodyPr wrap="none" lIns="0" rIns="0" tIns="0" bIns="0" anchor="t">
            <a:spAutoFit/>
          </a:bodyPr>
          <a:lstStyle/>
          <a:p>
            <a:pPr algn="l">
              <a:lnSpc>
                <a:spcPts val="1238"/>
              </a:lnSpc>
              <a:spcBef>
                <a:spcPts val="0"/>
              </a:spcBef>
              <a:spcAft>
                <a:spcPts val="0"/>
              </a:spcAft>
              <a:defRPr sz="1050" b="0">
                <a:solidFill>
                  <a:srgbClr val="526675"/>
                </a:solidFill>
                <a:latin typeface="Noto Sans"/>
              </a:defRPr>
            </a:pPr>
            <a:r>
              <a:t>Speech and embedding models are pretrained. Small supervised discussion classifiers are trained on the training partition.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84048"/>
            <a:ext cx="59436" cy="329184"/>
          </a:xfrm>
          <a:prstGeom prst="rect">
            <a:avLst/>
          </a:prstGeom>
          <a:solidFill>
            <a:srgbClr val="B30D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 THE NLP METHOD"/>
          <p:cNvSpPr txBox="1"/>
          <p:nvPr/>
        </p:nvSpPr>
        <p:spPr>
          <a:xfrm>
            <a:off x="658368" y="320040"/>
            <a:ext cx="9144000" cy="228600"/>
          </a:xfrm>
          <a:prstGeom prst="rect">
            <a:avLst/>
          </a:prstGeom>
          <a:noFill/>
        </p:spPr>
        <p:txBody>
          <a:bodyPr wrap="none" lIns="0" rIns="0" tIns="0" bIns="0" anchor="t">
            <a:spAutoFit/>
          </a:bodyPr>
          <a:lstStyle/>
          <a:p>
            <a:pPr algn="l">
              <a:lnSpc>
                <a:spcPts val="1297"/>
              </a:lnSpc>
              <a:spcBef>
                <a:spcPts val="0"/>
              </a:spcBef>
              <a:spcAft>
                <a:spcPts val="0"/>
              </a:spcAft>
              <a:defRPr sz="1100" b="1">
                <a:solidFill>
                  <a:srgbClr val="B30D2C"/>
                </a:solidFill>
                <a:latin typeface="Noto Sans"/>
              </a:defRPr>
            </a:pPr>
            <a:r>
              <a:t>THE NLP METHOD</a:t>
            </a:r>
          </a:p>
        </p:txBody>
      </p:sp>
      <p:sp>
        <p:nvSpPr>
          <p:cNvPr id="5" name="TEXT Design: Discussion Detector"/>
          <p:cNvSpPr txBox="1"/>
          <p:nvPr/>
        </p:nvSpPr>
        <p:spPr>
          <a:xfrm>
            <a:off x="484632" y="749808"/>
            <a:ext cx="10881360" cy="502920"/>
          </a:xfrm>
          <a:prstGeom prst="rect">
            <a:avLst/>
          </a:prstGeom>
          <a:noFill/>
        </p:spPr>
        <p:txBody>
          <a:bodyPr wrap="none" lIns="0" rIns="0" tIns="0" bIns="0" anchor="t">
            <a:spAutoFit/>
          </a:bodyPr>
          <a:lstStyle/>
          <a:p>
            <a:pPr algn="l">
              <a:lnSpc>
                <a:spcPts val="3422"/>
              </a:lnSpc>
              <a:spcBef>
                <a:spcPts val="0"/>
              </a:spcBef>
              <a:spcAft>
                <a:spcPts val="0"/>
              </a:spcAft>
              <a:defRPr sz="2900" b="1">
                <a:solidFill>
                  <a:srgbClr val="152C40"/>
                </a:solidFill>
                <a:latin typeface="Noto Sans"/>
              </a:defRPr>
            </a:pPr>
            <a:r>
              <a:t>Design: Discussion Detector</a:t>
            </a:r>
          </a:p>
        </p:txBody>
      </p:sp>
      <p:sp>
        <p:nvSpPr>
          <p:cNvPr id="6" name="TEXT Two conventional classifiers; no generat"/>
          <p:cNvSpPr txBox="1"/>
          <p:nvPr/>
        </p:nvSpPr>
        <p:spPr>
          <a:xfrm>
            <a:off x="502920" y="1298448"/>
            <a:ext cx="11064240" cy="411480"/>
          </a:xfrm>
          <a:prstGeom prst="rect">
            <a:avLst/>
          </a:prstGeom>
          <a:noFill/>
        </p:spPr>
        <p:txBody>
          <a:bodyPr wrap="none" lIns="0" rIns="0" tIns="0" bIns="0" anchor="t">
            <a:spAutoFit/>
          </a:bodyPr>
          <a:lstStyle/>
          <a:p>
            <a:pPr algn="l">
              <a:lnSpc>
                <a:spcPts val="1770"/>
              </a:lnSpc>
              <a:spcBef>
                <a:spcPts val="0"/>
              </a:spcBef>
              <a:spcAft>
                <a:spcPts val="0"/>
              </a:spcAft>
              <a:defRPr sz="1500" b="0">
                <a:solidFill>
                  <a:srgbClr val="526675"/>
                </a:solidFill>
                <a:latin typeface="Noto Sans"/>
              </a:defRPr>
            </a:pPr>
            <a:r>
              <a:t>Two conventional classifiers; no generative meeting summary is produced.</a:t>
            </a:r>
          </a:p>
        </p:txBody>
      </p:sp>
      <p:pic>
        <p:nvPicPr>
          <p:cNvPr id="7" name="Picture 6" descr="image3.png"/>
          <p:cNvPicPr>
            <a:picLocks noChangeAspect="1"/>
          </p:cNvPicPr>
          <p:nvPr/>
        </p:nvPicPr>
        <p:blipFill>
          <a:blip r:embed="rId2"/>
          <a:stretch>
            <a:fillRect/>
          </a:stretch>
        </p:blipFill>
        <p:spPr>
          <a:xfrm>
            <a:off x="10195560" y="320040"/>
            <a:ext cx="1508760" cy="286077"/>
          </a:xfrm>
          <a:prstGeom prst="rect">
            <a:avLst/>
          </a:prstGeom>
        </p:spPr>
      </p:pic>
      <p:cxnSp>
        <p:nvCxnSpPr>
          <p:cNvPr id="8" name="Connector 7"/>
          <p:cNvCxnSpPr/>
          <p:nvPr/>
        </p:nvCxnSpPr>
        <p:spPr>
          <a:xfrm>
            <a:off x="502920" y="6419088"/>
            <a:ext cx="11183112" cy="0"/>
          </a:xfrm>
          <a:prstGeom prst="line">
            <a:avLst/>
          </a:prstGeom>
          <a:ln w="12700">
            <a:solidFill>
              <a:srgbClr val="D9E2E7"/>
            </a:solidFill>
          </a:ln>
        </p:spPr>
        <p:style>
          <a:lnRef idx="2">
            <a:schemeClr val="accent1"/>
          </a:lnRef>
          <a:fillRef idx="0">
            <a:schemeClr val="accent1"/>
          </a:fillRef>
          <a:effectRef idx="1">
            <a:schemeClr val="accent1"/>
          </a:effectRef>
          <a:fontRef idx="minor">
            <a:schemeClr val="tx1"/>
          </a:fontRef>
        </p:style>
      </p:cxnSp>
      <p:sp>
        <p:nvSpPr>
          <p:cNvPr id="9" name="TEXT SIT Pune  |  AI &amp; ML  |  Group 12  |  Pr"/>
          <p:cNvSpPr txBox="1"/>
          <p:nvPr/>
        </p:nvSpPr>
        <p:spPr>
          <a:xfrm>
            <a:off x="502920" y="6519672"/>
            <a:ext cx="9509760" cy="173736"/>
          </a:xfrm>
          <a:prstGeom prst="rect">
            <a:avLst/>
          </a:prstGeom>
          <a:noFill/>
        </p:spPr>
        <p:txBody>
          <a:bodyPr wrap="none" lIns="0" rIns="0" tIns="0" bIns="0" anchor="t">
            <a:spAutoFit/>
          </a:bodyPr>
          <a:lstStyle/>
          <a:p>
            <a:pPr algn="l">
              <a:lnSpc>
                <a:spcPts val="1062"/>
              </a:lnSpc>
              <a:spcBef>
                <a:spcPts val="0"/>
              </a:spcBef>
              <a:spcAft>
                <a:spcPts val="0"/>
              </a:spcAft>
              <a:defRPr sz="900" b="0">
                <a:solidFill>
                  <a:srgbClr val="526675"/>
                </a:solidFill>
                <a:latin typeface="Noto Sans"/>
              </a:defRPr>
            </a:pPr>
            <a:r>
              <a:t>SIT Pune | AI &amp; ML | Group 12 | Prepared 20 October 2026</a:t>
            </a:r>
          </a:p>
        </p:txBody>
      </p:sp>
      <p:sp>
        <p:nvSpPr>
          <p:cNvPr id="10" name="TEXT 11 / 18"/>
          <p:cNvSpPr txBox="1"/>
          <p:nvPr/>
        </p:nvSpPr>
        <p:spPr>
          <a:xfrm>
            <a:off x="10789920" y="6510528"/>
            <a:ext cx="914400" cy="201168"/>
          </a:xfrm>
          <a:prstGeom prst="rect">
            <a:avLst/>
          </a:prstGeom>
          <a:noFill/>
        </p:spPr>
        <p:txBody>
          <a:bodyPr wrap="none" lIns="0" rIns="0" tIns="0" bIns="0" anchor="t">
            <a:spAutoFit/>
          </a:bodyPr>
          <a:lstStyle/>
          <a:p>
            <a:pPr algn="r">
              <a:lnSpc>
                <a:spcPts val="1180"/>
              </a:lnSpc>
              <a:spcBef>
                <a:spcPts val="0"/>
              </a:spcBef>
              <a:spcAft>
                <a:spcPts val="0"/>
              </a:spcAft>
              <a:defRPr sz="1000" b="0">
                <a:solidFill>
                  <a:srgbClr val="526675"/>
                </a:solidFill>
                <a:latin typeface="Noto Sans"/>
              </a:defRPr>
            </a:pPr>
            <a:r>
              <a:t>11 / 18</a:t>
            </a:r>
          </a:p>
        </p:txBody>
      </p:sp>
      <p:sp>
        <p:nvSpPr>
          <p:cNvPr id="11" name="Rounded Rectangle 10"/>
          <p:cNvSpPr/>
          <p:nvPr/>
        </p:nvSpPr>
        <p:spPr>
          <a:xfrm>
            <a:off x="594360" y="1965960"/>
            <a:ext cx="2697480" cy="2240280"/>
          </a:xfrm>
          <a:prstGeom prst="roundRect">
            <a:avLst>
              <a:gd name="adj" fmla="val 6000"/>
            </a:avLst>
          </a:prstGeom>
          <a:solidFill>
            <a:srgbClr val="F0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Reference acts"/>
          <p:cNvSpPr txBox="1"/>
          <p:nvPr/>
        </p:nvSpPr>
        <p:spPr>
          <a:xfrm>
            <a:off x="795528" y="2148840"/>
            <a:ext cx="2295144" cy="502920"/>
          </a:xfrm>
          <a:prstGeom prst="rect">
            <a:avLst/>
          </a:prstGeom>
          <a:noFill/>
        </p:spPr>
        <p:txBody>
          <a:bodyPr wrap="none" lIns="0" rIns="0" tIns="0" bIns="0" anchor="t">
            <a:spAutoFit/>
          </a:bodyPr>
          <a:lstStyle/>
          <a:p>
            <a:pPr algn="l">
              <a:lnSpc>
                <a:spcPts val="2477"/>
              </a:lnSpc>
              <a:spcBef>
                <a:spcPts val="0"/>
              </a:spcBef>
              <a:spcAft>
                <a:spcPts val="0"/>
              </a:spcAft>
              <a:defRPr sz="2100" b="1">
                <a:solidFill>
                  <a:srgbClr val="152C40"/>
                </a:solidFill>
                <a:latin typeface="Noto Sans"/>
              </a:defRPr>
            </a:pPr>
            <a:r>
              <a:t>Reference acts</a:t>
            </a:r>
          </a:p>
        </p:txBody>
      </p:sp>
      <p:sp>
        <p:nvSpPr>
          <p:cNvPr id="13" name="TEXT Human text +&#10;discussion labels"/>
          <p:cNvSpPr txBox="1"/>
          <p:nvPr/>
        </p:nvSpPr>
        <p:spPr>
          <a:xfrm>
            <a:off x="795528" y="2807208"/>
            <a:ext cx="2295144" cy="1271016"/>
          </a:xfrm>
          <a:prstGeom prst="rect">
            <a:avLst/>
          </a:prstGeom>
          <a:noFill/>
        </p:spPr>
        <p:txBody>
          <a:bodyPr wrap="none" lIns="0" rIns="0" tIns="0" bIns="0" anchor="t">
            <a:spAutoFit/>
          </a:bodyPr>
          <a:lstStyle/>
          <a:p>
            <a:pPr algn="l">
              <a:lnSpc>
                <a:spcPts val="2360"/>
              </a:lnSpc>
              <a:spcBef>
                <a:spcPts val="0"/>
              </a:spcBef>
              <a:spcAft>
                <a:spcPts val="0"/>
              </a:spcAft>
              <a:defRPr sz="2000" b="0">
                <a:solidFill>
                  <a:srgbClr val="152C40"/>
                </a:solidFill>
                <a:latin typeface="Noto Sans"/>
              </a:defRPr>
            </a:pPr>
            <a:r>
              <a:t>Human text +</a:t>
            </a:r>
          </a:p>
          <a:p>
            <a:pPr algn="l">
              <a:lnSpc>
                <a:spcPts val="2360"/>
              </a:lnSpc>
              <a:spcBef>
                <a:spcPts val="0"/>
              </a:spcBef>
              <a:spcAft>
                <a:spcPts val="0"/>
              </a:spcAft>
              <a:defRPr sz="2000" b="0">
                <a:solidFill>
                  <a:srgbClr val="152C40"/>
                </a:solidFill>
                <a:latin typeface="Noto Sans"/>
              </a:defRPr>
            </a:pPr>
            <a:r>
              <a:t>discussion labels</a:t>
            </a:r>
          </a:p>
        </p:txBody>
      </p:sp>
      <p:cxnSp>
        <p:nvCxnSpPr>
          <p:cNvPr id="14" name="Connector 13"/>
          <p:cNvCxnSpPr/>
          <p:nvPr/>
        </p:nvCxnSpPr>
        <p:spPr>
          <a:xfrm>
            <a:off x="3319272" y="3063240"/>
            <a:ext cx="137160" cy="0"/>
          </a:xfrm>
          <a:prstGeom prst="line">
            <a:avLst/>
          </a:prstGeom>
          <a:ln w="19050">
            <a:solidFill>
              <a:srgbClr val="087F8C"/>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502152" y="1965960"/>
            <a:ext cx="2697480" cy="2240280"/>
          </a:xfrm>
          <a:prstGeom prst="roundRect">
            <a:avLst>
              <a:gd name="adj" fmla="val 6000"/>
            </a:avLst>
          </a:prstGeom>
          <a:solidFill>
            <a:srgbClr val="F0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 Lexical features"/>
          <p:cNvSpPr txBox="1"/>
          <p:nvPr/>
        </p:nvSpPr>
        <p:spPr>
          <a:xfrm>
            <a:off x="3703320" y="2148840"/>
            <a:ext cx="2295144" cy="502920"/>
          </a:xfrm>
          <a:prstGeom prst="rect">
            <a:avLst/>
          </a:prstGeom>
          <a:noFill/>
        </p:spPr>
        <p:txBody>
          <a:bodyPr wrap="none" lIns="0" rIns="0" tIns="0" bIns="0" anchor="t">
            <a:spAutoFit/>
          </a:bodyPr>
          <a:lstStyle/>
          <a:p>
            <a:pPr algn="l">
              <a:lnSpc>
                <a:spcPts val="2477"/>
              </a:lnSpc>
              <a:spcBef>
                <a:spcPts val="0"/>
              </a:spcBef>
              <a:spcAft>
                <a:spcPts val="0"/>
              </a:spcAft>
              <a:defRPr sz="2100" b="1">
                <a:solidFill>
                  <a:srgbClr val="152C40"/>
                </a:solidFill>
                <a:latin typeface="Noto Sans"/>
              </a:defRPr>
            </a:pPr>
            <a:r>
              <a:t>Lexical features</a:t>
            </a:r>
          </a:p>
        </p:txBody>
      </p:sp>
      <p:sp>
        <p:nvSpPr>
          <p:cNvPr id="17" name="TEXT Words / characters&#10;+ nearby context"/>
          <p:cNvSpPr txBox="1"/>
          <p:nvPr/>
        </p:nvSpPr>
        <p:spPr>
          <a:xfrm>
            <a:off x="3703320" y="2807208"/>
            <a:ext cx="2295144" cy="1271016"/>
          </a:xfrm>
          <a:prstGeom prst="rect">
            <a:avLst/>
          </a:prstGeom>
          <a:noFill/>
        </p:spPr>
        <p:txBody>
          <a:bodyPr wrap="none" lIns="0" rIns="0" tIns="0" bIns="0" anchor="t">
            <a:spAutoFit/>
          </a:bodyPr>
          <a:lstStyle/>
          <a:p>
            <a:pPr algn="l">
              <a:lnSpc>
                <a:spcPts val="2360"/>
              </a:lnSpc>
              <a:spcBef>
                <a:spcPts val="0"/>
              </a:spcBef>
              <a:spcAft>
                <a:spcPts val="0"/>
              </a:spcAft>
              <a:defRPr sz="2000" b="0">
                <a:solidFill>
                  <a:srgbClr val="152C40"/>
                </a:solidFill>
                <a:latin typeface="Noto Sans"/>
              </a:defRPr>
            </a:pPr>
            <a:r>
              <a:t>Words / characters</a:t>
            </a:r>
          </a:p>
          <a:p>
            <a:pPr algn="l">
              <a:lnSpc>
                <a:spcPts val="2360"/>
              </a:lnSpc>
              <a:spcBef>
                <a:spcPts val="0"/>
              </a:spcBef>
              <a:spcAft>
                <a:spcPts val="0"/>
              </a:spcAft>
              <a:defRPr sz="2000" b="0">
                <a:solidFill>
                  <a:srgbClr val="152C40"/>
                </a:solidFill>
                <a:latin typeface="Noto Sans"/>
              </a:defRPr>
            </a:pPr>
            <a:r>
              <a:t>+ nearby context</a:t>
            </a:r>
          </a:p>
        </p:txBody>
      </p:sp>
      <p:cxnSp>
        <p:nvCxnSpPr>
          <p:cNvPr id="18" name="Connector 17"/>
          <p:cNvCxnSpPr/>
          <p:nvPr/>
        </p:nvCxnSpPr>
        <p:spPr>
          <a:xfrm>
            <a:off x="6227064" y="3063240"/>
            <a:ext cx="137160" cy="0"/>
          </a:xfrm>
          <a:prstGeom prst="line">
            <a:avLst/>
          </a:prstGeom>
          <a:ln w="19050">
            <a:solidFill>
              <a:srgbClr val="087F8C"/>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409944" y="1965960"/>
            <a:ext cx="2697480" cy="2240280"/>
          </a:xfrm>
          <a:prstGeom prst="roundRect">
            <a:avLst>
              <a:gd name="adj" fmla="val 6000"/>
            </a:avLst>
          </a:prstGeom>
          <a:solidFill>
            <a:srgbClr val="F0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 Two scores"/>
          <p:cNvSpPr txBox="1"/>
          <p:nvPr/>
        </p:nvSpPr>
        <p:spPr>
          <a:xfrm>
            <a:off x="6611112" y="2148840"/>
            <a:ext cx="2295144" cy="502920"/>
          </a:xfrm>
          <a:prstGeom prst="rect">
            <a:avLst/>
          </a:prstGeom>
          <a:noFill/>
        </p:spPr>
        <p:txBody>
          <a:bodyPr wrap="none" lIns="0" rIns="0" tIns="0" bIns="0" anchor="t">
            <a:spAutoFit/>
          </a:bodyPr>
          <a:lstStyle/>
          <a:p>
            <a:pPr algn="l">
              <a:lnSpc>
                <a:spcPts val="2477"/>
              </a:lnSpc>
              <a:spcBef>
                <a:spcPts val="0"/>
              </a:spcBef>
              <a:spcAft>
                <a:spcPts val="0"/>
              </a:spcAft>
              <a:defRPr sz="2100" b="1">
                <a:solidFill>
                  <a:srgbClr val="152C40"/>
                </a:solidFill>
                <a:latin typeface="Noto Sans"/>
              </a:defRPr>
            </a:pPr>
            <a:r>
              <a:t>Two scores</a:t>
            </a:r>
          </a:p>
        </p:txBody>
      </p:sp>
      <p:sp>
        <p:nvSpPr>
          <p:cNvPr id="21" name="TEXT Random forest&#10;+ logistic regression"/>
          <p:cNvSpPr txBox="1"/>
          <p:nvPr/>
        </p:nvSpPr>
        <p:spPr>
          <a:xfrm>
            <a:off x="6611112" y="2807208"/>
            <a:ext cx="2295144" cy="1271016"/>
          </a:xfrm>
          <a:prstGeom prst="rect">
            <a:avLst/>
          </a:prstGeom>
          <a:noFill/>
        </p:spPr>
        <p:txBody>
          <a:bodyPr wrap="none" lIns="0" rIns="0" tIns="0" bIns="0" anchor="t">
            <a:spAutoFit/>
          </a:bodyPr>
          <a:lstStyle/>
          <a:p>
            <a:pPr algn="l">
              <a:lnSpc>
                <a:spcPts val="2360"/>
              </a:lnSpc>
              <a:spcBef>
                <a:spcPts val="0"/>
              </a:spcBef>
              <a:spcAft>
                <a:spcPts val="0"/>
              </a:spcAft>
              <a:defRPr sz="2000" b="0">
                <a:solidFill>
                  <a:srgbClr val="152C40"/>
                </a:solidFill>
                <a:latin typeface="Noto Sans"/>
              </a:defRPr>
            </a:pPr>
            <a:r>
              <a:t>Random forest</a:t>
            </a:r>
          </a:p>
          <a:p>
            <a:pPr algn="l">
              <a:lnSpc>
                <a:spcPts val="2360"/>
              </a:lnSpc>
              <a:spcBef>
                <a:spcPts val="0"/>
              </a:spcBef>
              <a:spcAft>
                <a:spcPts val="0"/>
              </a:spcAft>
              <a:defRPr sz="2000" b="0">
                <a:solidFill>
                  <a:srgbClr val="152C40"/>
                </a:solidFill>
                <a:latin typeface="Noto Sans"/>
              </a:defRPr>
            </a:pPr>
            <a:r>
              <a:t>+ logistic</a:t>
            </a:r>
          </a:p>
          <a:p>
            <a:pPr algn="l">
              <a:lnSpc>
                <a:spcPts val="2360"/>
              </a:lnSpc>
              <a:spcBef>
                <a:spcPts val="0"/>
              </a:spcBef>
              <a:spcAft>
                <a:spcPts val="0"/>
              </a:spcAft>
              <a:defRPr sz="2000" b="0">
                <a:solidFill>
                  <a:srgbClr val="152C40"/>
                </a:solidFill>
                <a:latin typeface="Noto Sans"/>
              </a:defRPr>
            </a:pPr>
            <a:r>
              <a:t>regression</a:t>
            </a:r>
          </a:p>
        </p:txBody>
      </p:sp>
      <p:cxnSp>
        <p:nvCxnSpPr>
          <p:cNvPr id="22" name="Connector 21"/>
          <p:cNvCxnSpPr/>
          <p:nvPr/>
        </p:nvCxnSpPr>
        <p:spPr>
          <a:xfrm>
            <a:off x="9134856" y="3063240"/>
            <a:ext cx="137160" cy="0"/>
          </a:xfrm>
          <a:prstGeom prst="line">
            <a:avLst/>
          </a:prstGeom>
          <a:ln w="19050">
            <a:solidFill>
              <a:srgbClr val="087F8C"/>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9317736" y="1965960"/>
            <a:ext cx="2697480" cy="2240280"/>
          </a:xfrm>
          <a:prstGeom prst="roundRect">
            <a:avLst>
              <a:gd name="adj" fmla="val 6000"/>
            </a:avLst>
          </a:prstGeom>
          <a:solidFill>
            <a:srgbClr val="F0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 Review output"/>
          <p:cNvSpPr txBox="1"/>
          <p:nvPr/>
        </p:nvSpPr>
        <p:spPr>
          <a:xfrm>
            <a:off x="9518904" y="2148840"/>
            <a:ext cx="2295144" cy="502920"/>
          </a:xfrm>
          <a:prstGeom prst="rect">
            <a:avLst/>
          </a:prstGeom>
          <a:noFill/>
        </p:spPr>
        <p:txBody>
          <a:bodyPr wrap="none" lIns="0" rIns="0" tIns="0" bIns="0" anchor="t">
            <a:spAutoFit/>
          </a:bodyPr>
          <a:lstStyle/>
          <a:p>
            <a:pPr algn="l">
              <a:lnSpc>
                <a:spcPts val="2477"/>
              </a:lnSpc>
              <a:spcBef>
                <a:spcPts val="0"/>
              </a:spcBef>
              <a:spcAft>
                <a:spcPts val="0"/>
              </a:spcAft>
              <a:defRPr sz="2100" b="1">
                <a:solidFill>
                  <a:srgbClr val="152C40"/>
                </a:solidFill>
                <a:latin typeface="Noto Sans"/>
              </a:defRPr>
            </a:pPr>
            <a:r>
              <a:t>Review output</a:t>
            </a:r>
          </a:p>
        </p:txBody>
      </p:sp>
      <p:sp>
        <p:nvSpPr>
          <p:cNvPr id="25" name="TEXT Smooth scores&#10;+ apply threshold"/>
          <p:cNvSpPr txBox="1"/>
          <p:nvPr/>
        </p:nvSpPr>
        <p:spPr>
          <a:xfrm>
            <a:off x="9518904" y="2807208"/>
            <a:ext cx="2295144" cy="1271016"/>
          </a:xfrm>
          <a:prstGeom prst="rect">
            <a:avLst/>
          </a:prstGeom>
          <a:noFill/>
        </p:spPr>
        <p:txBody>
          <a:bodyPr wrap="none" lIns="0" rIns="0" tIns="0" bIns="0" anchor="t">
            <a:spAutoFit/>
          </a:bodyPr>
          <a:lstStyle/>
          <a:p>
            <a:pPr algn="l">
              <a:lnSpc>
                <a:spcPts val="2360"/>
              </a:lnSpc>
              <a:spcBef>
                <a:spcPts val="0"/>
              </a:spcBef>
              <a:spcAft>
                <a:spcPts val="0"/>
              </a:spcAft>
              <a:defRPr sz="2000" b="0">
                <a:solidFill>
                  <a:srgbClr val="152C40"/>
                </a:solidFill>
                <a:latin typeface="Noto Sans"/>
              </a:defRPr>
            </a:pPr>
            <a:r>
              <a:t>Smooth scores</a:t>
            </a:r>
          </a:p>
          <a:p>
            <a:pPr algn="l">
              <a:lnSpc>
                <a:spcPts val="2360"/>
              </a:lnSpc>
              <a:spcBef>
                <a:spcPts val="0"/>
              </a:spcBef>
              <a:spcAft>
                <a:spcPts val="0"/>
              </a:spcAft>
              <a:defRPr sz="2000" b="0">
                <a:solidFill>
                  <a:srgbClr val="152C40"/>
                </a:solidFill>
                <a:latin typeface="Noto Sans"/>
              </a:defRPr>
            </a:pPr>
            <a:r>
              <a:t>+ apply threshold</a:t>
            </a:r>
          </a:p>
        </p:txBody>
      </p:sp>
      <p:sp>
        <p:nvSpPr>
          <p:cNvPr id="26" name="Rounded Rectangle 25"/>
          <p:cNvSpPr/>
          <p:nvPr/>
        </p:nvSpPr>
        <p:spPr>
          <a:xfrm>
            <a:off x="731520" y="4617720"/>
            <a:ext cx="10698480" cy="731520"/>
          </a:xfrm>
          <a:prstGeom prst="roundRect">
            <a:avLst>
              <a:gd name="adj" fmla="val 6000"/>
            </a:avLst>
          </a:prstGeom>
          <a:solidFill>
            <a:srgbClr val="FBEE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 Combined score = 75% forest + 25% logist"/>
          <p:cNvSpPr txBox="1"/>
          <p:nvPr/>
        </p:nvSpPr>
        <p:spPr>
          <a:xfrm>
            <a:off x="960120" y="4773168"/>
            <a:ext cx="10149840" cy="457200"/>
          </a:xfrm>
          <a:prstGeom prst="rect">
            <a:avLst/>
          </a:prstGeom>
          <a:noFill/>
        </p:spPr>
        <p:txBody>
          <a:bodyPr wrap="none" lIns="0" rIns="0" tIns="0" bIns="0" anchor="t">
            <a:spAutoFit/>
          </a:bodyPr>
          <a:lstStyle/>
          <a:p>
            <a:pPr algn="l">
              <a:lnSpc>
                <a:spcPts val="3068"/>
              </a:lnSpc>
              <a:spcBef>
                <a:spcPts val="0"/>
              </a:spcBef>
              <a:spcAft>
                <a:spcPts val="0"/>
              </a:spcAft>
              <a:defRPr sz="2600" b="1">
                <a:solidFill>
                  <a:srgbClr val="B30D2C"/>
                </a:solidFill>
                <a:latin typeface="Noto Sans"/>
              </a:defRPr>
            </a:pPr>
            <a:r>
              <a:t>Combined score = 75% forest + 25% logistic</a:t>
            </a:r>
          </a:p>
        </p:txBody>
      </p:sp>
      <p:sp>
        <p:nvSpPr>
          <p:cNvPr id="28" name="TEXT Context: ±40 acts. Smoothing: ±5 acts. T"/>
          <p:cNvSpPr txBox="1"/>
          <p:nvPr/>
        </p:nvSpPr>
        <p:spPr>
          <a:xfrm>
            <a:off x="777240" y="5596128"/>
            <a:ext cx="10698480" cy="365760"/>
          </a:xfrm>
          <a:prstGeom prst="rect">
            <a:avLst/>
          </a:prstGeom>
          <a:noFill/>
        </p:spPr>
        <p:txBody>
          <a:bodyPr wrap="none" lIns="0" rIns="0" tIns="0" bIns="0" anchor="t">
            <a:spAutoFit/>
          </a:bodyPr>
          <a:lstStyle/>
          <a:p>
            <a:pPr algn="l">
              <a:lnSpc>
                <a:spcPts val="1888"/>
              </a:lnSpc>
              <a:spcBef>
                <a:spcPts val="0"/>
              </a:spcBef>
              <a:spcAft>
                <a:spcPts val="0"/>
              </a:spcAft>
              <a:defRPr sz="1600" b="0">
                <a:solidFill>
                  <a:srgbClr val="526675"/>
                </a:solidFill>
                <a:latin typeface="Noto Sans"/>
              </a:defRPr>
            </a:pPr>
            <a:r>
              <a:t>Context: ±40 acts. Smoothing: ±5 acts. Threshold: 0.357740. English-only learned review.</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84048"/>
            <a:ext cx="59436" cy="329184"/>
          </a:xfrm>
          <a:prstGeom prst="rect">
            <a:avLst/>
          </a:prstGeom>
          <a:solidFill>
            <a:srgbClr val="B30D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 EVALUATION DESIGN"/>
          <p:cNvSpPr txBox="1"/>
          <p:nvPr/>
        </p:nvSpPr>
        <p:spPr>
          <a:xfrm>
            <a:off x="658368" y="320040"/>
            <a:ext cx="9144000" cy="228600"/>
          </a:xfrm>
          <a:prstGeom prst="rect">
            <a:avLst/>
          </a:prstGeom>
          <a:noFill/>
        </p:spPr>
        <p:txBody>
          <a:bodyPr wrap="none" lIns="0" rIns="0" tIns="0" bIns="0" anchor="t">
            <a:spAutoFit/>
          </a:bodyPr>
          <a:lstStyle/>
          <a:p>
            <a:pPr algn="l">
              <a:lnSpc>
                <a:spcPts val="1297"/>
              </a:lnSpc>
              <a:spcBef>
                <a:spcPts val="0"/>
              </a:spcBef>
              <a:spcAft>
                <a:spcPts val="0"/>
              </a:spcAft>
              <a:defRPr sz="1100" b="1">
                <a:solidFill>
                  <a:srgbClr val="B30D2C"/>
                </a:solidFill>
                <a:latin typeface="Noto Sans"/>
              </a:defRPr>
            </a:pPr>
            <a:r>
              <a:t>EVALUATION DESIGN</a:t>
            </a:r>
          </a:p>
        </p:txBody>
      </p:sp>
      <p:sp>
        <p:nvSpPr>
          <p:cNvPr id="5" name="TEXT Development / Implementation"/>
          <p:cNvSpPr txBox="1"/>
          <p:nvPr/>
        </p:nvSpPr>
        <p:spPr>
          <a:xfrm>
            <a:off x="484632" y="749808"/>
            <a:ext cx="10881360" cy="502920"/>
          </a:xfrm>
          <a:prstGeom prst="rect">
            <a:avLst/>
          </a:prstGeom>
          <a:noFill/>
        </p:spPr>
        <p:txBody>
          <a:bodyPr wrap="none" lIns="0" rIns="0" tIns="0" bIns="0" anchor="t">
            <a:spAutoFit/>
          </a:bodyPr>
          <a:lstStyle/>
          <a:p>
            <a:pPr algn="l">
              <a:lnSpc>
                <a:spcPts val="3422"/>
              </a:lnSpc>
              <a:spcBef>
                <a:spcPts val="0"/>
              </a:spcBef>
              <a:spcAft>
                <a:spcPts val="0"/>
              </a:spcAft>
              <a:defRPr sz="2900" b="1">
                <a:solidFill>
                  <a:srgbClr val="152C40"/>
                </a:solidFill>
                <a:latin typeface="Noto Sans"/>
              </a:defRPr>
            </a:pPr>
            <a:r>
              <a:t>Development / Implementation</a:t>
            </a:r>
          </a:p>
        </p:txBody>
      </p:sp>
      <p:sp>
        <p:nvSpPr>
          <p:cNvPr id="6" name="TEXT 47 AMI meetings with manual discussion s"/>
          <p:cNvSpPr txBox="1"/>
          <p:nvPr/>
        </p:nvSpPr>
        <p:spPr>
          <a:xfrm>
            <a:off x="502920" y="1298448"/>
            <a:ext cx="11064240" cy="411480"/>
          </a:xfrm>
          <a:prstGeom prst="rect">
            <a:avLst/>
          </a:prstGeom>
          <a:noFill/>
        </p:spPr>
        <p:txBody>
          <a:bodyPr wrap="none" lIns="0" rIns="0" tIns="0" bIns="0" anchor="t">
            <a:spAutoFit/>
          </a:bodyPr>
          <a:lstStyle/>
          <a:p>
            <a:pPr algn="l">
              <a:lnSpc>
                <a:spcPts val="1770"/>
              </a:lnSpc>
              <a:spcBef>
                <a:spcPts val="0"/>
              </a:spcBef>
              <a:spcAft>
                <a:spcPts val="0"/>
              </a:spcAft>
              <a:defRPr sz="1500" b="0">
                <a:solidFill>
                  <a:srgbClr val="526675"/>
                </a:solidFill>
                <a:latin typeface="Noto Sans"/>
              </a:defRPr>
            </a:pPr>
            <a:r>
              <a:t>47 AMI meetings with manual discussion spans; series remain in one partition.</a:t>
            </a:r>
          </a:p>
        </p:txBody>
      </p:sp>
      <p:pic>
        <p:nvPicPr>
          <p:cNvPr id="7" name="Picture 6" descr="image3.png"/>
          <p:cNvPicPr>
            <a:picLocks noChangeAspect="1"/>
          </p:cNvPicPr>
          <p:nvPr/>
        </p:nvPicPr>
        <p:blipFill>
          <a:blip r:embed="rId2"/>
          <a:stretch>
            <a:fillRect/>
          </a:stretch>
        </p:blipFill>
        <p:spPr>
          <a:xfrm>
            <a:off x="10195560" y="320040"/>
            <a:ext cx="1508760" cy="286077"/>
          </a:xfrm>
          <a:prstGeom prst="rect">
            <a:avLst/>
          </a:prstGeom>
        </p:spPr>
      </p:pic>
      <p:cxnSp>
        <p:nvCxnSpPr>
          <p:cNvPr id="8" name="Connector 7"/>
          <p:cNvCxnSpPr/>
          <p:nvPr/>
        </p:nvCxnSpPr>
        <p:spPr>
          <a:xfrm>
            <a:off x="502920" y="6419088"/>
            <a:ext cx="11183112" cy="0"/>
          </a:xfrm>
          <a:prstGeom prst="line">
            <a:avLst/>
          </a:prstGeom>
          <a:ln w="12700">
            <a:solidFill>
              <a:srgbClr val="D9E2E7"/>
            </a:solidFill>
          </a:ln>
        </p:spPr>
        <p:style>
          <a:lnRef idx="2">
            <a:schemeClr val="accent1"/>
          </a:lnRef>
          <a:fillRef idx="0">
            <a:schemeClr val="accent1"/>
          </a:fillRef>
          <a:effectRef idx="1">
            <a:schemeClr val="accent1"/>
          </a:effectRef>
          <a:fontRef idx="minor">
            <a:schemeClr val="tx1"/>
          </a:fontRef>
        </p:style>
      </p:cxnSp>
      <p:sp>
        <p:nvSpPr>
          <p:cNvPr id="9" name="TEXT SIT Pune  |  AI &amp; ML  |  Group 12  |  Pr"/>
          <p:cNvSpPr txBox="1"/>
          <p:nvPr/>
        </p:nvSpPr>
        <p:spPr>
          <a:xfrm>
            <a:off x="502920" y="6519672"/>
            <a:ext cx="9509760" cy="173736"/>
          </a:xfrm>
          <a:prstGeom prst="rect">
            <a:avLst/>
          </a:prstGeom>
          <a:noFill/>
        </p:spPr>
        <p:txBody>
          <a:bodyPr wrap="none" lIns="0" rIns="0" tIns="0" bIns="0" anchor="t">
            <a:spAutoFit/>
          </a:bodyPr>
          <a:lstStyle/>
          <a:p>
            <a:pPr algn="l">
              <a:lnSpc>
                <a:spcPts val="1062"/>
              </a:lnSpc>
              <a:spcBef>
                <a:spcPts val="0"/>
              </a:spcBef>
              <a:spcAft>
                <a:spcPts val="0"/>
              </a:spcAft>
              <a:defRPr sz="900" b="0">
                <a:solidFill>
                  <a:srgbClr val="526675"/>
                </a:solidFill>
                <a:latin typeface="Noto Sans"/>
              </a:defRPr>
            </a:pPr>
            <a:r>
              <a:t>SIT Pune | AI &amp; ML | Group 12 | Prepared 20 October 2026</a:t>
            </a:r>
          </a:p>
        </p:txBody>
      </p:sp>
      <p:sp>
        <p:nvSpPr>
          <p:cNvPr id="10" name="TEXT 12 / 18"/>
          <p:cNvSpPr txBox="1"/>
          <p:nvPr/>
        </p:nvSpPr>
        <p:spPr>
          <a:xfrm>
            <a:off x="10789920" y="6510528"/>
            <a:ext cx="914400" cy="201168"/>
          </a:xfrm>
          <a:prstGeom prst="rect">
            <a:avLst/>
          </a:prstGeom>
          <a:noFill/>
        </p:spPr>
        <p:txBody>
          <a:bodyPr wrap="none" lIns="0" rIns="0" tIns="0" bIns="0" anchor="t">
            <a:spAutoFit/>
          </a:bodyPr>
          <a:lstStyle/>
          <a:p>
            <a:pPr algn="r">
              <a:lnSpc>
                <a:spcPts val="1180"/>
              </a:lnSpc>
              <a:spcBef>
                <a:spcPts val="0"/>
              </a:spcBef>
              <a:spcAft>
                <a:spcPts val="0"/>
              </a:spcAft>
              <a:defRPr sz="1000" b="0">
                <a:solidFill>
                  <a:srgbClr val="526675"/>
                </a:solidFill>
                <a:latin typeface="Noto Sans"/>
              </a:defRPr>
            </a:pPr>
            <a:r>
              <a:t>12 / 18</a:t>
            </a:r>
          </a:p>
        </p:txBody>
      </p:sp>
      <p:sp>
        <p:nvSpPr>
          <p:cNvPr id="11" name="Rectangle 10"/>
          <p:cNvSpPr/>
          <p:nvPr/>
        </p:nvSpPr>
        <p:spPr>
          <a:xfrm>
            <a:off x="731520" y="1993392"/>
            <a:ext cx="3017520" cy="658368"/>
          </a:xfrm>
          <a:prstGeom prst="rect">
            <a:avLst/>
          </a:prstGeom>
          <a:solidFill>
            <a:srgbClr val="152C40"/>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Partition"/>
          <p:cNvSpPr txBox="1"/>
          <p:nvPr/>
        </p:nvSpPr>
        <p:spPr>
          <a:xfrm>
            <a:off x="822960" y="2061972"/>
            <a:ext cx="2834639" cy="585216"/>
          </a:xfrm>
          <a:prstGeom prst="rect">
            <a:avLst/>
          </a:prstGeom>
          <a:noFill/>
        </p:spPr>
        <p:txBody>
          <a:bodyPr wrap="none" lIns="0" rIns="0" tIns="0" bIns="0" anchor="t">
            <a:spAutoFit/>
          </a:bodyPr>
          <a:lstStyle/>
          <a:p>
            <a:pPr algn="l">
              <a:lnSpc>
                <a:spcPts val="2713"/>
              </a:lnSpc>
              <a:spcBef>
                <a:spcPts val="0"/>
              </a:spcBef>
              <a:spcAft>
                <a:spcPts val="0"/>
              </a:spcAft>
              <a:defRPr sz="2300" b="1">
                <a:solidFill>
                  <a:srgbClr val="FFFFFF"/>
                </a:solidFill>
                <a:latin typeface="Noto Sans"/>
              </a:defRPr>
            </a:pPr>
            <a:r>
              <a:t>Partition</a:t>
            </a:r>
          </a:p>
        </p:txBody>
      </p:sp>
      <p:sp>
        <p:nvSpPr>
          <p:cNvPr id="13" name="Rectangle 12"/>
          <p:cNvSpPr/>
          <p:nvPr/>
        </p:nvSpPr>
        <p:spPr>
          <a:xfrm>
            <a:off x="3749039" y="1993392"/>
            <a:ext cx="1920240" cy="658368"/>
          </a:xfrm>
          <a:prstGeom prst="rect">
            <a:avLst/>
          </a:prstGeom>
          <a:solidFill>
            <a:srgbClr val="152C40"/>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 Meetings"/>
          <p:cNvSpPr txBox="1"/>
          <p:nvPr/>
        </p:nvSpPr>
        <p:spPr>
          <a:xfrm>
            <a:off x="3840479" y="2061972"/>
            <a:ext cx="1737360" cy="585216"/>
          </a:xfrm>
          <a:prstGeom prst="rect">
            <a:avLst/>
          </a:prstGeom>
          <a:noFill/>
        </p:spPr>
        <p:txBody>
          <a:bodyPr wrap="none" lIns="0" rIns="0" tIns="0" bIns="0" anchor="t">
            <a:spAutoFit/>
          </a:bodyPr>
          <a:lstStyle/>
          <a:p>
            <a:pPr algn="l">
              <a:lnSpc>
                <a:spcPts val="2713"/>
              </a:lnSpc>
              <a:spcBef>
                <a:spcPts val="0"/>
              </a:spcBef>
              <a:spcAft>
                <a:spcPts val="0"/>
              </a:spcAft>
              <a:defRPr sz="2300" b="1">
                <a:solidFill>
                  <a:srgbClr val="FFFFFF"/>
                </a:solidFill>
                <a:latin typeface="Noto Sans"/>
              </a:defRPr>
            </a:pPr>
            <a:r>
              <a:t>Meetings</a:t>
            </a:r>
          </a:p>
        </p:txBody>
      </p:sp>
      <p:sp>
        <p:nvSpPr>
          <p:cNvPr id="15" name="Rectangle 14"/>
          <p:cNvSpPr/>
          <p:nvPr/>
        </p:nvSpPr>
        <p:spPr>
          <a:xfrm>
            <a:off x="5669279" y="1993392"/>
            <a:ext cx="2743200" cy="658368"/>
          </a:xfrm>
          <a:prstGeom prst="rect">
            <a:avLst/>
          </a:prstGeom>
          <a:solidFill>
            <a:srgbClr val="152C40"/>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 Acts"/>
          <p:cNvSpPr txBox="1"/>
          <p:nvPr/>
        </p:nvSpPr>
        <p:spPr>
          <a:xfrm>
            <a:off x="5760719" y="2061972"/>
            <a:ext cx="2560320" cy="585216"/>
          </a:xfrm>
          <a:prstGeom prst="rect">
            <a:avLst/>
          </a:prstGeom>
          <a:noFill/>
        </p:spPr>
        <p:txBody>
          <a:bodyPr wrap="none" lIns="0" rIns="0" tIns="0" bIns="0" anchor="t">
            <a:spAutoFit/>
          </a:bodyPr>
          <a:lstStyle/>
          <a:p>
            <a:pPr algn="l">
              <a:lnSpc>
                <a:spcPts val="2713"/>
              </a:lnSpc>
              <a:spcBef>
                <a:spcPts val="0"/>
              </a:spcBef>
              <a:spcAft>
                <a:spcPts val="0"/>
              </a:spcAft>
              <a:defRPr sz="2300" b="1">
                <a:solidFill>
                  <a:srgbClr val="FFFFFF"/>
                </a:solidFill>
                <a:latin typeface="Noto Sans"/>
              </a:defRPr>
            </a:pPr>
            <a:r>
              <a:t>Acts</a:t>
            </a:r>
          </a:p>
        </p:txBody>
      </p:sp>
      <p:sp>
        <p:nvSpPr>
          <p:cNvPr id="17" name="Rectangle 16"/>
          <p:cNvSpPr/>
          <p:nvPr/>
        </p:nvSpPr>
        <p:spPr>
          <a:xfrm>
            <a:off x="8412480" y="1993392"/>
            <a:ext cx="3017520" cy="658368"/>
          </a:xfrm>
          <a:prstGeom prst="rect">
            <a:avLst/>
          </a:prstGeom>
          <a:solidFill>
            <a:srgbClr val="152C40"/>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 Positive acts"/>
          <p:cNvSpPr txBox="1"/>
          <p:nvPr/>
        </p:nvSpPr>
        <p:spPr>
          <a:xfrm>
            <a:off x="8503919" y="2061972"/>
            <a:ext cx="2834639" cy="585216"/>
          </a:xfrm>
          <a:prstGeom prst="rect">
            <a:avLst/>
          </a:prstGeom>
          <a:noFill/>
        </p:spPr>
        <p:txBody>
          <a:bodyPr wrap="none" lIns="0" rIns="0" tIns="0" bIns="0" anchor="t">
            <a:spAutoFit/>
          </a:bodyPr>
          <a:lstStyle/>
          <a:p>
            <a:pPr algn="l">
              <a:lnSpc>
                <a:spcPts val="2713"/>
              </a:lnSpc>
              <a:spcBef>
                <a:spcPts val="0"/>
              </a:spcBef>
              <a:spcAft>
                <a:spcPts val="0"/>
              </a:spcAft>
              <a:defRPr sz="2300" b="1">
                <a:solidFill>
                  <a:srgbClr val="FFFFFF"/>
                </a:solidFill>
                <a:latin typeface="Noto Sans"/>
              </a:defRPr>
            </a:pPr>
            <a:r>
              <a:t>Positive acts</a:t>
            </a:r>
          </a:p>
        </p:txBody>
      </p:sp>
      <p:sp>
        <p:nvSpPr>
          <p:cNvPr id="19" name="Rectangle 18"/>
          <p:cNvSpPr/>
          <p:nvPr/>
        </p:nvSpPr>
        <p:spPr>
          <a:xfrm>
            <a:off x="731520" y="2651760"/>
            <a:ext cx="3017520" cy="658368"/>
          </a:xfrm>
          <a:prstGeom prst="rect">
            <a:avLst/>
          </a:prstGeom>
          <a:solidFill>
            <a:srgbClr val="F0F4F6"/>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 Training"/>
          <p:cNvSpPr txBox="1"/>
          <p:nvPr/>
        </p:nvSpPr>
        <p:spPr>
          <a:xfrm>
            <a:off x="822960" y="2720340"/>
            <a:ext cx="2834639" cy="585216"/>
          </a:xfrm>
          <a:prstGeom prst="rect">
            <a:avLst/>
          </a:prstGeom>
          <a:noFill/>
        </p:spPr>
        <p:txBody>
          <a:bodyPr wrap="none" lIns="0" rIns="0" tIns="0" bIns="0" anchor="t">
            <a:spAutoFit/>
          </a:bodyPr>
          <a:lstStyle/>
          <a:p>
            <a:pPr algn="l">
              <a:lnSpc>
                <a:spcPts val="2713"/>
              </a:lnSpc>
              <a:spcBef>
                <a:spcPts val="0"/>
              </a:spcBef>
              <a:spcAft>
                <a:spcPts val="0"/>
              </a:spcAft>
              <a:defRPr sz="2300" b="0">
                <a:solidFill>
                  <a:srgbClr val="152C40"/>
                </a:solidFill>
                <a:latin typeface="Noto Sans"/>
              </a:defRPr>
            </a:pPr>
            <a:r>
              <a:t>Training</a:t>
            </a:r>
          </a:p>
        </p:txBody>
      </p:sp>
      <p:sp>
        <p:nvSpPr>
          <p:cNvPr id="21" name="Rectangle 20"/>
          <p:cNvSpPr/>
          <p:nvPr/>
        </p:nvSpPr>
        <p:spPr>
          <a:xfrm>
            <a:off x="3749039" y="2651760"/>
            <a:ext cx="1920240" cy="658368"/>
          </a:xfrm>
          <a:prstGeom prst="rect">
            <a:avLst/>
          </a:prstGeom>
          <a:solidFill>
            <a:srgbClr val="F0F4F6"/>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 29"/>
          <p:cNvSpPr txBox="1"/>
          <p:nvPr/>
        </p:nvSpPr>
        <p:spPr>
          <a:xfrm>
            <a:off x="3840479" y="2720340"/>
            <a:ext cx="1737360" cy="585216"/>
          </a:xfrm>
          <a:prstGeom prst="rect">
            <a:avLst/>
          </a:prstGeom>
          <a:noFill/>
        </p:spPr>
        <p:txBody>
          <a:bodyPr wrap="none" lIns="0" rIns="0" tIns="0" bIns="0" anchor="t">
            <a:spAutoFit/>
          </a:bodyPr>
          <a:lstStyle/>
          <a:p>
            <a:pPr algn="l">
              <a:lnSpc>
                <a:spcPts val="2713"/>
              </a:lnSpc>
              <a:spcBef>
                <a:spcPts val="0"/>
              </a:spcBef>
              <a:spcAft>
                <a:spcPts val="0"/>
              </a:spcAft>
              <a:defRPr sz="2300" b="0">
                <a:solidFill>
                  <a:srgbClr val="152C40"/>
                </a:solidFill>
                <a:latin typeface="Noto Sans"/>
              </a:defRPr>
            </a:pPr>
            <a:r>
              <a:t>29</a:t>
            </a:r>
          </a:p>
        </p:txBody>
      </p:sp>
      <p:sp>
        <p:nvSpPr>
          <p:cNvPr id="23" name="Rectangle 22"/>
          <p:cNvSpPr/>
          <p:nvPr/>
        </p:nvSpPr>
        <p:spPr>
          <a:xfrm>
            <a:off x="5669279" y="2651760"/>
            <a:ext cx="2743200" cy="658368"/>
          </a:xfrm>
          <a:prstGeom prst="rect">
            <a:avLst/>
          </a:prstGeom>
          <a:solidFill>
            <a:srgbClr val="F0F4F6"/>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 20,339"/>
          <p:cNvSpPr txBox="1"/>
          <p:nvPr/>
        </p:nvSpPr>
        <p:spPr>
          <a:xfrm>
            <a:off x="5760719" y="2720340"/>
            <a:ext cx="2560320" cy="585216"/>
          </a:xfrm>
          <a:prstGeom prst="rect">
            <a:avLst/>
          </a:prstGeom>
          <a:noFill/>
        </p:spPr>
        <p:txBody>
          <a:bodyPr wrap="none" lIns="0" rIns="0" tIns="0" bIns="0" anchor="t">
            <a:spAutoFit/>
          </a:bodyPr>
          <a:lstStyle/>
          <a:p>
            <a:pPr algn="l">
              <a:lnSpc>
                <a:spcPts val="2713"/>
              </a:lnSpc>
              <a:spcBef>
                <a:spcPts val="0"/>
              </a:spcBef>
              <a:spcAft>
                <a:spcPts val="0"/>
              </a:spcAft>
              <a:defRPr sz="2300" b="0">
                <a:solidFill>
                  <a:srgbClr val="152C40"/>
                </a:solidFill>
                <a:latin typeface="Noto Sans"/>
              </a:defRPr>
            </a:pPr>
            <a:r>
              <a:t>20,339</a:t>
            </a:r>
          </a:p>
        </p:txBody>
      </p:sp>
      <p:sp>
        <p:nvSpPr>
          <p:cNvPr id="25" name="Rectangle 24"/>
          <p:cNvSpPr/>
          <p:nvPr/>
        </p:nvSpPr>
        <p:spPr>
          <a:xfrm>
            <a:off x="8412480" y="2651760"/>
            <a:ext cx="3017520" cy="658368"/>
          </a:xfrm>
          <a:prstGeom prst="rect">
            <a:avLst/>
          </a:prstGeom>
          <a:solidFill>
            <a:srgbClr val="F0F4F6"/>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 5,862"/>
          <p:cNvSpPr txBox="1"/>
          <p:nvPr/>
        </p:nvSpPr>
        <p:spPr>
          <a:xfrm>
            <a:off x="8503919" y="2720340"/>
            <a:ext cx="2834639" cy="585216"/>
          </a:xfrm>
          <a:prstGeom prst="rect">
            <a:avLst/>
          </a:prstGeom>
          <a:noFill/>
        </p:spPr>
        <p:txBody>
          <a:bodyPr wrap="none" lIns="0" rIns="0" tIns="0" bIns="0" anchor="t">
            <a:spAutoFit/>
          </a:bodyPr>
          <a:lstStyle/>
          <a:p>
            <a:pPr algn="l">
              <a:lnSpc>
                <a:spcPts val="2713"/>
              </a:lnSpc>
              <a:spcBef>
                <a:spcPts val="0"/>
              </a:spcBef>
              <a:spcAft>
                <a:spcPts val="0"/>
              </a:spcAft>
              <a:defRPr sz="2300" b="0">
                <a:solidFill>
                  <a:srgbClr val="152C40"/>
                </a:solidFill>
                <a:latin typeface="Noto Sans"/>
              </a:defRPr>
            </a:pPr>
            <a:r>
              <a:t>5,862</a:t>
            </a:r>
          </a:p>
        </p:txBody>
      </p:sp>
      <p:sp>
        <p:nvSpPr>
          <p:cNvPr id="27" name="Rectangle 26"/>
          <p:cNvSpPr/>
          <p:nvPr/>
        </p:nvSpPr>
        <p:spPr>
          <a:xfrm>
            <a:off x="731520" y="3310128"/>
            <a:ext cx="3017520" cy="65836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 Development"/>
          <p:cNvSpPr txBox="1"/>
          <p:nvPr/>
        </p:nvSpPr>
        <p:spPr>
          <a:xfrm>
            <a:off x="822960" y="3378708"/>
            <a:ext cx="2834639" cy="585216"/>
          </a:xfrm>
          <a:prstGeom prst="rect">
            <a:avLst/>
          </a:prstGeom>
          <a:noFill/>
        </p:spPr>
        <p:txBody>
          <a:bodyPr wrap="none" lIns="0" rIns="0" tIns="0" bIns="0" anchor="t">
            <a:spAutoFit/>
          </a:bodyPr>
          <a:lstStyle/>
          <a:p>
            <a:pPr algn="l">
              <a:lnSpc>
                <a:spcPts val="2713"/>
              </a:lnSpc>
              <a:spcBef>
                <a:spcPts val="0"/>
              </a:spcBef>
              <a:spcAft>
                <a:spcPts val="0"/>
              </a:spcAft>
              <a:defRPr sz="2300" b="0">
                <a:solidFill>
                  <a:srgbClr val="152C40"/>
                </a:solidFill>
                <a:latin typeface="Noto Sans"/>
              </a:defRPr>
            </a:pPr>
            <a:r>
              <a:t>Development</a:t>
            </a:r>
          </a:p>
        </p:txBody>
      </p:sp>
      <p:sp>
        <p:nvSpPr>
          <p:cNvPr id="29" name="Rectangle 28"/>
          <p:cNvSpPr/>
          <p:nvPr/>
        </p:nvSpPr>
        <p:spPr>
          <a:xfrm>
            <a:off x="3749039" y="3310128"/>
            <a:ext cx="1920240" cy="65836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 6"/>
          <p:cNvSpPr txBox="1"/>
          <p:nvPr/>
        </p:nvSpPr>
        <p:spPr>
          <a:xfrm>
            <a:off x="3840479" y="3378708"/>
            <a:ext cx="1737360" cy="585216"/>
          </a:xfrm>
          <a:prstGeom prst="rect">
            <a:avLst/>
          </a:prstGeom>
          <a:noFill/>
        </p:spPr>
        <p:txBody>
          <a:bodyPr wrap="none" lIns="0" rIns="0" tIns="0" bIns="0" anchor="t">
            <a:spAutoFit/>
          </a:bodyPr>
          <a:lstStyle/>
          <a:p>
            <a:pPr algn="l">
              <a:lnSpc>
                <a:spcPts val="2713"/>
              </a:lnSpc>
              <a:spcBef>
                <a:spcPts val="0"/>
              </a:spcBef>
              <a:spcAft>
                <a:spcPts val="0"/>
              </a:spcAft>
              <a:defRPr sz="2300" b="0">
                <a:solidFill>
                  <a:srgbClr val="152C40"/>
                </a:solidFill>
                <a:latin typeface="Noto Sans"/>
              </a:defRPr>
            </a:pPr>
            <a:r>
              <a:t>6</a:t>
            </a:r>
          </a:p>
        </p:txBody>
      </p:sp>
      <p:sp>
        <p:nvSpPr>
          <p:cNvPr id="31" name="Rectangle 30"/>
          <p:cNvSpPr/>
          <p:nvPr/>
        </p:nvSpPr>
        <p:spPr>
          <a:xfrm>
            <a:off x="5669279" y="3310128"/>
            <a:ext cx="2743200" cy="65836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 3,739"/>
          <p:cNvSpPr txBox="1"/>
          <p:nvPr/>
        </p:nvSpPr>
        <p:spPr>
          <a:xfrm>
            <a:off x="5760719" y="3378708"/>
            <a:ext cx="2560320" cy="585216"/>
          </a:xfrm>
          <a:prstGeom prst="rect">
            <a:avLst/>
          </a:prstGeom>
          <a:noFill/>
        </p:spPr>
        <p:txBody>
          <a:bodyPr wrap="none" lIns="0" rIns="0" tIns="0" bIns="0" anchor="t">
            <a:spAutoFit/>
          </a:bodyPr>
          <a:lstStyle/>
          <a:p>
            <a:pPr algn="l">
              <a:lnSpc>
                <a:spcPts val="2713"/>
              </a:lnSpc>
              <a:spcBef>
                <a:spcPts val="0"/>
              </a:spcBef>
              <a:spcAft>
                <a:spcPts val="0"/>
              </a:spcAft>
              <a:defRPr sz="2300" b="0">
                <a:solidFill>
                  <a:srgbClr val="152C40"/>
                </a:solidFill>
                <a:latin typeface="Noto Sans"/>
              </a:defRPr>
            </a:pPr>
            <a:r>
              <a:t>3,739</a:t>
            </a:r>
          </a:p>
        </p:txBody>
      </p:sp>
      <p:sp>
        <p:nvSpPr>
          <p:cNvPr id="33" name="Rectangle 32"/>
          <p:cNvSpPr/>
          <p:nvPr/>
        </p:nvSpPr>
        <p:spPr>
          <a:xfrm>
            <a:off x="8412480" y="3310128"/>
            <a:ext cx="3017520" cy="65836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 1,117"/>
          <p:cNvSpPr txBox="1"/>
          <p:nvPr/>
        </p:nvSpPr>
        <p:spPr>
          <a:xfrm>
            <a:off x="8503919" y="3378708"/>
            <a:ext cx="2834639" cy="585216"/>
          </a:xfrm>
          <a:prstGeom prst="rect">
            <a:avLst/>
          </a:prstGeom>
          <a:noFill/>
        </p:spPr>
        <p:txBody>
          <a:bodyPr wrap="none" lIns="0" rIns="0" tIns="0" bIns="0" anchor="t">
            <a:spAutoFit/>
          </a:bodyPr>
          <a:lstStyle/>
          <a:p>
            <a:pPr algn="l">
              <a:lnSpc>
                <a:spcPts val="2713"/>
              </a:lnSpc>
              <a:spcBef>
                <a:spcPts val="0"/>
              </a:spcBef>
              <a:spcAft>
                <a:spcPts val="0"/>
              </a:spcAft>
              <a:defRPr sz="2300" b="0">
                <a:solidFill>
                  <a:srgbClr val="152C40"/>
                </a:solidFill>
                <a:latin typeface="Noto Sans"/>
              </a:defRPr>
            </a:pPr>
            <a:r>
              <a:t>1,117</a:t>
            </a:r>
          </a:p>
        </p:txBody>
      </p:sp>
      <p:sp>
        <p:nvSpPr>
          <p:cNvPr id="35" name="Rectangle 34"/>
          <p:cNvSpPr/>
          <p:nvPr/>
        </p:nvSpPr>
        <p:spPr>
          <a:xfrm>
            <a:off x="731520" y="3968496"/>
            <a:ext cx="3017520" cy="658368"/>
          </a:xfrm>
          <a:prstGeom prst="rect">
            <a:avLst/>
          </a:prstGeom>
          <a:solidFill>
            <a:srgbClr val="F0F4F6"/>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 Historical"/>
          <p:cNvSpPr txBox="1"/>
          <p:nvPr/>
        </p:nvSpPr>
        <p:spPr>
          <a:xfrm>
            <a:off x="822960" y="4037076"/>
            <a:ext cx="2834639" cy="585216"/>
          </a:xfrm>
          <a:prstGeom prst="rect">
            <a:avLst/>
          </a:prstGeom>
          <a:noFill/>
        </p:spPr>
        <p:txBody>
          <a:bodyPr wrap="none" lIns="0" rIns="0" tIns="0" bIns="0" anchor="t">
            <a:spAutoFit/>
          </a:bodyPr>
          <a:lstStyle/>
          <a:p>
            <a:pPr algn="l">
              <a:lnSpc>
                <a:spcPts val="2713"/>
              </a:lnSpc>
              <a:spcBef>
                <a:spcPts val="0"/>
              </a:spcBef>
              <a:spcAft>
                <a:spcPts val="0"/>
              </a:spcAft>
              <a:defRPr sz="2300" b="0">
                <a:solidFill>
                  <a:srgbClr val="152C40"/>
                </a:solidFill>
                <a:latin typeface="Noto Sans"/>
              </a:defRPr>
            </a:pPr>
            <a:r>
              <a:t>Historical</a:t>
            </a:r>
          </a:p>
        </p:txBody>
      </p:sp>
      <p:sp>
        <p:nvSpPr>
          <p:cNvPr id="37" name="Rectangle 36"/>
          <p:cNvSpPr/>
          <p:nvPr/>
        </p:nvSpPr>
        <p:spPr>
          <a:xfrm>
            <a:off x="3749039" y="3968496"/>
            <a:ext cx="1920240" cy="658368"/>
          </a:xfrm>
          <a:prstGeom prst="rect">
            <a:avLst/>
          </a:prstGeom>
          <a:solidFill>
            <a:srgbClr val="F0F4F6"/>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 12"/>
          <p:cNvSpPr txBox="1"/>
          <p:nvPr/>
        </p:nvSpPr>
        <p:spPr>
          <a:xfrm>
            <a:off x="3840479" y="4037076"/>
            <a:ext cx="1737360" cy="585216"/>
          </a:xfrm>
          <a:prstGeom prst="rect">
            <a:avLst/>
          </a:prstGeom>
          <a:noFill/>
        </p:spPr>
        <p:txBody>
          <a:bodyPr wrap="none" lIns="0" rIns="0" tIns="0" bIns="0" anchor="t">
            <a:spAutoFit/>
          </a:bodyPr>
          <a:lstStyle/>
          <a:p>
            <a:pPr algn="l">
              <a:lnSpc>
                <a:spcPts val="2713"/>
              </a:lnSpc>
              <a:spcBef>
                <a:spcPts val="0"/>
              </a:spcBef>
              <a:spcAft>
                <a:spcPts val="0"/>
              </a:spcAft>
              <a:defRPr sz="2300" b="0">
                <a:solidFill>
                  <a:srgbClr val="152C40"/>
                </a:solidFill>
                <a:latin typeface="Noto Sans"/>
              </a:defRPr>
            </a:pPr>
            <a:r>
              <a:t>12</a:t>
            </a:r>
          </a:p>
        </p:txBody>
      </p:sp>
      <p:sp>
        <p:nvSpPr>
          <p:cNvPr id="39" name="Rectangle 38"/>
          <p:cNvSpPr/>
          <p:nvPr/>
        </p:nvSpPr>
        <p:spPr>
          <a:xfrm>
            <a:off x="5669279" y="3968496"/>
            <a:ext cx="2743200" cy="658368"/>
          </a:xfrm>
          <a:prstGeom prst="rect">
            <a:avLst/>
          </a:prstGeom>
          <a:solidFill>
            <a:srgbClr val="F0F4F6"/>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 11,136"/>
          <p:cNvSpPr txBox="1"/>
          <p:nvPr/>
        </p:nvSpPr>
        <p:spPr>
          <a:xfrm>
            <a:off x="5760719" y="4037076"/>
            <a:ext cx="2560320" cy="585216"/>
          </a:xfrm>
          <a:prstGeom prst="rect">
            <a:avLst/>
          </a:prstGeom>
          <a:noFill/>
        </p:spPr>
        <p:txBody>
          <a:bodyPr wrap="none" lIns="0" rIns="0" tIns="0" bIns="0" anchor="t">
            <a:spAutoFit/>
          </a:bodyPr>
          <a:lstStyle/>
          <a:p>
            <a:pPr algn="l">
              <a:lnSpc>
                <a:spcPts val="2713"/>
              </a:lnSpc>
              <a:spcBef>
                <a:spcPts val="0"/>
              </a:spcBef>
              <a:spcAft>
                <a:spcPts val="0"/>
              </a:spcAft>
              <a:defRPr sz="2300" b="0">
                <a:solidFill>
                  <a:srgbClr val="152C40"/>
                </a:solidFill>
                <a:latin typeface="Noto Sans"/>
              </a:defRPr>
            </a:pPr>
            <a:r>
              <a:t>11,136</a:t>
            </a:r>
          </a:p>
        </p:txBody>
      </p:sp>
      <p:sp>
        <p:nvSpPr>
          <p:cNvPr id="41" name="Rectangle 40"/>
          <p:cNvSpPr/>
          <p:nvPr/>
        </p:nvSpPr>
        <p:spPr>
          <a:xfrm>
            <a:off x="8412480" y="3968496"/>
            <a:ext cx="3017520" cy="658368"/>
          </a:xfrm>
          <a:prstGeom prst="rect">
            <a:avLst/>
          </a:prstGeom>
          <a:solidFill>
            <a:srgbClr val="F0F4F6"/>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 2,481"/>
          <p:cNvSpPr txBox="1"/>
          <p:nvPr/>
        </p:nvSpPr>
        <p:spPr>
          <a:xfrm>
            <a:off x="8503919" y="4037076"/>
            <a:ext cx="2834639" cy="585216"/>
          </a:xfrm>
          <a:prstGeom prst="rect">
            <a:avLst/>
          </a:prstGeom>
          <a:noFill/>
        </p:spPr>
        <p:txBody>
          <a:bodyPr wrap="none" lIns="0" rIns="0" tIns="0" bIns="0" anchor="t">
            <a:spAutoFit/>
          </a:bodyPr>
          <a:lstStyle/>
          <a:p>
            <a:pPr algn="l">
              <a:lnSpc>
                <a:spcPts val="2713"/>
              </a:lnSpc>
              <a:spcBef>
                <a:spcPts val="0"/>
              </a:spcBef>
              <a:spcAft>
                <a:spcPts val="0"/>
              </a:spcAft>
              <a:defRPr sz="2300" b="0">
                <a:solidFill>
                  <a:srgbClr val="152C40"/>
                </a:solidFill>
                <a:latin typeface="Noto Sans"/>
              </a:defRPr>
            </a:pPr>
            <a:r>
              <a:t>2,481</a:t>
            </a:r>
          </a:p>
        </p:txBody>
      </p:sp>
      <p:sp>
        <p:nvSpPr>
          <p:cNvPr id="43" name="TEXT Compare 4 classifier families × 2 featur"/>
          <p:cNvSpPr txBox="1"/>
          <p:nvPr/>
        </p:nvSpPr>
        <p:spPr>
          <a:xfrm>
            <a:off x="777240" y="4892040"/>
            <a:ext cx="10607040" cy="868680"/>
          </a:xfrm>
          <a:prstGeom prst="rect">
            <a:avLst/>
          </a:prstGeom>
          <a:noFill/>
        </p:spPr>
        <p:txBody>
          <a:bodyPr wrap="none" lIns="0" rIns="0" tIns="0" bIns="0" anchor="t">
            <a:spAutoFit/>
          </a:bodyPr>
          <a:lstStyle/>
          <a:p>
            <a:pPr algn="l">
              <a:lnSpc>
                <a:spcPts val="2950"/>
              </a:lnSpc>
              <a:spcBef>
                <a:spcPts val="0"/>
              </a:spcBef>
              <a:spcAft>
                <a:spcPts val="0"/>
              </a:spcAft>
              <a:defRPr sz="2500" b="1">
                <a:solidFill>
                  <a:srgbClr val="152C40"/>
                </a:solidFill>
                <a:latin typeface="Noto Sans"/>
              </a:defRPr>
            </a:pPr>
            <a:r>
              <a:t>Compare 4 classifier families × 2 feature settings.</a:t>
            </a:r>
          </a:p>
          <a:p>
            <a:pPr algn="l">
              <a:lnSpc>
                <a:spcPts val="2950"/>
              </a:lnSpc>
              <a:spcBef>
                <a:spcPts val="0"/>
              </a:spcBef>
              <a:spcAft>
                <a:spcPts val="0"/>
              </a:spcAft>
              <a:defRPr sz="2500" b="1">
                <a:solidFill>
                  <a:srgbClr val="152C40"/>
                </a:solidFill>
                <a:latin typeface="Noto Sans"/>
              </a:defRPr>
            </a:pPr>
            <a:r>
              <a:t>Choose settings on development data; retain all results.</a:t>
            </a:r>
          </a:p>
        </p:txBody>
      </p:sp>
      <p:sp>
        <p:nvSpPr>
          <p:cNvPr id="44" name="TEXT Historical data has been examined across"/>
          <p:cNvSpPr txBox="1"/>
          <p:nvPr/>
        </p:nvSpPr>
        <p:spPr>
          <a:xfrm>
            <a:off x="530352" y="6080760"/>
            <a:ext cx="11064240" cy="237744"/>
          </a:xfrm>
          <a:prstGeom prst="rect">
            <a:avLst/>
          </a:prstGeom>
          <a:noFill/>
        </p:spPr>
        <p:txBody>
          <a:bodyPr wrap="none" lIns="0" rIns="0" tIns="0" bIns="0" anchor="t">
            <a:spAutoFit/>
          </a:bodyPr>
          <a:lstStyle/>
          <a:p>
            <a:pPr algn="l">
              <a:lnSpc>
                <a:spcPts val="1238"/>
              </a:lnSpc>
              <a:spcBef>
                <a:spcPts val="0"/>
              </a:spcBef>
              <a:spcAft>
                <a:spcPts val="0"/>
              </a:spcAft>
              <a:defRPr sz="1050" b="0">
                <a:solidFill>
                  <a:srgbClr val="526675"/>
                </a:solidFill>
                <a:latin typeface="Noto Sans"/>
              </a:defRPr>
            </a:pPr>
            <a:r>
              <a:t>Historical data has been examined across rounds: exploratory evidence, with only 3 independent historical project series.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84048"/>
            <a:ext cx="59436" cy="329184"/>
          </a:xfrm>
          <a:prstGeom prst="rect">
            <a:avLst/>
          </a:prstGeom>
          <a:solidFill>
            <a:srgbClr val="B30D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 TESTING &amp; QUALITY"/>
          <p:cNvSpPr txBox="1"/>
          <p:nvPr/>
        </p:nvSpPr>
        <p:spPr>
          <a:xfrm>
            <a:off x="658368" y="320040"/>
            <a:ext cx="9144000" cy="228600"/>
          </a:xfrm>
          <a:prstGeom prst="rect">
            <a:avLst/>
          </a:prstGeom>
          <a:noFill/>
        </p:spPr>
        <p:txBody>
          <a:bodyPr wrap="none" lIns="0" rIns="0" tIns="0" bIns="0" anchor="t">
            <a:spAutoFit/>
          </a:bodyPr>
          <a:lstStyle/>
          <a:p>
            <a:pPr algn="l">
              <a:lnSpc>
                <a:spcPts val="1297"/>
              </a:lnSpc>
              <a:spcBef>
                <a:spcPts val="0"/>
              </a:spcBef>
              <a:spcAft>
                <a:spcPts val="0"/>
              </a:spcAft>
              <a:defRPr sz="1100" b="1">
                <a:solidFill>
                  <a:srgbClr val="B30D2C"/>
                </a:solidFill>
                <a:latin typeface="Noto Sans"/>
              </a:defRPr>
            </a:pPr>
            <a:r>
              <a:t>TESTING &amp; QUALITY</a:t>
            </a:r>
          </a:p>
        </p:txBody>
      </p:sp>
      <p:sp>
        <p:nvSpPr>
          <p:cNvPr id="5" name="TEXT Testing &amp; Debugging"/>
          <p:cNvSpPr txBox="1"/>
          <p:nvPr/>
        </p:nvSpPr>
        <p:spPr>
          <a:xfrm>
            <a:off x="484632" y="749808"/>
            <a:ext cx="10881360" cy="502920"/>
          </a:xfrm>
          <a:prstGeom prst="rect">
            <a:avLst/>
          </a:prstGeom>
          <a:noFill/>
        </p:spPr>
        <p:txBody>
          <a:bodyPr wrap="none" lIns="0" rIns="0" tIns="0" bIns="0" anchor="t">
            <a:spAutoFit/>
          </a:bodyPr>
          <a:lstStyle/>
          <a:p>
            <a:pPr algn="l">
              <a:lnSpc>
                <a:spcPts val="3422"/>
              </a:lnSpc>
              <a:spcBef>
                <a:spcPts val="0"/>
              </a:spcBef>
              <a:spcAft>
                <a:spcPts val="0"/>
              </a:spcAft>
              <a:defRPr sz="2900" b="1">
                <a:solidFill>
                  <a:srgbClr val="152C40"/>
                </a:solidFill>
                <a:latin typeface="Noto Sans"/>
              </a:defRPr>
            </a:pPr>
            <a:r>
              <a:t>Testing &amp; Debugging</a:t>
            </a:r>
          </a:p>
        </p:txBody>
      </p:sp>
      <p:pic>
        <p:nvPicPr>
          <p:cNvPr id="6" name="Picture 5" descr="image3.png"/>
          <p:cNvPicPr>
            <a:picLocks noChangeAspect="1"/>
          </p:cNvPicPr>
          <p:nvPr/>
        </p:nvPicPr>
        <p:blipFill>
          <a:blip r:embed="rId2"/>
          <a:stretch>
            <a:fillRect/>
          </a:stretch>
        </p:blipFill>
        <p:spPr>
          <a:xfrm>
            <a:off x="10195560" y="320040"/>
            <a:ext cx="1508760" cy="286077"/>
          </a:xfrm>
          <a:prstGeom prst="rect">
            <a:avLst/>
          </a:prstGeom>
        </p:spPr>
      </p:pic>
      <p:cxnSp>
        <p:nvCxnSpPr>
          <p:cNvPr id="7" name="Connector 6"/>
          <p:cNvCxnSpPr/>
          <p:nvPr/>
        </p:nvCxnSpPr>
        <p:spPr>
          <a:xfrm>
            <a:off x="502920" y="6419088"/>
            <a:ext cx="11183112" cy="0"/>
          </a:xfrm>
          <a:prstGeom prst="line">
            <a:avLst/>
          </a:prstGeom>
          <a:ln w="12700">
            <a:solidFill>
              <a:srgbClr val="D9E2E7"/>
            </a:solidFill>
          </a:ln>
        </p:spPr>
        <p:style>
          <a:lnRef idx="2">
            <a:schemeClr val="accent1"/>
          </a:lnRef>
          <a:fillRef idx="0">
            <a:schemeClr val="accent1"/>
          </a:fillRef>
          <a:effectRef idx="1">
            <a:schemeClr val="accent1"/>
          </a:effectRef>
          <a:fontRef idx="minor">
            <a:schemeClr val="tx1"/>
          </a:fontRef>
        </p:style>
      </p:cxnSp>
      <p:sp>
        <p:nvSpPr>
          <p:cNvPr id="8" name="TEXT SIT Pune  |  AI &amp; ML  |  Group 12  |  Pr"/>
          <p:cNvSpPr txBox="1"/>
          <p:nvPr/>
        </p:nvSpPr>
        <p:spPr>
          <a:xfrm>
            <a:off x="502920" y="6519672"/>
            <a:ext cx="9509760" cy="173736"/>
          </a:xfrm>
          <a:prstGeom prst="rect">
            <a:avLst/>
          </a:prstGeom>
          <a:noFill/>
        </p:spPr>
        <p:txBody>
          <a:bodyPr wrap="none" lIns="0" rIns="0" tIns="0" bIns="0" anchor="t">
            <a:spAutoFit/>
          </a:bodyPr>
          <a:lstStyle/>
          <a:p>
            <a:pPr algn="l">
              <a:lnSpc>
                <a:spcPts val="1062"/>
              </a:lnSpc>
              <a:spcBef>
                <a:spcPts val="0"/>
              </a:spcBef>
              <a:spcAft>
                <a:spcPts val="0"/>
              </a:spcAft>
              <a:defRPr sz="900" b="0">
                <a:solidFill>
                  <a:srgbClr val="526675"/>
                </a:solidFill>
                <a:latin typeface="Noto Sans"/>
              </a:defRPr>
            </a:pPr>
            <a:r>
              <a:t>SIT Pune | AI &amp; ML | Group 12 | Prepared 20 October 2026</a:t>
            </a:r>
          </a:p>
        </p:txBody>
      </p:sp>
      <p:sp>
        <p:nvSpPr>
          <p:cNvPr id="9" name="TEXT 13 / 18"/>
          <p:cNvSpPr txBox="1"/>
          <p:nvPr/>
        </p:nvSpPr>
        <p:spPr>
          <a:xfrm>
            <a:off x="10789920" y="6510528"/>
            <a:ext cx="914400" cy="201168"/>
          </a:xfrm>
          <a:prstGeom prst="rect">
            <a:avLst/>
          </a:prstGeom>
          <a:noFill/>
        </p:spPr>
        <p:txBody>
          <a:bodyPr wrap="none" lIns="0" rIns="0" tIns="0" bIns="0" anchor="t">
            <a:spAutoFit/>
          </a:bodyPr>
          <a:lstStyle/>
          <a:p>
            <a:pPr algn="r">
              <a:lnSpc>
                <a:spcPts val="1180"/>
              </a:lnSpc>
              <a:spcBef>
                <a:spcPts val="0"/>
              </a:spcBef>
              <a:spcAft>
                <a:spcPts val="0"/>
              </a:spcAft>
              <a:defRPr sz="1000" b="0">
                <a:solidFill>
                  <a:srgbClr val="526675"/>
                </a:solidFill>
                <a:latin typeface="Noto Sans"/>
              </a:defRPr>
            </a:pPr>
            <a:r>
              <a:t>13 / 18</a:t>
            </a:r>
          </a:p>
        </p:txBody>
      </p:sp>
      <p:sp>
        <p:nvSpPr>
          <p:cNvPr id="10" name="Rounded Rectangle 9"/>
          <p:cNvSpPr/>
          <p:nvPr/>
        </p:nvSpPr>
        <p:spPr>
          <a:xfrm>
            <a:off x="594360" y="1920240"/>
            <a:ext cx="5394960" cy="3383280"/>
          </a:xfrm>
          <a:prstGeom prst="roundRect">
            <a:avLst>
              <a:gd name="adj" fmla="val 6000"/>
            </a:avLst>
          </a:prstGeom>
          <a:solidFill>
            <a:srgbClr val="E9F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 597 recorded software tests"/>
          <p:cNvSpPr txBox="1"/>
          <p:nvPr/>
        </p:nvSpPr>
        <p:spPr>
          <a:xfrm>
            <a:off x="795528" y="2103120"/>
            <a:ext cx="4992624" cy="502920"/>
          </a:xfrm>
          <a:prstGeom prst="rect">
            <a:avLst/>
          </a:prstGeom>
          <a:noFill/>
        </p:spPr>
        <p:txBody>
          <a:bodyPr wrap="none" lIns="0" rIns="0" tIns="0" bIns="0" anchor="t">
            <a:spAutoFit/>
          </a:bodyPr>
          <a:lstStyle/>
          <a:p>
            <a:pPr algn="l">
              <a:lnSpc>
                <a:spcPts val="2477"/>
              </a:lnSpc>
              <a:spcBef>
                <a:spcPts val="0"/>
              </a:spcBef>
              <a:spcAft>
                <a:spcPts val="0"/>
              </a:spcAft>
              <a:defRPr sz="2100" b="1">
                <a:solidFill>
                  <a:srgbClr val="152C40"/>
                </a:solidFill>
                <a:latin typeface="Noto Sans"/>
              </a:defRPr>
            </a:pPr>
            <a:r>
              <a:t>597 recorded software tests</a:t>
            </a:r>
          </a:p>
        </p:txBody>
      </p:sp>
      <p:sp>
        <p:nvSpPr>
          <p:cNvPr id="12" name="TEXT Checks include batching, source IDs, mee"/>
          <p:cNvSpPr txBox="1"/>
          <p:nvPr/>
        </p:nvSpPr>
        <p:spPr>
          <a:xfrm>
            <a:off x="795528" y="2761488"/>
            <a:ext cx="4992624" cy="2414016"/>
          </a:xfrm>
          <a:prstGeom prst="rect">
            <a:avLst/>
          </a:prstGeom>
          <a:noFill/>
        </p:spPr>
        <p:txBody>
          <a:bodyPr wrap="none" lIns="0" rIns="0" tIns="0" bIns="0" anchor="t">
            <a:spAutoFit/>
          </a:bodyPr>
          <a:lstStyle/>
          <a:p>
            <a:pPr algn="l">
              <a:lnSpc>
                <a:spcPts val="2832"/>
              </a:lnSpc>
              <a:spcBef>
                <a:spcPts val="0"/>
              </a:spcBef>
              <a:spcAft>
                <a:spcPts val="0"/>
              </a:spcAft>
              <a:defRPr sz="2400" b="0">
                <a:solidFill>
                  <a:srgbClr val="152C40"/>
                </a:solidFill>
                <a:latin typeface="Noto Sans"/>
              </a:defRPr>
            </a:pPr>
            <a:r>
              <a:t>Checks include batching, source</a:t>
            </a:r>
          </a:p>
          <a:p>
            <a:pPr algn="l">
              <a:lnSpc>
                <a:spcPts val="2832"/>
              </a:lnSpc>
              <a:spcBef>
                <a:spcPts val="0"/>
              </a:spcBef>
              <a:spcAft>
                <a:spcPts val="0"/>
              </a:spcAft>
              <a:defRPr sz="2400" b="0">
                <a:solidFill>
                  <a:srgbClr val="152C40"/>
                </a:solidFill>
                <a:latin typeface="Noto Sans"/>
              </a:defRPr>
            </a:pPr>
            <a:r>
              <a:t>IDs, meeting boundaries,</a:t>
            </a:r>
          </a:p>
          <a:p>
            <a:pPr algn="l">
              <a:lnSpc>
                <a:spcPts val="2832"/>
              </a:lnSpc>
              <a:spcBef>
                <a:spcPts val="0"/>
              </a:spcBef>
              <a:spcAft>
                <a:spcPts val="0"/>
              </a:spcAft>
              <a:defRPr sz="2400" b="0">
                <a:solidFill>
                  <a:srgbClr val="152C40"/>
                </a:solidFill>
                <a:latin typeface="Noto Sans"/>
              </a:defRPr>
            </a:pPr>
            <a:r>
              <a:t>optional-stage errors and</a:t>
            </a:r>
          </a:p>
          <a:p>
            <a:pPr algn="l">
              <a:lnSpc>
                <a:spcPts val="2832"/>
              </a:lnSpc>
              <a:spcBef>
                <a:spcPts val="0"/>
              </a:spcBef>
              <a:spcAft>
                <a:spcPts val="0"/>
              </a:spcAft>
              <a:defRPr sz="2400" b="0">
                <a:solidFill>
                  <a:srgbClr val="152C40"/>
                </a:solidFill>
                <a:latin typeface="Noto Sans"/>
              </a:defRPr>
            </a:pPr>
            <a:r>
              <a:t>report/export integration.</a:t>
            </a:r>
          </a:p>
        </p:txBody>
      </p:sp>
      <p:sp>
        <p:nvSpPr>
          <p:cNvPr id="13" name="Rounded Rectangle 12"/>
          <p:cNvSpPr/>
          <p:nvPr/>
        </p:nvSpPr>
        <p:spPr>
          <a:xfrm>
            <a:off x="6263640" y="1920240"/>
            <a:ext cx="5303520" cy="3383280"/>
          </a:xfrm>
          <a:prstGeom prst="roundRect">
            <a:avLst>
              <a:gd name="adj" fmla="val 6000"/>
            </a:avLst>
          </a:prstGeom>
          <a:solidFill>
            <a:srgbClr val="F0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 Keep failed experiments visible"/>
          <p:cNvSpPr txBox="1"/>
          <p:nvPr/>
        </p:nvSpPr>
        <p:spPr>
          <a:xfrm>
            <a:off x="6464807" y="2103120"/>
            <a:ext cx="4901183" cy="502920"/>
          </a:xfrm>
          <a:prstGeom prst="rect">
            <a:avLst/>
          </a:prstGeom>
          <a:noFill/>
        </p:spPr>
        <p:txBody>
          <a:bodyPr wrap="none" lIns="0" rIns="0" tIns="0" bIns="0" anchor="t">
            <a:spAutoFit/>
          </a:bodyPr>
          <a:lstStyle/>
          <a:p>
            <a:pPr algn="l">
              <a:lnSpc>
                <a:spcPts val="2477"/>
              </a:lnSpc>
              <a:spcBef>
                <a:spcPts val="0"/>
              </a:spcBef>
              <a:spcAft>
                <a:spcPts val="0"/>
              </a:spcAft>
              <a:defRPr sz="2100" b="1">
                <a:solidFill>
                  <a:srgbClr val="152C40"/>
                </a:solidFill>
                <a:latin typeface="Noto Sans"/>
              </a:defRPr>
            </a:pPr>
            <a:r>
              <a:t>Keep failed experiments visible</a:t>
            </a:r>
          </a:p>
        </p:txBody>
      </p:sp>
      <p:sp>
        <p:nvSpPr>
          <p:cNvPr id="15" name="TEXT Semantic and continuity searches did not"/>
          <p:cNvSpPr txBox="1"/>
          <p:nvPr/>
        </p:nvSpPr>
        <p:spPr>
          <a:xfrm>
            <a:off x="6464807" y="2761488"/>
            <a:ext cx="4901183" cy="2414016"/>
          </a:xfrm>
          <a:prstGeom prst="rect">
            <a:avLst/>
          </a:prstGeom>
          <a:noFill/>
        </p:spPr>
        <p:txBody>
          <a:bodyPr wrap="none" lIns="0" rIns="0" tIns="0" bIns="0" anchor="t">
            <a:spAutoFit/>
          </a:bodyPr>
          <a:lstStyle/>
          <a:p>
            <a:pPr algn="l">
              <a:lnSpc>
                <a:spcPts val="2832"/>
              </a:lnSpc>
              <a:spcBef>
                <a:spcPts val="0"/>
              </a:spcBef>
              <a:spcAft>
                <a:spcPts val="0"/>
              </a:spcAft>
              <a:defRPr sz="2400" b="0">
                <a:solidFill>
                  <a:srgbClr val="152C40"/>
                </a:solidFill>
                <a:latin typeface="Noto Sans"/>
              </a:defRPr>
            </a:pPr>
            <a:r>
              <a:t>Semantic and continuity searches</a:t>
            </a:r>
          </a:p>
          <a:p>
            <a:pPr algn="l">
              <a:lnSpc>
                <a:spcPts val="2832"/>
              </a:lnSpc>
              <a:spcBef>
                <a:spcPts val="0"/>
              </a:spcBef>
              <a:spcAft>
                <a:spcPts val="0"/>
              </a:spcAft>
              <a:defRPr sz="2400" b="0">
                <a:solidFill>
                  <a:srgbClr val="152C40"/>
                </a:solidFill>
                <a:latin typeface="Noto Sans"/>
              </a:defRPr>
            </a:pPr>
            <a:r>
              <a:t>did not replace the baseline.</a:t>
            </a:r>
          </a:p>
          <a:p>
            <a:pPr algn="l">
              <a:lnSpc>
                <a:spcPts val="2832"/>
              </a:lnSpc>
              <a:spcBef>
                <a:spcPts val="0"/>
              </a:spcBef>
              <a:spcAft>
                <a:spcPts val="0"/>
              </a:spcAft>
              <a:defRPr sz="2400" b="0">
                <a:solidFill>
                  <a:srgbClr val="152C40"/>
                </a:solidFill>
                <a:latin typeface="Noto Sans"/>
              </a:defRPr>
            </a:pPr>
            <a:r>
              <a:t>Calibration and refit gains failed</a:t>
            </a:r>
          </a:p>
          <a:p>
            <a:pPr algn="l">
              <a:lnSpc>
                <a:spcPts val="2832"/>
              </a:lnSpc>
              <a:spcBef>
                <a:spcPts val="0"/>
              </a:spcBef>
              <a:spcAft>
                <a:spcPts val="0"/>
              </a:spcAft>
              <a:defRPr sz="2400" b="0">
                <a:solidFill>
                  <a:srgbClr val="152C40"/>
                </a:solidFill>
                <a:latin typeface="Noto Sans"/>
              </a:defRPr>
            </a:pPr>
            <a:r>
              <a:t>transfer checks.</a:t>
            </a:r>
          </a:p>
        </p:txBody>
      </p:sp>
      <p:sp>
        <p:nvSpPr>
          <p:cNvPr id="16" name="TEXT 597-test regression recorded 19 October "/>
          <p:cNvSpPr txBox="1"/>
          <p:nvPr/>
        </p:nvSpPr>
        <p:spPr>
          <a:xfrm>
            <a:off x="530352" y="6080760"/>
            <a:ext cx="11064240" cy="237744"/>
          </a:xfrm>
          <a:prstGeom prst="rect">
            <a:avLst/>
          </a:prstGeom>
          <a:noFill/>
        </p:spPr>
        <p:txBody>
          <a:bodyPr wrap="none" lIns="0" rIns="0" tIns="0" bIns="0" anchor="t">
            <a:spAutoFit/>
          </a:bodyPr>
          <a:lstStyle/>
          <a:p>
            <a:pPr algn="l">
              <a:lnSpc>
                <a:spcPts val="1238"/>
              </a:lnSpc>
              <a:spcBef>
                <a:spcPts val="0"/>
              </a:spcBef>
              <a:spcAft>
                <a:spcPts val="0"/>
              </a:spcAft>
              <a:defRPr sz="1050" b="0">
                <a:solidFill>
                  <a:srgbClr val="526675"/>
                </a:solidFill>
                <a:latin typeface="Noto Sans"/>
              </a:defRPr>
            </a:pPr>
            <a:r>
              <a:t>597-test regression recorded 19 October 2026; it is not a count of correctly analysed meetings. Full negative results remain in the research report.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84048"/>
            <a:ext cx="59436" cy="329184"/>
          </a:xfrm>
          <a:prstGeom prst="rect">
            <a:avLst/>
          </a:prstGeom>
          <a:solidFill>
            <a:srgbClr val="B30D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 DISCUSSION RESULTS"/>
          <p:cNvSpPr txBox="1"/>
          <p:nvPr/>
        </p:nvSpPr>
        <p:spPr>
          <a:xfrm>
            <a:off x="658368" y="320040"/>
            <a:ext cx="9144000" cy="228600"/>
          </a:xfrm>
          <a:prstGeom prst="rect">
            <a:avLst/>
          </a:prstGeom>
          <a:noFill/>
        </p:spPr>
        <p:txBody>
          <a:bodyPr wrap="none" lIns="0" rIns="0" tIns="0" bIns="0" anchor="t">
            <a:spAutoFit/>
          </a:bodyPr>
          <a:lstStyle/>
          <a:p>
            <a:pPr algn="l">
              <a:lnSpc>
                <a:spcPts val="1297"/>
              </a:lnSpc>
              <a:spcBef>
                <a:spcPts val="0"/>
              </a:spcBef>
              <a:spcAft>
                <a:spcPts val="0"/>
              </a:spcAft>
              <a:defRPr sz="1100" b="1">
                <a:solidFill>
                  <a:srgbClr val="B30D2C"/>
                </a:solidFill>
                <a:latin typeface="Noto Sans"/>
              </a:defRPr>
            </a:pPr>
            <a:r>
              <a:t>DISCUSSION RESULTS</a:t>
            </a:r>
          </a:p>
        </p:txBody>
      </p:sp>
      <p:sp>
        <p:nvSpPr>
          <p:cNvPr id="5" name="TEXT Project Outcome: Discussion Detection"/>
          <p:cNvSpPr txBox="1"/>
          <p:nvPr/>
        </p:nvSpPr>
        <p:spPr>
          <a:xfrm>
            <a:off x="484632" y="749808"/>
            <a:ext cx="10881360" cy="502920"/>
          </a:xfrm>
          <a:prstGeom prst="rect">
            <a:avLst/>
          </a:prstGeom>
          <a:noFill/>
        </p:spPr>
        <p:txBody>
          <a:bodyPr wrap="none" lIns="0" rIns="0" tIns="0" bIns="0" anchor="t">
            <a:spAutoFit/>
          </a:bodyPr>
          <a:lstStyle/>
          <a:p>
            <a:pPr algn="l">
              <a:lnSpc>
                <a:spcPts val="3422"/>
              </a:lnSpc>
              <a:spcBef>
                <a:spcPts val="0"/>
              </a:spcBef>
              <a:spcAft>
                <a:spcPts val="0"/>
              </a:spcAft>
              <a:defRPr sz="2900" b="1">
                <a:solidFill>
                  <a:srgbClr val="152C40"/>
                </a:solidFill>
                <a:latin typeface="Noto Sans"/>
              </a:defRPr>
            </a:pPr>
            <a:r>
              <a:t>Project Outcome: Discussion Detection</a:t>
            </a:r>
          </a:p>
        </p:txBody>
      </p:sp>
      <p:sp>
        <p:nvSpPr>
          <p:cNvPr id="6" name="TEXT Historical cohort: human reference trans"/>
          <p:cNvSpPr txBox="1"/>
          <p:nvPr/>
        </p:nvSpPr>
        <p:spPr>
          <a:xfrm>
            <a:off x="502920" y="1298448"/>
            <a:ext cx="11064240" cy="411480"/>
          </a:xfrm>
          <a:prstGeom prst="rect">
            <a:avLst/>
          </a:prstGeom>
          <a:noFill/>
        </p:spPr>
        <p:txBody>
          <a:bodyPr wrap="none" lIns="0" rIns="0" tIns="0" bIns="0" anchor="t">
            <a:spAutoFit/>
          </a:bodyPr>
          <a:lstStyle/>
          <a:p>
            <a:pPr algn="l">
              <a:lnSpc>
                <a:spcPts val="1770"/>
              </a:lnSpc>
              <a:spcBef>
                <a:spcPts val="0"/>
              </a:spcBef>
              <a:spcAft>
                <a:spcPts val="0"/>
              </a:spcAft>
              <a:defRPr sz="1500" b="0">
                <a:solidFill>
                  <a:srgbClr val="526675"/>
                </a:solidFill>
                <a:latin typeface="Noto Sans"/>
              </a:defRPr>
            </a:pPr>
            <a:r>
              <a:t>Historical cohort: human reference transcripts and act boundaries — not recording-level app accuracy.</a:t>
            </a:r>
          </a:p>
        </p:txBody>
      </p:sp>
      <p:pic>
        <p:nvPicPr>
          <p:cNvPr id="7" name="Picture 6" descr="image3.png"/>
          <p:cNvPicPr>
            <a:picLocks noChangeAspect="1"/>
          </p:cNvPicPr>
          <p:nvPr/>
        </p:nvPicPr>
        <p:blipFill>
          <a:blip r:embed="rId2"/>
          <a:stretch>
            <a:fillRect/>
          </a:stretch>
        </p:blipFill>
        <p:spPr>
          <a:xfrm>
            <a:off x="10195560" y="320040"/>
            <a:ext cx="1508760" cy="286077"/>
          </a:xfrm>
          <a:prstGeom prst="rect">
            <a:avLst/>
          </a:prstGeom>
        </p:spPr>
      </p:pic>
      <p:cxnSp>
        <p:nvCxnSpPr>
          <p:cNvPr id="8" name="Connector 7"/>
          <p:cNvCxnSpPr/>
          <p:nvPr/>
        </p:nvCxnSpPr>
        <p:spPr>
          <a:xfrm>
            <a:off x="502920" y="6419088"/>
            <a:ext cx="11183112" cy="0"/>
          </a:xfrm>
          <a:prstGeom prst="line">
            <a:avLst/>
          </a:prstGeom>
          <a:ln w="12700">
            <a:solidFill>
              <a:srgbClr val="D9E2E7"/>
            </a:solidFill>
          </a:ln>
        </p:spPr>
        <p:style>
          <a:lnRef idx="2">
            <a:schemeClr val="accent1"/>
          </a:lnRef>
          <a:fillRef idx="0">
            <a:schemeClr val="accent1"/>
          </a:fillRef>
          <a:effectRef idx="1">
            <a:schemeClr val="accent1"/>
          </a:effectRef>
          <a:fontRef idx="minor">
            <a:schemeClr val="tx1"/>
          </a:fontRef>
        </p:style>
      </p:cxnSp>
      <p:sp>
        <p:nvSpPr>
          <p:cNvPr id="9" name="TEXT SIT Pune  |  AI &amp; ML  |  Group 12  |  Pr"/>
          <p:cNvSpPr txBox="1"/>
          <p:nvPr/>
        </p:nvSpPr>
        <p:spPr>
          <a:xfrm>
            <a:off x="502920" y="6519672"/>
            <a:ext cx="9509760" cy="173736"/>
          </a:xfrm>
          <a:prstGeom prst="rect">
            <a:avLst/>
          </a:prstGeom>
          <a:noFill/>
        </p:spPr>
        <p:txBody>
          <a:bodyPr wrap="none" lIns="0" rIns="0" tIns="0" bIns="0" anchor="t">
            <a:spAutoFit/>
          </a:bodyPr>
          <a:lstStyle/>
          <a:p>
            <a:pPr algn="l">
              <a:lnSpc>
                <a:spcPts val="1062"/>
              </a:lnSpc>
              <a:spcBef>
                <a:spcPts val="0"/>
              </a:spcBef>
              <a:spcAft>
                <a:spcPts val="0"/>
              </a:spcAft>
              <a:defRPr sz="900" b="0">
                <a:solidFill>
                  <a:srgbClr val="526675"/>
                </a:solidFill>
                <a:latin typeface="Noto Sans"/>
              </a:defRPr>
            </a:pPr>
            <a:r>
              <a:t>SIT Pune | AI &amp; ML | Group 12 | Prepared 20 October 2026</a:t>
            </a:r>
          </a:p>
        </p:txBody>
      </p:sp>
      <p:sp>
        <p:nvSpPr>
          <p:cNvPr id="10" name="TEXT 14 / 18"/>
          <p:cNvSpPr txBox="1"/>
          <p:nvPr/>
        </p:nvSpPr>
        <p:spPr>
          <a:xfrm>
            <a:off x="10789920" y="6510528"/>
            <a:ext cx="914400" cy="201168"/>
          </a:xfrm>
          <a:prstGeom prst="rect">
            <a:avLst/>
          </a:prstGeom>
          <a:noFill/>
        </p:spPr>
        <p:txBody>
          <a:bodyPr wrap="none" lIns="0" rIns="0" tIns="0" bIns="0" anchor="t">
            <a:spAutoFit/>
          </a:bodyPr>
          <a:lstStyle/>
          <a:p>
            <a:pPr algn="r">
              <a:lnSpc>
                <a:spcPts val="1180"/>
              </a:lnSpc>
              <a:spcBef>
                <a:spcPts val="0"/>
              </a:spcBef>
              <a:spcAft>
                <a:spcPts val="0"/>
              </a:spcAft>
              <a:defRPr sz="1000" b="0">
                <a:solidFill>
                  <a:srgbClr val="526675"/>
                </a:solidFill>
                <a:latin typeface="Noto Sans"/>
              </a:defRPr>
            </a:pPr>
            <a:r>
              <a:t>14 / 18</a:t>
            </a:r>
          </a:p>
        </p:txBody>
      </p:sp>
      <p:sp>
        <p:nvSpPr>
          <p:cNvPr id="11" name="TEXT Logistic"/>
          <p:cNvSpPr txBox="1"/>
          <p:nvPr/>
        </p:nvSpPr>
        <p:spPr>
          <a:xfrm>
            <a:off x="685800" y="2011680"/>
            <a:ext cx="1920240" cy="365760"/>
          </a:xfrm>
          <a:prstGeom prst="rect">
            <a:avLst/>
          </a:prstGeom>
          <a:noFill/>
        </p:spPr>
        <p:txBody>
          <a:bodyPr wrap="none" lIns="0" rIns="0" tIns="0" bIns="0" anchor="t">
            <a:spAutoFit/>
          </a:bodyPr>
          <a:lstStyle/>
          <a:p>
            <a:pPr algn="l">
              <a:lnSpc>
                <a:spcPts val="2124"/>
              </a:lnSpc>
              <a:spcBef>
                <a:spcPts val="0"/>
              </a:spcBef>
              <a:spcAft>
                <a:spcPts val="0"/>
              </a:spcAft>
              <a:defRPr sz="1800" b="0">
                <a:solidFill>
                  <a:srgbClr val="152C40"/>
                </a:solidFill>
                <a:latin typeface="Noto Sans"/>
              </a:defRPr>
            </a:pPr>
            <a:r>
              <a:t>Logistic</a:t>
            </a:r>
          </a:p>
        </p:txBody>
      </p:sp>
      <p:sp>
        <p:nvSpPr>
          <p:cNvPr id="12" name="Rectangle 11"/>
          <p:cNvSpPr/>
          <p:nvPr/>
        </p:nvSpPr>
        <p:spPr>
          <a:xfrm>
            <a:off x="2743200" y="2057400"/>
            <a:ext cx="2989665" cy="30175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 50.60"/>
          <p:cNvSpPr txBox="1"/>
          <p:nvPr/>
        </p:nvSpPr>
        <p:spPr>
          <a:xfrm>
            <a:off x="6720840" y="2002536"/>
            <a:ext cx="731520" cy="365760"/>
          </a:xfrm>
          <a:prstGeom prst="rect">
            <a:avLst/>
          </a:prstGeom>
          <a:noFill/>
        </p:spPr>
        <p:txBody>
          <a:bodyPr wrap="none" lIns="0" rIns="0" tIns="0" bIns="0" anchor="t">
            <a:spAutoFit/>
          </a:bodyPr>
          <a:lstStyle/>
          <a:p>
            <a:pPr algn="l">
              <a:lnSpc>
                <a:spcPts val="2124"/>
              </a:lnSpc>
              <a:spcBef>
                <a:spcPts val="0"/>
              </a:spcBef>
              <a:spcAft>
                <a:spcPts val="0"/>
              </a:spcAft>
              <a:defRPr sz="1800" b="1">
                <a:solidFill>
                  <a:srgbClr val="152C40"/>
                </a:solidFill>
                <a:latin typeface="Noto Sans"/>
              </a:defRPr>
            </a:pPr>
            <a:r>
              <a:t>50.60</a:t>
            </a:r>
          </a:p>
        </p:txBody>
      </p:sp>
      <p:sp>
        <p:nvSpPr>
          <p:cNvPr id="14" name="TEXT Naive Bayes"/>
          <p:cNvSpPr txBox="1"/>
          <p:nvPr/>
        </p:nvSpPr>
        <p:spPr>
          <a:xfrm>
            <a:off x="685800" y="2633472"/>
            <a:ext cx="1920240" cy="365760"/>
          </a:xfrm>
          <a:prstGeom prst="rect">
            <a:avLst/>
          </a:prstGeom>
          <a:noFill/>
        </p:spPr>
        <p:txBody>
          <a:bodyPr wrap="none" lIns="0" rIns="0" tIns="0" bIns="0" anchor="t">
            <a:spAutoFit/>
          </a:bodyPr>
          <a:lstStyle/>
          <a:p>
            <a:pPr algn="l">
              <a:lnSpc>
                <a:spcPts val="2124"/>
              </a:lnSpc>
              <a:spcBef>
                <a:spcPts val="0"/>
              </a:spcBef>
              <a:spcAft>
                <a:spcPts val="0"/>
              </a:spcAft>
              <a:defRPr sz="1800" b="0">
                <a:solidFill>
                  <a:srgbClr val="152C40"/>
                </a:solidFill>
                <a:latin typeface="Noto Sans"/>
              </a:defRPr>
            </a:pPr>
            <a:r>
              <a:t>Naive Bayes</a:t>
            </a:r>
          </a:p>
        </p:txBody>
      </p:sp>
      <p:sp>
        <p:nvSpPr>
          <p:cNvPr id="15" name="Rectangle 14"/>
          <p:cNvSpPr/>
          <p:nvPr/>
        </p:nvSpPr>
        <p:spPr>
          <a:xfrm>
            <a:off x="2743200" y="2679192"/>
            <a:ext cx="2784052" cy="30175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 47.12"/>
          <p:cNvSpPr txBox="1"/>
          <p:nvPr/>
        </p:nvSpPr>
        <p:spPr>
          <a:xfrm>
            <a:off x="6720840" y="2624328"/>
            <a:ext cx="731520" cy="365760"/>
          </a:xfrm>
          <a:prstGeom prst="rect">
            <a:avLst/>
          </a:prstGeom>
          <a:noFill/>
        </p:spPr>
        <p:txBody>
          <a:bodyPr wrap="none" lIns="0" rIns="0" tIns="0" bIns="0" anchor="t">
            <a:spAutoFit/>
          </a:bodyPr>
          <a:lstStyle/>
          <a:p>
            <a:pPr algn="l">
              <a:lnSpc>
                <a:spcPts val="2124"/>
              </a:lnSpc>
              <a:spcBef>
                <a:spcPts val="0"/>
              </a:spcBef>
              <a:spcAft>
                <a:spcPts val="0"/>
              </a:spcAft>
              <a:defRPr sz="1800" b="1">
                <a:solidFill>
                  <a:srgbClr val="152C40"/>
                </a:solidFill>
                <a:latin typeface="Noto Sans"/>
              </a:defRPr>
            </a:pPr>
            <a:r>
              <a:t>47.12</a:t>
            </a:r>
          </a:p>
        </p:txBody>
      </p:sp>
      <p:sp>
        <p:nvSpPr>
          <p:cNvPr id="17" name="TEXT Linear SVM"/>
          <p:cNvSpPr txBox="1"/>
          <p:nvPr/>
        </p:nvSpPr>
        <p:spPr>
          <a:xfrm>
            <a:off x="685800" y="3255264"/>
            <a:ext cx="1920240" cy="365760"/>
          </a:xfrm>
          <a:prstGeom prst="rect">
            <a:avLst/>
          </a:prstGeom>
          <a:noFill/>
        </p:spPr>
        <p:txBody>
          <a:bodyPr wrap="none" lIns="0" rIns="0" tIns="0" bIns="0" anchor="t">
            <a:spAutoFit/>
          </a:bodyPr>
          <a:lstStyle/>
          <a:p>
            <a:pPr algn="l">
              <a:lnSpc>
                <a:spcPts val="2124"/>
              </a:lnSpc>
              <a:spcBef>
                <a:spcPts val="0"/>
              </a:spcBef>
              <a:spcAft>
                <a:spcPts val="0"/>
              </a:spcAft>
              <a:defRPr sz="1800" b="0">
                <a:solidFill>
                  <a:srgbClr val="152C40"/>
                </a:solidFill>
                <a:latin typeface="Noto Sans"/>
              </a:defRPr>
            </a:pPr>
            <a:r>
              <a:t>Linear SVM</a:t>
            </a:r>
          </a:p>
        </p:txBody>
      </p:sp>
      <p:sp>
        <p:nvSpPr>
          <p:cNvPr id="18" name="Rectangle 17"/>
          <p:cNvSpPr/>
          <p:nvPr/>
        </p:nvSpPr>
        <p:spPr>
          <a:xfrm>
            <a:off x="2743200" y="3300984"/>
            <a:ext cx="2982575" cy="30175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 50.48"/>
          <p:cNvSpPr txBox="1"/>
          <p:nvPr/>
        </p:nvSpPr>
        <p:spPr>
          <a:xfrm>
            <a:off x="6720840" y="3246120"/>
            <a:ext cx="731520" cy="365760"/>
          </a:xfrm>
          <a:prstGeom prst="rect">
            <a:avLst/>
          </a:prstGeom>
          <a:noFill/>
        </p:spPr>
        <p:txBody>
          <a:bodyPr wrap="none" lIns="0" rIns="0" tIns="0" bIns="0" anchor="t">
            <a:spAutoFit/>
          </a:bodyPr>
          <a:lstStyle/>
          <a:p>
            <a:pPr algn="l">
              <a:lnSpc>
                <a:spcPts val="2124"/>
              </a:lnSpc>
              <a:spcBef>
                <a:spcPts val="0"/>
              </a:spcBef>
              <a:spcAft>
                <a:spcPts val="0"/>
              </a:spcAft>
              <a:defRPr sz="1800" b="1">
                <a:solidFill>
                  <a:srgbClr val="152C40"/>
                </a:solidFill>
                <a:latin typeface="Noto Sans"/>
              </a:defRPr>
            </a:pPr>
            <a:r>
              <a:t>50.48</a:t>
            </a:r>
          </a:p>
        </p:txBody>
      </p:sp>
      <p:sp>
        <p:nvSpPr>
          <p:cNvPr id="20" name="TEXT Forest"/>
          <p:cNvSpPr txBox="1"/>
          <p:nvPr/>
        </p:nvSpPr>
        <p:spPr>
          <a:xfrm>
            <a:off x="685800" y="3877056"/>
            <a:ext cx="1920240" cy="365760"/>
          </a:xfrm>
          <a:prstGeom prst="rect">
            <a:avLst/>
          </a:prstGeom>
          <a:noFill/>
        </p:spPr>
        <p:txBody>
          <a:bodyPr wrap="none" lIns="0" rIns="0" tIns="0" bIns="0" anchor="t">
            <a:spAutoFit/>
          </a:bodyPr>
          <a:lstStyle/>
          <a:p>
            <a:pPr algn="l">
              <a:lnSpc>
                <a:spcPts val="2124"/>
              </a:lnSpc>
              <a:spcBef>
                <a:spcPts val="0"/>
              </a:spcBef>
              <a:spcAft>
                <a:spcPts val="0"/>
              </a:spcAft>
              <a:defRPr sz="1800" b="0">
                <a:solidFill>
                  <a:srgbClr val="152C40"/>
                </a:solidFill>
                <a:latin typeface="Noto Sans"/>
              </a:defRPr>
            </a:pPr>
            <a:r>
              <a:t>Forest</a:t>
            </a:r>
          </a:p>
        </p:txBody>
      </p:sp>
      <p:sp>
        <p:nvSpPr>
          <p:cNvPr id="21" name="Rectangle 20"/>
          <p:cNvSpPr/>
          <p:nvPr/>
        </p:nvSpPr>
        <p:spPr>
          <a:xfrm>
            <a:off x="2743200" y="3922776"/>
            <a:ext cx="3077110" cy="30175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 52.08"/>
          <p:cNvSpPr txBox="1"/>
          <p:nvPr/>
        </p:nvSpPr>
        <p:spPr>
          <a:xfrm>
            <a:off x="6720840" y="3867912"/>
            <a:ext cx="731520" cy="365760"/>
          </a:xfrm>
          <a:prstGeom prst="rect">
            <a:avLst/>
          </a:prstGeom>
          <a:noFill/>
        </p:spPr>
        <p:txBody>
          <a:bodyPr wrap="none" lIns="0" rIns="0" tIns="0" bIns="0" anchor="t">
            <a:spAutoFit/>
          </a:bodyPr>
          <a:lstStyle/>
          <a:p>
            <a:pPr algn="l">
              <a:lnSpc>
                <a:spcPts val="2124"/>
              </a:lnSpc>
              <a:spcBef>
                <a:spcPts val="0"/>
              </a:spcBef>
              <a:spcAft>
                <a:spcPts val="0"/>
              </a:spcAft>
              <a:defRPr sz="1800" b="1">
                <a:solidFill>
                  <a:srgbClr val="152C40"/>
                </a:solidFill>
                <a:latin typeface="Noto Sans"/>
              </a:defRPr>
            </a:pPr>
            <a:r>
              <a:t>52.08</a:t>
            </a:r>
          </a:p>
        </p:txBody>
      </p:sp>
      <p:sp>
        <p:nvSpPr>
          <p:cNvPr id="23" name="TEXT Combination"/>
          <p:cNvSpPr txBox="1"/>
          <p:nvPr/>
        </p:nvSpPr>
        <p:spPr>
          <a:xfrm>
            <a:off x="685800" y="4498848"/>
            <a:ext cx="1920240" cy="365760"/>
          </a:xfrm>
          <a:prstGeom prst="rect">
            <a:avLst/>
          </a:prstGeom>
          <a:noFill/>
        </p:spPr>
        <p:txBody>
          <a:bodyPr wrap="none" lIns="0" rIns="0" tIns="0" bIns="0" anchor="t">
            <a:spAutoFit/>
          </a:bodyPr>
          <a:lstStyle/>
          <a:p>
            <a:pPr algn="l">
              <a:lnSpc>
                <a:spcPts val="2124"/>
              </a:lnSpc>
              <a:spcBef>
                <a:spcPts val="0"/>
              </a:spcBef>
              <a:spcAft>
                <a:spcPts val="0"/>
              </a:spcAft>
              <a:defRPr sz="1800" b="1">
                <a:solidFill>
                  <a:srgbClr val="152C40"/>
                </a:solidFill>
                <a:latin typeface="Noto Sans"/>
              </a:defRPr>
            </a:pPr>
            <a:r>
              <a:t>Combination</a:t>
            </a:r>
          </a:p>
        </p:txBody>
      </p:sp>
      <p:sp>
        <p:nvSpPr>
          <p:cNvPr id="24" name="Rectangle 23"/>
          <p:cNvSpPr/>
          <p:nvPr/>
        </p:nvSpPr>
        <p:spPr>
          <a:xfrm>
            <a:off x="2743200" y="4544568"/>
            <a:ext cx="3163373" cy="301752"/>
          </a:xfrm>
          <a:prstGeom prst="rect">
            <a:avLst/>
          </a:prstGeom>
          <a:solidFill>
            <a:srgbClr val="B30D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 53.54"/>
          <p:cNvSpPr txBox="1"/>
          <p:nvPr/>
        </p:nvSpPr>
        <p:spPr>
          <a:xfrm>
            <a:off x="6720840" y="4489704"/>
            <a:ext cx="731520" cy="365760"/>
          </a:xfrm>
          <a:prstGeom prst="rect">
            <a:avLst/>
          </a:prstGeom>
          <a:noFill/>
        </p:spPr>
        <p:txBody>
          <a:bodyPr wrap="none" lIns="0" rIns="0" tIns="0" bIns="0" anchor="t">
            <a:spAutoFit/>
          </a:bodyPr>
          <a:lstStyle/>
          <a:p>
            <a:pPr algn="l">
              <a:lnSpc>
                <a:spcPts val="2124"/>
              </a:lnSpc>
              <a:spcBef>
                <a:spcPts val="0"/>
              </a:spcBef>
              <a:spcAft>
                <a:spcPts val="0"/>
              </a:spcAft>
              <a:defRPr sz="1800" b="1">
                <a:solidFill>
                  <a:srgbClr val="152C40"/>
                </a:solidFill>
                <a:latin typeface="Noto Sans"/>
              </a:defRPr>
            </a:pPr>
            <a:r>
              <a:t>53.54</a:t>
            </a:r>
          </a:p>
        </p:txBody>
      </p:sp>
      <p:sp>
        <p:nvSpPr>
          <p:cNvPr id="26" name="TEXT Historical F1 (%) — common context-40 fe"/>
          <p:cNvSpPr txBox="1"/>
          <p:nvPr/>
        </p:nvSpPr>
        <p:spPr>
          <a:xfrm>
            <a:off x="731520" y="5440680"/>
            <a:ext cx="6766560" cy="365760"/>
          </a:xfrm>
          <a:prstGeom prst="rect">
            <a:avLst/>
          </a:prstGeom>
          <a:noFill/>
        </p:spPr>
        <p:txBody>
          <a:bodyPr wrap="none" lIns="0" rIns="0" tIns="0" bIns="0" anchor="t">
            <a:spAutoFit/>
          </a:bodyPr>
          <a:lstStyle/>
          <a:p>
            <a:pPr algn="l">
              <a:lnSpc>
                <a:spcPts val="1888"/>
              </a:lnSpc>
              <a:spcBef>
                <a:spcPts val="0"/>
              </a:spcBef>
              <a:spcAft>
                <a:spcPts val="0"/>
              </a:spcAft>
              <a:defRPr sz="1600" b="0">
                <a:solidFill>
                  <a:srgbClr val="526675"/>
                </a:solidFill>
                <a:latin typeface="Noto Sans"/>
              </a:defRPr>
            </a:pPr>
            <a:r>
              <a:t>Historical F1 (%) — common context-40 features</a:t>
            </a:r>
          </a:p>
        </p:txBody>
      </p:sp>
      <p:sp>
        <p:nvSpPr>
          <p:cNvPr id="27" name="Rounded Rectangle 26"/>
          <p:cNvSpPr/>
          <p:nvPr/>
        </p:nvSpPr>
        <p:spPr>
          <a:xfrm>
            <a:off x="8092440" y="2057400"/>
            <a:ext cx="3337560" cy="1508760"/>
          </a:xfrm>
          <a:prstGeom prst="roundRect">
            <a:avLst>
              <a:gd name="adj" fmla="val 6000"/>
            </a:avLst>
          </a:prstGeom>
          <a:solidFill>
            <a:srgbClr val="F0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 39.94%"/>
          <p:cNvSpPr txBox="1"/>
          <p:nvPr/>
        </p:nvSpPr>
        <p:spPr>
          <a:xfrm>
            <a:off x="8275320" y="2167128"/>
            <a:ext cx="2926080" cy="502920"/>
          </a:xfrm>
          <a:prstGeom prst="rect">
            <a:avLst/>
          </a:prstGeom>
          <a:noFill/>
        </p:spPr>
        <p:txBody>
          <a:bodyPr wrap="none" lIns="0" rIns="0" tIns="0" bIns="0" anchor="t">
            <a:spAutoFit/>
          </a:bodyPr>
          <a:lstStyle/>
          <a:p>
            <a:pPr algn="l">
              <a:lnSpc>
                <a:spcPts val="3658"/>
              </a:lnSpc>
              <a:spcBef>
                <a:spcPts val="0"/>
              </a:spcBef>
              <a:spcAft>
                <a:spcPts val="0"/>
              </a:spcAft>
              <a:defRPr sz="3100" b="1">
                <a:solidFill>
                  <a:srgbClr val="B30D2C"/>
                </a:solidFill>
                <a:latin typeface="Noto Sans"/>
              </a:defRPr>
            </a:pPr>
            <a:r>
              <a:t>39.94%</a:t>
            </a:r>
          </a:p>
        </p:txBody>
      </p:sp>
      <p:sp>
        <p:nvSpPr>
          <p:cNvPr id="29" name="TEXT Precision"/>
          <p:cNvSpPr txBox="1"/>
          <p:nvPr/>
        </p:nvSpPr>
        <p:spPr>
          <a:xfrm>
            <a:off x="8275320" y="2715768"/>
            <a:ext cx="2926080" cy="320040"/>
          </a:xfrm>
          <a:prstGeom prst="rect">
            <a:avLst/>
          </a:prstGeom>
          <a:noFill/>
        </p:spPr>
        <p:txBody>
          <a:bodyPr wrap="none" lIns="0" rIns="0" tIns="0" bIns="0" anchor="t">
            <a:spAutoFit/>
          </a:bodyPr>
          <a:lstStyle/>
          <a:p>
            <a:pPr algn="l">
              <a:lnSpc>
                <a:spcPts val="2005"/>
              </a:lnSpc>
              <a:spcBef>
                <a:spcPts val="0"/>
              </a:spcBef>
              <a:spcAft>
                <a:spcPts val="0"/>
              </a:spcAft>
              <a:defRPr sz="1700" b="1">
                <a:solidFill>
                  <a:srgbClr val="152C40"/>
                </a:solidFill>
                <a:latin typeface="Noto Sans"/>
              </a:defRPr>
            </a:pPr>
            <a:r>
              <a:t>Precision</a:t>
            </a:r>
          </a:p>
        </p:txBody>
      </p:sp>
      <p:sp>
        <p:nvSpPr>
          <p:cNvPr id="30" name="TEXT About 40 of 100 flagged acts&#10;match refer"/>
          <p:cNvSpPr txBox="1"/>
          <p:nvPr/>
        </p:nvSpPr>
        <p:spPr>
          <a:xfrm>
            <a:off x="8275320" y="3063240"/>
            <a:ext cx="2926080" cy="457200"/>
          </a:xfrm>
          <a:prstGeom prst="rect">
            <a:avLst/>
          </a:prstGeom>
          <a:noFill/>
        </p:spPr>
        <p:txBody>
          <a:bodyPr wrap="none" lIns="0" rIns="0" tIns="0" bIns="0" anchor="t">
            <a:spAutoFit/>
          </a:bodyPr>
          <a:lstStyle/>
          <a:p>
            <a:pPr algn="l">
              <a:lnSpc>
                <a:spcPts val="1475"/>
              </a:lnSpc>
              <a:spcBef>
                <a:spcPts val="0"/>
              </a:spcBef>
              <a:spcAft>
                <a:spcPts val="0"/>
              </a:spcAft>
              <a:defRPr sz="1250" b="0">
                <a:solidFill>
                  <a:srgbClr val="526675"/>
                </a:solidFill>
                <a:latin typeface="Noto Sans"/>
              </a:defRPr>
            </a:pPr>
            <a:r>
              <a:t>About 40 of 100 flagged acts</a:t>
            </a:r>
          </a:p>
          <a:p>
            <a:pPr algn="l">
              <a:lnSpc>
                <a:spcPts val="1475"/>
              </a:lnSpc>
              <a:spcBef>
                <a:spcPts val="0"/>
              </a:spcBef>
              <a:spcAft>
                <a:spcPts val="0"/>
              </a:spcAft>
              <a:defRPr sz="1250" b="0">
                <a:solidFill>
                  <a:srgbClr val="526675"/>
                </a:solidFill>
                <a:latin typeface="Noto Sans"/>
              </a:defRPr>
            </a:pPr>
            <a:r>
              <a:t>match reference positives.</a:t>
            </a:r>
          </a:p>
        </p:txBody>
      </p:sp>
      <p:sp>
        <p:nvSpPr>
          <p:cNvPr id="31" name="Rounded Rectangle 30"/>
          <p:cNvSpPr/>
          <p:nvPr/>
        </p:nvSpPr>
        <p:spPr>
          <a:xfrm>
            <a:off x="8092440" y="3794760"/>
            <a:ext cx="3337560" cy="1508760"/>
          </a:xfrm>
          <a:prstGeom prst="roundRect">
            <a:avLst>
              <a:gd name="adj" fmla="val 6000"/>
            </a:avLst>
          </a:prstGeom>
          <a:solidFill>
            <a:srgbClr val="F0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 81.18%"/>
          <p:cNvSpPr txBox="1"/>
          <p:nvPr/>
        </p:nvSpPr>
        <p:spPr>
          <a:xfrm>
            <a:off x="8275320" y="3904488"/>
            <a:ext cx="2926080" cy="502920"/>
          </a:xfrm>
          <a:prstGeom prst="rect">
            <a:avLst/>
          </a:prstGeom>
          <a:noFill/>
        </p:spPr>
        <p:txBody>
          <a:bodyPr wrap="none" lIns="0" rIns="0" tIns="0" bIns="0" anchor="t">
            <a:spAutoFit/>
          </a:bodyPr>
          <a:lstStyle/>
          <a:p>
            <a:pPr algn="l">
              <a:lnSpc>
                <a:spcPts val="3658"/>
              </a:lnSpc>
              <a:spcBef>
                <a:spcPts val="0"/>
              </a:spcBef>
              <a:spcAft>
                <a:spcPts val="0"/>
              </a:spcAft>
              <a:defRPr sz="3100" b="1">
                <a:solidFill>
                  <a:srgbClr val="B30D2C"/>
                </a:solidFill>
                <a:latin typeface="Noto Sans"/>
              </a:defRPr>
            </a:pPr>
            <a:r>
              <a:t>81.18%</a:t>
            </a:r>
          </a:p>
        </p:txBody>
      </p:sp>
      <p:sp>
        <p:nvSpPr>
          <p:cNvPr id="33" name="TEXT Recall"/>
          <p:cNvSpPr txBox="1"/>
          <p:nvPr/>
        </p:nvSpPr>
        <p:spPr>
          <a:xfrm>
            <a:off x="8275320" y="4453128"/>
            <a:ext cx="2926080" cy="320040"/>
          </a:xfrm>
          <a:prstGeom prst="rect">
            <a:avLst/>
          </a:prstGeom>
          <a:noFill/>
        </p:spPr>
        <p:txBody>
          <a:bodyPr wrap="none" lIns="0" rIns="0" tIns="0" bIns="0" anchor="t">
            <a:spAutoFit/>
          </a:bodyPr>
          <a:lstStyle/>
          <a:p>
            <a:pPr algn="l">
              <a:lnSpc>
                <a:spcPts val="2005"/>
              </a:lnSpc>
              <a:spcBef>
                <a:spcPts val="0"/>
              </a:spcBef>
              <a:spcAft>
                <a:spcPts val="0"/>
              </a:spcAft>
              <a:defRPr sz="1700" b="1">
                <a:solidFill>
                  <a:srgbClr val="152C40"/>
                </a:solidFill>
                <a:latin typeface="Noto Sans"/>
              </a:defRPr>
            </a:pPr>
            <a:r>
              <a:t>Recall</a:t>
            </a:r>
          </a:p>
        </p:txBody>
      </p:sp>
      <p:sp>
        <p:nvSpPr>
          <p:cNvPr id="34" name="TEXT Finds about 81 of 100&#10;reference-positive"/>
          <p:cNvSpPr txBox="1"/>
          <p:nvPr/>
        </p:nvSpPr>
        <p:spPr>
          <a:xfrm>
            <a:off x="8275320" y="4800600"/>
            <a:ext cx="2926080" cy="457200"/>
          </a:xfrm>
          <a:prstGeom prst="rect">
            <a:avLst/>
          </a:prstGeom>
          <a:noFill/>
        </p:spPr>
        <p:txBody>
          <a:bodyPr wrap="none" lIns="0" rIns="0" tIns="0" bIns="0" anchor="t">
            <a:spAutoFit/>
          </a:bodyPr>
          <a:lstStyle/>
          <a:p>
            <a:pPr algn="l">
              <a:lnSpc>
                <a:spcPts val="1475"/>
              </a:lnSpc>
              <a:spcBef>
                <a:spcPts val="0"/>
              </a:spcBef>
              <a:spcAft>
                <a:spcPts val="0"/>
              </a:spcAft>
              <a:defRPr sz="1250" b="0">
                <a:solidFill>
                  <a:srgbClr val="526675"/>
                </a:solidFill>
                <a:latin typeface="Noto Sans"/>
              </a:defRPr>
            </a:pPr>
            <a:r>
              <a:t>Finds about 81 of 100</a:t>
            </a:r>
          </a:p>
          <a:p>
            <a:pPr algn="l">
              <a:lnSpc>
                <a:spcPts val="1475"/>
              </a:lnSpc>
              <a:spcBef>
                <a:spcPts val="0"/>
              </a:spcBef>
              <a:spcAft>
                <a:spcPts val="0"/>
              </a:spcAft>
              <a:defRPr sz="1250" b="0">
                <a:solidFill>
                  <a:srgbClr val="526675"/>
                </a:solidFill>
                <a:latin typeface="Noto Sans"/>
              </a:defRPr>
            </a:pPr>
            <a:r>
              <a:t>reference-positive acts.</a:t>
            </a:r>
          </a:p>
        </p:txBody>
      </p:sp>
      <p:sp>
        <p:nvSpPr>
          <p:cNvPr id="35" name="TEXT Mixture F1 53.54%; matched forest 52.08%"/>
          <p:cNvSpPr txBox="1"/>
          <p:nvPr/>
        </p:nvSpPr>
        <p:spPr>
          <a:xfrm>
            <a:off x="530352" y="6080760"/>
            <a:ext cx="11064240" cy="237744"/>
          </a:xfrm>
          <a:prstGeom prst="rect">
            <a:avLst/>
          </a:prstGeom>
          <a:noFill/>
        </p:spPr>
        <p:txBody>
          <a:bodyPr wrap="none" lIns="0" rIns="0" tIns="0" bIns="0" anchor="t">
            <a:spAutoFit/>
          </a:bodyPr>
          <a:lstStyle/>
          <a:p>
            <a:pPr algn="l">
              <a:lnSpc>
                <a:spcPts val="1238"/>
              </a:lnSpc>
              <a:spcBef>
                <a:spcPts val="0"/>
              </a:spcBef>
              <a:spcAft>
                <a:spcPts val="0"/>
              </a:spcAft>
              <a:defRPr sz="1050" b="0">
                <a:solidFill>
                  <a:srgbClr val="526675"/>
                </a:solidFill>
                <a:latin typeface="Noto Sans"/>
              </a:defRPr>
            </a:pPr>
            <a:r>
              <a:t>Mixture F1 53.54%; matched forest 52.08%. Difference +1.46 points; descriptive series-bootstrap interval −7.16 to +5.99.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84048"/>
            <a:ext cx="59436" cy="329184"/>
          </a:xfrm>
          <a:prstGeom prst="rect">
            <a:avLst/>
          </a:prstGeom>
          <a:solidFill>
            <a:srgbClr val="B30D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 SPEECH RESULTS"/>
          <p:cNvSpPr txBox="1"/>
          <p:nvPr/>
        </p:nvSpPr>
        <p:spPr>
          <a:xfrm>
            <a:off x="658368" y="320040"/>
            <a:ext cx="9144000" cy="228600"/>
          </a:xfrm>
          <a:prstGeom prst="rect">
            <a:avLst/>
          </a:prstGeom>
          <a:noFill/>
        </p:spPr>
        <p:txBody>
          <a:bodyPr wrap="none" lIns="0" rIns="0" tIns="0" bIns="0" anchor="t">
            <a:spAutoFit/>
          </a:bodyPr>
          <a:lstStyle/>
          <a:p>
            <a:pPr algn="l">
              <a:lnSpc>
                <a:spcPts val="1297"/>
              </a:lnSpc>
              <a:spcBef>
                <a:spcPts val="0"/>
              </a:spcBef>
              <a:spcAft>
                <a:spcPts val="0"/>
              </a:spcAft>
              <a:defRPr sz="1100" b="1">
                <a:solidFill>
                  <a:srgbClr val="B30D2C"/>
                </a:solidFill>
                <a:latin typeface="Noto Sans"/>
              </a:defRPr>
            </a:pPr>
            <a:r>
              <a:t>SPEECH RESULTS</a:t>
            </a:r>
          </a:p>
        </p:txBody>
      </p:sp>
      <p:sp>
        <p:nvSpPr>
          <p:cNvPr id="5" name="TEXT Project Outcome: Speech and Speakers"/>
          <p:cNvSpPr txBox="1"/>
          <p:nvPr/>
        </p:nvSpPr>
        <p:spPr>
          <a:xfrm>
            <a:off x="484632" y="749808"/>
            <a:ext cx="10881360" cy="502920"/>
          </a:xfrm>
          <a:prstGeom prst="rect">
            <a:avLst/>
          </a:prstGeom>
          <a:noFill/>
        </p:spPr>
        <p:txBody>
          <a:bodyPr wrap="none" lIns="0" rIns="0" tIns="0" bIns="0" anchor="t">
            <a:spAutoFit/>
          </a:bodyPr>
          <a:lstStyle/>
          <a:p>
            <a:pPr algn="l">
              <a:lnSpc>
                <a:spcPts val="3422"/>
              </a:lnSpc>
              <a:spcBef>
                <a:spcPts val="0"/>
              </a:spcBef>
              <a:spcAft>
                <a:spcPts val="0"/>
              </a:spcAft>
              <a:defRPr sz="2900" b="1">
                <a:solidFill>
                  <a:srgbClr val="152C40"/>
                </a:solidFill>
                <a:latin typeface="Noto Sans"/>
              </a:defRPr>
            </a:pPr>
            <a:r>
              <a:t>Project Outcome: Speech and Speakers</a:t>
            </a:r>
          </a:p>
        </p:txBody>
      </p:sp>
      <p:sp>
        <p:nvSpPr>
          <p:cNvPr id="6" name="TEXT Word error rate: edits per 100 reference"/>
          <p:cNvSpPr txBox="1"/>
          <p:nvPr/>
        </p:nvSpPr>
        <p:spPr>
          <a:xfrm>
            <a:off x="502920" y="1298448"/>
            <a:ext cx="11064240" cy="411480"/>
          </a:xfrm>
          <a:prstGeom prst="rect">
            <a:avLst/>
          </a:prstGeom>
          <a:noFill/>
        </p:spPr>
        <p:txBody>
          <a:bodyPr wrap="none" lIns="0" rIns="0" tIns="0" bIns="0" anchor="t">
            <a:spAutoFit/>
          </a:bodyPr>
          <a:lstStyle/>
          <a:p>
            <a:pPr algn="l">
              <a:lnSpc>
                <a:spcPts val="1770"/>
              </a:lnSpc>
              <a:spcBef>
                <a:spcPts val="0"/>
              </a:spcBef>
              <a:spcAft>
                <a:spcPts val="0"/>
              </a:spcAft>
              <a:defRPr sz="1500" b="0">
                <a:solidFill>
                  <a:srgbClr val="526675"/>
                </a:solidFill>
                <a:latin typeface="Noto Sans"/>
              </a:defRPr>
            </a:pPr>
            <a:r>
              <a:t>Word error rate: edits per 100 reference words, pooled by reference count. Lower is better.</a:t>
            </a:r>
          </a:p>
        </p:txBody>
      </p:sp>
      <p:pic>
        <p:nvPicPr>
          <p:cNvPr id="7" name="Picture 6" descr="image3.png"/>
          <p:cNvPicPr>
            <a:picLocks noChangeAspect="1"/>
          </p:cNvPicPr>
          <p:nvPr/>
        </p:nvPicPr>
        <p:blipFill>
          <a:blip r:embed="rId2"/>
          <a:stretch>
            <a:fillRect/>
          </a:stretch>
        </p:blipFill>
        <p:spPr>
          <a:xfrm>
            <a:off x="10195560" y="320040"/>
            <a:ext cx="1508760" cy="286077"/>
          </a:xfrm>
          <a:prstGeom prst="rect">
            <a:avLst/>
          </a:prstGeom>
        </p:spPr>
      </p:pic>
      <p:cxnSp>
        <p:nvCxnSpPr>
          <p:cNvPr id="8" name="Connector 7"/>
          <p:cNvCxnSpPr/>
          <p:nvPr/>
        </p:nvCxnSpPr>
        <p:spPr>
          <a:xfrm>
            <a:off x="502920" y="6419088"/>
            <a:ext cx="11183112" cy="0"/>
          </a:xfrm>
          <a:prstGeom prst="line">
            <a:avLst/>
          </a:prstGeom>
          <a:ln w="12700">
            <a:solidFill>
              <a:srgbClr val="D9E2E7"/>
            </a:solidFill>
          </a:ln>
        </p:spPr>
        <p:style>
          <a:lnRef idx="2">
            <a:schemeClr val="accent1"/>
          </a:lnRef>
          <a:fillRef idx="0">
            <a:schemeClr val="accent1"/>
          </a:fillRef>
          <a:effectRef idx="1">
            <a:schemeClr val="accent1"/>
          </a:effectRef>
          <a:fontRef idx="minor">
            <a:schemeClr val="tx1"/>
          </a:fontRef>
        </p:style>
      </p:cxnSp>
      <p:sp>
        <p:nvSpPr>
          <p:cNvPr id="9" name="TEXT SIT Pune  |  AI &amp; ML  |  Group 12  |  Pr"/>
          <p:cNvSpPr txBox="1"/>
          <p:nvPr/>
        </p:nvSpPr>
        <p:spPr>
          <a:xfrm>
            <a:off x="502920" y="6519672"/>
            <a:ext cx="9509760" cy="173736"/>
          </a:xfrm>
          <a:prstGeom prst="rect">
            <a:avLst/>
          </a:prstGeom>
          <a:noFill/>
        </p:spPr>
        <p:txBody>
          <a:bodyPr wrap="none" lIns="0" rIns="0" tIns="0" bIns="0" anchor="t">
            <a:spAutoFit/>
          </a:bodyPr>
          <a:lstStyle/>
          <a:p>
            <a:pPr algn="l">
              <a:lnSpc>
                <a:spcPts val="1062"/>
              </a:lnSpc>
              <a:spcBef>
                <a:spcPts val="0"/>
              </a:spcBef>
              <a:spcAft>
                <a:spcPts val="0"/>
              </a:spcAft>
              <a:defRPr sz="900" b="0">
                <a:solidFill>
                  <a:srgbClr val="526675"/>
                </a:solidFill>
                <a:latin typeface="Noto Sans"/>
              </a:defRPr>
            </a:pPr>
            <a:r>
              <a:t>SIT Pune | AI &amp; ML | Group 12 | Prepared 20 October 2026</a:t>
            </a:r>
          </a:p>
        </p:txBody>
      </p:sp>
      <p:sp>
        <p:nvSpPr>
          <p:cNvPr id="10" name="TEXT 15 / 18"/>
          <p:cNvSpPr txBox="1"/>
          <p:nvPr/>
        </p:nvSpPr>
        <p:spPr>
          <a:xfrm>
            <a:off x="10789920" y="6510528"/>
            <a:ext cx="914400" cy="201168"/>
          </a:xfrm>
          <a:prstGeom prst="rect">
            <a:avLst/>
          </a:prstGeom>
          <a:noFill/>
        </p:spPr>
        <p:txBody>
          <a:bodyPr wrap="none" lIns="0" rIns="0" tIns="0" bIns="0" anchor="t">
            <a:spAutoFit/>
          </a:bodyPr>
          <a:lstStyle/>
          <a:p>
            <a:pPr algn="r">
              <a:lnSpc>
                <a:spcPts val="1180"/>
              </a:lnSpc>
              <a:spcBef>
                <a:spcPts val="0"/>
              </a:spcBef>
              <a:spcAft>
                <a:spcPts val="0"/>
              </a:spcAft>
              <a:defRPr sz="1000" b="0">
                <a:solidFill>
                  <a:srgbClr val="526675"/>
                </a:solidFill>
                <a:latin typeface="Noto Sans"/>
              </a:defRPr>
            </a:pPr>
            <a:r>
              <a:t>15 / 18</a:t>
            </a:r>
          </a:p>
        </p:txBody>
      </p:sp>
      <p:sp>
        <p:nvSpPr>
          <p:cNvPr id="11" name="TEXT Hindi • 8 samples"/>
          <p:cNvSpPr txBox="1"/>
          <p:nvPr/>
        </p:nvSpPr>
        <p:spPr>
          <a:xfrm>
            <a:off x="731520" y="1965960"/>
            <a:ext cx="4846320" cy="411480"/>
          </a:xfrm>
          <a:prstGeom prst="rect">
            <a:avLst/>
          </a:prstGeom>
          <a:noFill/>
        </p:spPr>
        <p:txBody>
          <a:bodyPr wrap="none" lIns="0" rIns="0" tIns="0" bIns="0" anchor="t">
            <a:spAutoFit/>
          </a:bodyPr>
          <a:lstStyle/>
          <a:p>
            <a:pPr algn="l">
              <a:lnSpc>
                <a:spcPts val="2713"/>
              </a:lnSpc>
              <a:spcBef>
                <a:spcPts val="0"/>
              </a:spcBef>
              <a:spcAft>
                <a:spcPts val="0"/>
              </a:spcAft>
              <a:defRPr sz="2300" b="1">
                <a:solidFill>
                  <a:srgbClr val="152C40"/>
                </a:solidFill>
                <a:latin typeface="Noto Sans"/>
              </a:defRPr>
            </a:pPr>
            <a:r>
              <a:t>Hindi • 8 samples</a:t>
            </a:r>
          </a:p>
        </p:txBody>
      </p:sp>
      <p:sp>
        <p:nvSpPr>
          <p:cNvPr id="12" name="TEXT 50.96%"/>
          <p:cNvSpPr txBox="1"/>
          <p:nvPr/>
        </p:nvSpPr>
        <p:spPr>
          <a:xfrm>
            <a:off x="5806440" y="1965960"/>
            <a:ext cx="1920240" cy="457200"/>
          </a:xfrm>
          <a:prstGeom prst="rect">
            <a:avLst/>
          </a:prstGeom>
          <a:noFill/>
        </p:spPr>
        <p:txBody>
          <a:bodyPr wrap="none" lIns="0" rIns="0" tIns="0" bIns="0" anchor="t">
            <a:spAutoFit/>
          </a:bodyPr>
          <a:lstStyle/>
          <a:p>
            <a:pPr algn="l">
              <a:lnSpc>
                <a:spcPts val="3304"/>
              </a:lnSpc>
              <a:spcBef>
                <a:spcPts val="0"/>
              </a:spcBef>
              <a:spcAft>
                <a:spcPts val="0"/>
              </a:spcAft>
              <a:defRPr sz="2800" b="0">
                <a:solidFill>
                  <a:srgbClr val="526675"/>
                </a:solidFill>
                <a:latin typeface="Noto Sans"/>
              </a:defRPr>
            </a:pPr>
            <a:r>
              <a:t>50.96%</a:t>
            </a:r>
          </a:p>
        </p:txBody>
      </p:sp>
      <p:cxnSp>
        <p:nvCxnSpPr>
          <p:cNvPr id="13" name="Connector 12"/>
          <p:cNvCxnSpPr/>
          <p:nvPr/>
        </p:nvCxnSpPr>
        <p:spPr>
          <a:xfrm>
            <a:off x="7772400" y="2212848"/>
            <a:ext cx="640080" cy="0"/>
          </a:xfrm>
          <a:prstGeom prst="line">
            <a:avLst/>
          </a:prstGeom>
          <a:ln w="19050">
            <a:solidFill>
              <a:srgbClr val="526675"/>
            </a:solidFill>
            <a:tailEnd type="triangle"/>
          </a:ln>
        </p:spPr>
        <p:style>
          <a:lnRef idx="2">
            <a:schemeClr val="accent1"/>
          </a:lnRef>
          <a:fillRef idx="0">
            <a:schemeClr val="accent1"/>
          </a:fillRef>
          <a:effectRef idx="1">
            <a:schemeClr val="accent1"/>
          </a:effectRef>
          <a:fontRef idx="minor">
            <a:schemeClr val="tx1"/>
          </a:fontRef>
        </p:style>
      </p:cxnSp>
      <p:sp>
        <p:nvSpPr>
          <p:cNvPr id="14" name="TEXT 28.85%"/>
          <p:cNvSpPr txBox="1"/>
          <p:nvPr/>
        </p:nvSpPr>
        <p:spPr>
          <a:xfrm>
            <a:off x="8732520" y="1965960"/>
            <a:ext cx="2240280" cy="457200"/>
          </a:xfrm>
          <a:prstGeom prst="rect">
            <a:avLst/>
          </a:prstGeom>
          <a:noFill/>
        </p:spPr>
        <p:txBody>
          <a:bodyPr wrap="none" lIns="0" rIns="0" tIns="0" bIns="0" anchor="t">
            <a:spAutoFit/>
          </a:bodyPr>
          <a:lstStyle/>
          <a:p>
            <a:pPr algn="l">
              <a:lnSpc>
                <a:spcPts val="3304"/>
              </a:lnSpc>
              <a:spcBef>
                <a:spcPts val="0"/>
              </a:spcBef>
              <a:spcAft>
                <a:spcPts val="0"/>
              </a:spcAft>
              <a:defRPr sz="2800" b="1">
                <a:solidFill>
                  <a:srgbClr val="087F8C"/>
                </a:solidFill>
                <a:latin typeface="Noto Sans"/>
              </a:defRPr>
            </a:pPr>
            <a:r>
              <a:t>28.85%</a:t>
            </a:r>
          </a:p>
        </p:txBody>
      </p:sp>
      <p:sp>
        <p:nvSpPr>
          <p:cNvPr id="15" name="TEXT Hinglish • 8 samples"/>
          <p:cNvSpPr txBox="1"/>
          <p:nvPr/>
        </p:nvSpPr>
        <p:spPr>
          <a:xfrm>
            <a:off x="731520" y="3026663"/>
            <a:ext cx="4846320" cy="411480"/>
          </a:xfrm>
          <a:prstGeom prst="rect">
            <a:avLst/>
          </a:prstGeom>
          <a:noFill/>
        </p:spPr>
        <p:txBody>
          <a:bodyPr wrap="none" lIns="0" rIns="0" tIns="0" bIns="0" anchor="t">
            <a:spAutoFit/>
          </a:bodyPr>
          <a:lstStyle/>
          <a:p>
            <a:pPr algn="l">
              <a:lnSpc>
                <a:spcPts val="2713"/>
              </a:lnSpc>
              <a:spcBef>
                <a:spcPts val="0"/>
              </a:spcBef>
              <a:spcAft>
                <a:spcPts val="0"/>
              </a:spcAft>
              <a:defRPr sz="2300" b="1">
                <a:solidFill>
                  <a:srgbClr val="152C40"/>
                </a:solidFill>
                <a:latin typeface="Noto Sans"/>
              </a:defRPr>
            </a:pPr>
            <a:r>
              <a:t>Hinglish • 8 samples</a:t>
            </a:r>
          </a:p>
        </p:txBody>
      </p:sp>
      <p:sp>
        <p:nvSpPr>
          <p:cNvPr id="16" name="TEXT 66.13%"/>
          <p:cNvSpPr txBox="1"/>
          <p:nvPr/>
        </p:nvSpPr>
        <p:spPr>
          <a:xfrm>
            <a:off x="5806440" y="3026663"/>
            <a:ext cx="1920240" cy="457200"/>
          </a:xfrm>
          <a:prstGeom prst="rect">
            <a:avLst/>
          </a:prstGeom>
          <a:noFill/>
        </p:spPr>
        <p:txBody>
          <a:bodyPr wrap="none" lIns="0" rIns="0" tIns="0" bIns="0" anchor="t">
            <a:spAutoFit/>
          </a:bodyPr>
          <a:lstStyle/>
          <a:p>
            <a:pPr algn="l">
              <a:lnSpc>
                <a:spcPts val="3304"/>
              </a:lnSpc>
              <a:spcBef>
                <a:spcPts val="0"/>
              </a:spcBef>
              <a:spcAft>
                <a:spcPts val="0"/>
              </a:spcAft>
              <a:defRPr sz="2800" b="0">
                <a:solidFill>
                  <a:srgbClr val="526675"/>
                </a:solidFill>
                <a:latin typeface="Noto Sans"/>
              </a:defRPr>
            </a:pPr>
            <a:r>
              <a:t>66.13%</a:t>
            </a:r>
          </a:p>
        </p:txBody>
      </p:sp>
      <p:cxnSp>
        <p:nvCxnSpPr>
          <p:cNvPr id="17" name="Connector 16"/>
          <p:cNvCxnSpPr/>
          <p:nvPr/>
        </p:nvCxnSpPr>
        <p:spPr>
          <a:xfrm>
            <a:off x="7772400" y="3273551"/>
            <a:ext cx="640080" cy="0"/>
          </a:xfrm>
          <a:prstGeom prst="line">
            <a:avLst/>
          </a:prstGeom>
          <a:ln w="19050">
            <a:solidFill>
              <a:srgbClr val="526675"/>
            </a:solidFill>
            <a:tailEnd type="triangle"/>
          </a:ln>
        </p:spPr>
        <p:style>
          <a:lnRef idx="2">
            <a:schemeClr val="accent1"/>
          </a:lnRef>
          <a:fillRef idx="0">
            <a:schemeClr val="accent1"/>
          </a:fillRef>
          <a:effectRef idx="1">
            <a:schemeClr val="accent1"/>
          </a:effectRef>
          <a:fontRef idx="minor">
            <a:schemeClr val="tx1"/>
          </a:fontRef>
        </p:style>
      </p:cxnSp>
      <p:sp>
        <p:nvSpPr>
          <p:cNvPr id="18" name="TEXT 57.26%"/>
          <p:cNvSpPr txBox="1"/>
          <p:nvPr/>
        </p:nvSpPr>
        <p:spPr>
          <a:xfrm>
            <a:off x="8732520" y="3026663"/>
            <a:ext cx="2240280" cy="457200"/>
          </a:xfrm>
          <a:prstGeom prst="rect">
            <a:avLst/>
          </a:prstGeom>
          <a:noFill/>
        </p:spPr>
        <p:txBody>
          <a:bodyPr wrap="none" lIns="0" rIns="0" tIns="0" bIns="0" anchor="t">
            <a:spAutoFit/>
          </a:bodyPr>
          <a:lstStyle/>
          <a:p>
            <a:pPr algn="l">
              <a:lnSpc>
                <a:spcPts val="3304"/>
              </a:lnSpc>
              <a:spcBef>
                <a:spcPts val="0"/>
              </a:spcBef>
              <a:spcAft>
                <a:spcPts val="0"/>
              </a:spcAft>
              <a:defRPr sz="2800" b="1">
                <a:solidFill>
                  <a:srgbClr val="087F8C"/>
                </a:solidFill>
                <a:latin typeface="Noto Sans"/>
              </a:defRPr>
            </a:pPr>
            <a:r>
              <a:t>57.26%</a:t>
            </a:r>
          </a:p>
        </p:txBody>
      </p:sp>
      <p:sp>
        <p:nvSpPr>
          <p:cNvPr id="19" name="TEXT English historical • 2 clips"/>
          <p:cNvSpPr txBox="1"/>
          <p:nvPr/>
        </p:nvSpPr>
        <p:spPr>
          <a:xfrm>
            <a:off x="731520" y="4087368"/>
            <a:ext cx="4846320" cy="411480"/>
          </a:xfrm>
          <a:prstGeom prst="rect">
            <a:avLst/>
          </a:prstGeom>
          <a:noFill/>
        </p:spPr>
        <p:txBody>
          <a:bodyPr wrap="none" lIns="0" rIns="0" tIns="0" bIns="0" anchor="t">
            <a:spAutoFit/>
          </a:bodyPr>
          <a:lstStyle/>
          <a:p>
            <a:pPr algn="l">
              <a:lnSpc>
                <a:spcPts val="2713"/>
              </a:lnSpc>
              <a:spcBef>
                <a:spcPts val="0"/>
              </a:spcBef>
              <a:spcAft>
                <a:spcPts val="0"/>
              </a:spcAft>
              <a:defRPr sz="2300" b="1">
                <a:solidFill>
                  <a:srgbClr val="152C40"/>
                </a:solidFill>
                <a:latin typeface="Noto Sans"/>
              </a:defRPr>
            </a:pPr>
            <a:r>
              <a:t>English historical • 2 clips</a:t>
            </a:r>
          </a:p>
        </p:txBody>
      </p:sp>
      <p:sp>
        <p:nvSpPr>
          <p:cNvPr id="20" name="TEXT 61.61%"/>
          <p:cNvSpPr txBox="1"/>
          <p:nvPr/>
        </p:nvSpPr>
        <p:spPr>
          <a:xfrm>
            <a:off x="5806440" y="4087368"/>
            <a:ext cx="1920240" cy="457200"/>
          </a:xfrm>
          <a:prstGeom prst="rect">
            <a:avLst/>
          </a:prstGeom>
          <a:noFill/>
        </p:spPr>
        <p:txBody>
          <a:bodyPr wrap="none" lIns="0" rIns="0" tIns="0" bIns="0" anchor="t">
            <a:spAutoFit/>
          </a:bodyPr>
          <a:lstStyle/>
          <a:p>
            <a:pPr algn="l">
              <a:lnSpc>
                <a:spcPts val="3304"/>
              </a:lnSpc>
              <a:spcBef>
                <a:spcPts val="0"/>
              </a:spcBef>
              <a:spcAft>
                <a:spcPts val="0"/>
              </a:spcAft>
              <a:defRPr sz="2800" b="0">
                <a:solidFill>
                  <a:srgbClr val="526675"/>
                </a:solidFill>
                <a:latin typeface="Noto Sans"/>
              </a:defRPr>
            </a:pPr>
            <a:r>
              <a:t>61.61%</a:t>
            </a:r>
          </a:p>
        </p:txBody>
      </p:sp>
      <p:cxnSp>
        <p:nvCxnSpPr>
          <p:cNvPr id="21" name="Connector 20"/>
          <p:cNvCxnSpPr/>
          <p:nvPr/>
        </p:nvCxnSpPr>
        <p:spPr>
          <a:xfrm>
            <a:off x="7772400" y="4334256"/>
            <a:ext cx="640080" cy="0"/>
          </a:xfrm>
          <a:prstGeom prst="line">
            <a:avLst/>
          </a:prstGeom>
          <a:ln w="19050">
            <a:solidFill>
              <a:srgbClr val="526675"/>
            </a:solidFill>
            <a:tailEnd type="triangle"/>
          </a:ln>
        </p:spPr>
        <p:style>
          <a:lnRef idx="2">
            <a:schemeClr val="accent1"/>
          </a:lnRef>
          <a:fillRef idx="0">
            <a:schemeClr val="accent1"/>
          </a:fillRef>
          <a:effectRef idx="1">
            <a:schemeClr val="accent1"/>
          </a:effectRef>
          <a:fontRef idx="minor">
            <a:schemeClr val="tx1"/>
          </a:fontRef>
        </p:style>
      </p:cxnSp>
      <p:sp>
        <p:nvSpPr>
          <p:cNvPr id="22" name="TEXT 63.91%"/>
          <p:cNvSpPr txBox="1"/>
          <p:nvPr/>
        </p:nvSpPr>
        <p:spPr>
          <a:xfrm>
            <a:off x="8732520" y="4087368"/>
            <a:ext cx="2240280" cy="457200"/>
          </a:xfrm>
          <a:prstGeom prst="rect">
            <a:avLst/>
          </a:prstGeom>
          <a:noFill/>
        </p:spPr>
        <p:txBody>
          <a:bodyPr wrap="none" lIns="0" rIns="0" tIns="0" bIns="0" anchor="t">
            <a:spAutoFit/>
          </a:bodyPr>
          <a:lstStyle/>
          <a:p>
            <a:pPr algn="l">
              <a:lnSpc>
                <a:spcPts val="3304"/>
              </a:lnSpc>
              <a:spcBef>
                <a:spcPts val="0"/>
              </a:spcBef>
              <a:spcAft>
                <a:spcPts val="0"/>
              </a:spcAft>
              <a:defRPr sz="2800" b="1">
                <a:solidFill>
                  <a:srgbClr val="AF6A18"/>
                </a:solidFill>
                <a:latin typeface="Noto Sans"/>
              </a:defRPr>
            </a:pPr>
            <a:r>
              <a:t>63.91%</a:t>
            </a:r>
          </a:p>
        </p:txBody>
      </p:sp>
      <p:sp>
        <p:nvSpPr>
          <p:cNvPr id="23" name="TEXT small model"/>
          <p:cNvSpPr txBox="1"/>
          <p:nvPr/>
        </p:nvSpPr>
        <p:spPr>
          <a:xfrm>
            <a:off x="5742432" y="5321808"/>
            <a:ext cx="2194560" cy="365760"/>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526675"/>
                </a:solidFill>
                <a:latin typeface="Noto Sans"/>
              </a:defRPr>
            </a:pPr>
            <a:r>
              <a:t>small model</a:t>
            </a:r>
          </a:p>
        </p:txBody>
      </p:sp>
      <p:sp>
        <p:nvSpPr>
          <p:cNvPr id="24" name="TEXT large-v3-turbo"/>
          <p:cNvSpPr txBox="1"/>
          <p:nvPr/>
        </p:nvSpPr>
        <p:spPr>
          <a:xfrm>
            <a:off x="8641080" y="5321808"/>
            <a:ext cx="2743200" cy="365760"/>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526675"/>
                </a:solidFill>
                <a:latin typeface="Noto Sans"/>
              </a:defRPr>
            </a:pPr>
            <a:r>
              <a:t>large-v3-turbo</a:t>
            </a:r>
          </a:p>
        </p:txBody>
      </p:sp>
      <p:sp>
        <p:nvSpPr>
          <p:cNvPr id="25" name="TEXT Speaker pilot: DER 64.08% → 40.91%; spea"/>
          <p:cNvSpPr txBox="1"/>
          <p:nvPr/>
        </p:nvSpPr>
        <p:spPr>
          <a:xfrm>
            <a:off x="731520" y="5650992"/>
            <a:ext cx="10789920" cy="320040"/>
          </a:xfrm>
          <a:prstGeom prst="rect">
            <a:avLst/>
          </a:prstGeom>
          <a:noFill/>
        </p:spPr>
        <p:txBody>
          <a:bodyPr wrap="none" lIns="0" rIns="0" tIns="0" bIns="0" anchor="t">
            <a:spAutoFit/>
          </a:bodyPr>
          <a:lstStyle/>
          <a:p>
            <a:pPr algn="l">
              <a:lnSpc>
                <a:spcPts val="2005"/>
              </a:lnSpc>
              <a:spcBef>
                <a:spcPts val="0"/>
              </a:spcBef>
              <a:spcAft>
                <a:spcPts val="0"/>
              </a:spcAft>
              <a:defRPr sz="1700" b="1">
                <a:solidFill>
                  <a:srgbClr val="152C40"/>
                </a:solidFill>
                <a:latin typeface="Noto Sans"/>
              </a:defRPr>
            </a:pPr>
            <a:r>
              <a:t>Speaker pilot: DER 64.08% → 40.91%; speaker-count MAE 8.5 → 1.5.</a:t>
            </a:r>
          </a:p>
        </p:txBody>
      </p:sp>
      <p:sp>
        <p:nvSpPr>
          <p:cNvPr id="26" name="TEXT Small stays the shared default; Turbo is"/>
          <p:cNvSpPr txBox="1"/>
          <p:nvPr/>
        </p:nvSpPr>
        <p:spPr>
          <a:xfrm>
            <a:off x="530352" y="6080760"/>
            <a:ext cx="11064240" cy="237744"/>
          </a:xfrm>
          <a:prstGeom prst="rect">
            <a:avLst/>
          </a:prstGeom>
          <a:noFill/>
        </p:spPr>
        <p:txBody>
          <a:bodyPr wrap="none" lIns="0" rIns="0" tIns="0" bIns="0" anchor="t">
            <a:spAutoFit/>
          </a:bodyPr>
          <a:lstStyle/>
          <a:p>
            <a:pPr algn="l">
              <a:lnSpc>
                <a:spcPts val="1238"/>
              </a:lnSpc>
              <a:spcBef>
                <a:spcPts val="0"/>
              </a:spcBef>
              <a:spcAft>
                <a:spcPts val="0"/>
              </a:spcAft>
              <a:defRPr sz="1050" b="0">
                <a:solidFill>
                  <a:srgbClr val="526675"/>
                </a:solidFill>
                <a:latin typeface="Noto Sans"/>
              </a:defRPr>
            </a:pPr>
            <a:r>
              <a:t>Small stays the shared default; Turbo is selectable. Tiny fixed pilots, strict scoring and reference-coverage limits apply.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84048"/>
            <a:ext cx="59436" cy="329184"/>
          </a:xfrm>
          <a:prstGeom prst="rect">
            <a:avLst/>
          </a:prstGeom>
          <a:solidFill>
            <a:srgbClr val="B30D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 TAKEAWAY"/>
          <p:cNvSpPr txBox="1"/>
          <p:nvPr/>
        </p:nvSpPr>
        <p:spPr>
          <a:xfrm>
            <a:off x="658368" y="320040"/>
            <a:ext cx="9144000" cy="228600"/>
          </a:xfrm>
          <a:prstGeom prst="rect">
            <a:avLst/>
          </a:prstGeom>
          <a:noFill/>
        </p:spPr>
        <p:txBody>
          <a:bodyPr wrap="none" lIns="0" rIns="0" tIns="0" bIns="0" anchor="t">
            <a:spAutoFit/>
          </a:bodyPr>
          <a:lstStyle/>
          <a:p>
            <a:pPr algn="l">
              <a:lnSpc>
                <a:spcPts val="1297"/>
              </a:lnSpc>
              <a:spcBef>
                <a:spcPts val="0"/>
              </a:spcBef>
              <a:spcAft>
                <a:spcPts val="0"/>
              </a:spcAft>
              <a:defRPr sz="1100" b="1">
                <a:solidFill>
                  <a:srgbClr val="B30D2C"/>
                </a:solidFill>
                <a:latin typeface="Noto Sans"/>
              </a:defRPr>
            </a:pPr>
            <a:r>
              <a:t>TAKEAWAY</a:t>
            </a:r>
          </a:p>
        </p:txBody>
      </p:sp>
      <p:sp>
        <p:nvSpPr>
          <p:cNvPr id="5" name="TEXT Conclusion"/>
          <p:cNvSpPr txBox="1"/>
          <p:nvPr/>
        </p:nvSpPr>
        <p:spPr>
          <a:xfrm>
            <a:off x="484632" y="749808"/>
            <a:ext cx="10881360" cy="502920"/>
          </a:xfrm>
          <a:prstGeom prst="rect">
            <a:avLst/>
          </a:prstGeom>
          <a:noFill/>
        </p:spPr>
        <p:txBody>
          <a:bodyPr wrap="none" lIns="0" rIns="0" tIns="0" bIns="0" anchor="t">
            <a:spAutoFit/>
          </a:bodyPr>
          <a:lstStyle/>
          <a:p>
            <a:pPr algn="l">
              <a:lnSpc>
                <a:spcPts val="3422"/>
              </a:lnSpc>
              <a:spcBef>
                <a:spcPts val="0"/>
              </a:spcBef>
              <a:spcAft>
                <a:spcPts val="0"/>
              </a:spcAft>
              <a:defRPr sz="2900" b="1">
                <a:solidFill>
                  <a:srgbClr val="152C40"/>
                </a:solidFill>
                <a:latin typeface="Noto Sans"/>
              </a:defRPr>
            </a:pPr>
            <a:r>
              <a:t>Conclusion</a:t>
            </a:r>
          </a:p>
        </p:txBody>
      </p:sp>
      <p:pic>
        <p:nvPicPr>
          <p:cNvPr id="6" name="Picture 5" descr="image3.png"/>
          <p:cNvPicPr>
            <a:picLocks noChangeAspect="1"/>
          </p:cNvPicPr>
          <p:nvPr/>
        </p:nvPicPr>
        <p:blipFill>
          <a:blip r:embed="rId2"/>
          <a:stretch>
            <a:fillRect/>
          </a:stretch>
        </p:blipFill>
        <p:spPr>
          <a:xfrm>
            <a:off x="10195560" y="320040"/>
            <a:ext cx="1508760" cy="286077"/>
          </a:xfrm>
          <a:prstGeom prst="rect">
            <a:avLst/>
          </a:prstGeom>
        </p:spPr>
      </p:pic>
      <p:cxnSp>
        <p:nvCxnSpPr>
          <p:cNvPr id="7" name="Connector 6"/>
          <p:cNvCxnSpPr/>
          <p:nvPr/>
        </p:nvCxnSpPr>
        <p:spPr>
          <a:xfrm>
            <a:off x="502920" y="6419088"/>
            <a:ext cx="11183112" cy="0"/>
          </a:xfrm>
          <a:prstGeom prst="line">
            <a:avLst/>
          </a:prstGeom>
          <a:ln w="12700">
            <a:solidFill>
              <a:srgbClr val="D9E2E7"/>
            </a:solidFill>
          </a:ln>
        </p:spPr>
        <p:style>
          <a:lnRef idx="2">
            <a:schemeClr val="accent1"/>
          </a:lnRef>
          <a:fillRef idx="0">
            <a:schemeClr val="accent1"/>
          </a:fillRef>
          <a:effectRef idx="1">
            <a:schemeClr val="accent1"/>
          </a:effectRef>
          <a:fontRef idx="minor">
            <a:schemeClr val="tx1"/>
          </a:fontRef>
        </p:style>
      </p:cxnSp>
      <p:sp>
        <p:nvSpPr>
          <p:cNvPr id="8" name="TEXT SIT Pune  |  AI &amp; ML  |  Group 12  |  Pr"/>
          <p:cNvSpPr txBox="1"/>
          <p:nvPr/>
        </p:nvSpPr>
        <p:spPr>
          <a:xfrm>
            <a:off x="502920" y="6519672"/>
            <a:ext cx="9509760" cy="173736"/>
          </a:xfrm>
          <a:prstGeom prst="rect">
            <a:avLst/>
          </a:prstGeom>
          <a:noFill/>
        </p:spPr>
        <p:txBody>
          <a:bodyPr wrap="none" lIns="0" rIns="0" tIns="0" bIns="0" anchor="t">
            <a:spAutoFit/>
          </a:bodyPr>
          <a:lstStyle/>
          <a:p>
            <a:pPr algn="l">
              <a:lnSpc>
                <a:spcPts val="1062"/>
              </a:lnSpc>
              <a:spcBef>
                <a:spcPts val="0"/>
              </a:spcBef>
              <a:spcAft>
                <a:spcPts val="0"/>
              </a:spcAft>
              <a:defRPr sz="900" b="0">
                <a:solidFill>
                  <a:srgbClr val="526675"/>
                </a:solidFill>
                <a:latin typeface="Noto Sans"/>
              </a:defRPr>
            </a:pPr>
            <a:r>
              <a:t>SIT Pune | AI &amp; ML | Group 12 | Prepared 20 October 2026</a:t>
            </a:r>
          </a:p>
        </p:txBody>
      </p:sp>
      <p:sp>
        <p:nvSpPr>
          <p:cNvPr id="9" name="TEXT 16 / 18"/>
          <p:cNvSpPr txBox="1"/>
          <p:nvPr/>
        </p:nvSpPr>
        <p:spPr>
          <a:xfrm>
            <a:off x="10789920" y="6510528"/>
            <a:ext cx="914400" cy="201168"/>
          </a:xfrm>
          <a:prstGeom prst="rect">
            <a:avLst/>
          </a:prstGeom>
          <a:noFill/>
        </p:spPr>
        <p:txBody>
          <a:bodyPr wrap="none" lIns="0" rIns="0" tIns="0" bIns="0" anchor="t">
            <a:spAutoFit/>
          </a:bodyPr>
          <a:lstStyle/>
          <a:p>
            <a:pPr algn="r">
              <a:lnSpc>
                <a:spcPts val="1180"/>
              </a:lnSpc>
              <a:spcBef>
                <a:spcPts val="0"/>
              </a:spcBef>
              <a:spcAft>
                <a:spcPts val="0"/>
              </a:spcAft>
              <a:defRPr sz="1000" b="0">
                <a:solidFill>
                  <a:srgbClr val="526675"/>
                </a:solidFill>
                <a:latin typeface="Noto Sans"/>
              </a:defRPr>
            </a:pPr>
            <a:r>
              <a:t>16 / 18</a:t>
            </a:r>
          </a:p>
        </p:txBody>
      </p:sp>
      <p:sp>
        <p:nvSpPr>
          <p:cNvPr id="10" name="TEXT Local processing&#10;Source-linked review&#10;Me"/>
          <p:cNvSpPr txBox="1"/>
          <p:nvPr/>
        </p:nvSpPr>
        <p:spPr>
          <a:xfrm>
            <a:off x="822960" y="1874519"/>
            <a:ext cx="10515600" cy="2377440"/>
          </a:xfrm>
          <a:prstGeom prst="rect">
            <a:avLst/>
          </a:prstGeom>
          <a:noFill/>
        </p:spPr>
        <p:txBody>
          <a:bodyPr wrap="none" lIns="0" rIns="0" tIns="0" bIns="0" anchor="t">
            <a:spAutoFit/>
          </a:bodyPr>
          <a:lstStyle/>
          <a:p>
            <a:pPr algn="l">
              <a:lnSpc>
                <a:spcPts val="4602"/>
              </a:lnSpc>
              <a:spcBef>
                <a:spcPts val="0"/>
              </a:spcBef>
              <a:spcAft>
                <a:spcPts val="0"/>
              </a:spcAft>
              <a:defRPr sz="3900" b="1">
                <a:solidFill>
                  <a:srgbClr val="152C40"/>
                </a:solidFill>
                <a:latin typeface="Noto Sans"/>
              </a:defRPr>
            </a:pPr>
            <a:r>
              <a:t>Local processing</a:t>
            </a:r>
          </a:p>
          <a:p>
            <a:pPr algn="l">
              <a:lnSpc>
                <a:spcPts val="4602"/>
              </a:lnSpc>
              <a:spcBef>
                <a:spcPts val="0"/>
              </a:spcBef>
              <a:spcAft>
                <a:spcPts val="0"/>
              </a:spcAft>
              <a:defRPr sz="3900" b="1">
                <a:solidFill>
                  <a:srgbClr val="152C40"/>
                </a:solidFill>
                <a:latin typeface="Noto Sans"/>
              </a:defRPr>
            </a:pPr>
            <a:r>
              <a:t>Source-linked review</a:t>
            </a:r>
          </a:p>
          <a:p>
            <a:pPr algn="l">
              <a:lnSpc>
                <a:spcPts val="4602"/>
              </a:lnSpc>
              <a:spcBef>
                <a:spcPts val="0"/>
              </a:spcBef>
              <a:spcAft>
                <a:spcPts val="0"/>
              </a:spcAft>
              <a:defRPr sz="3900" b="1">
                <a:solidFill>
                  <a:srgbClr val="152C40"/>
                </a:solidFill>
                <a:latin typeface="Noto Sans"/>
              </a:defRPr>
            </a:pPr>
            <a:r>
              <a:t>Measured, bounded claims</a:t>
            </a:r>
          </a:p>
        </p:txBody>
      </p:sp>
      <p:sp>
        <p:nvSpPr>
          <p:cNvPr id="11" name="TEXT A working prototype, a reproducible clas"/>
          <p:cNvSpPr txBox="1"/>
          <p:nvPr/>
        </p:nvSpPr>
        <p:spPr>
          <a:xfrm>
            <a:off x="868680" y="4846320"/>
            <a:ext cx="10149840" cy="914400"/>
          </a:xfrm>
          <a:prstGeom prst="rect">
            <a:avLst/>
          </a:prstGeom>
          <a:noFill/>
        </p:spPr>
        <p:txBody>
          <a:bodyPr wrap="none" lIns="0" rIns="0" tIns="0" bIns="0" anchor="t">
            <a:spAutoFit/>
          </a:bodyPr>
          <a:lstStyle/>
          <a:p>
            <a:pPr algn="l">
              <a:lnSpc>
                <a:spcPts val="2950"/>
              </a:lnSpc>
              <a:spcBef>
                <a:spcPts val="0"/>
              </a:spcBef>
              <a:spcAft>
                <a:spcPts val="0"/>
              </a:spcAft>
              <a:defRPr sz="2500" b="0">
                <a:solidFill>
                  <a:srgbClr val="087F8C"/>
                </a:solidFill>
                <a:latin typeface="Noto Sans"/>
              </a:defRPr>
            </a:pPr>
            <a:r>
              <a:t>A working prototype, a reproducible classifier comparison,</a:t>
            </a:r>
          </a:p>
          <a:p>
            <a:pPr algn="l">
              <a:lnSpc>
                <a:spcPts val="2950"/>
              </a:lnSpc>
              <a:spcBef>
                <a:spcPts val="0"/>
              </a:spcBef>
              <a:spcAft>
                <a:spcPts val="0"/>
              </a:spcAft>
              <a:defRPr sz="2500" b="0">
                <a:solidFill>
                  <a:srgbClr val="087F8C"/>
                </a:solidFill>
                <a:latin typeface="Noto Sans"/>
              </a:defRPr>
            </a:pPr>
            <a:r>
              <a:t>and a clear plan for independent recording-level validation.</a:t>
            </a:r>
          </a:p>
        </p:txBody>
      </p:sp>
      <p:sp>
        <p:nvSpPr>
          <p:cNvPr id="12" name="TEXT Still unmeasured: final-decision, slide-"/>
          <p:cNvSpPr txBox="1"/>
          <p:nvPr/>
        </p:nvSpPr>
        <p:spPr>
          <a:xfrm>
            <a:off x="530352" y="6080760"/>
            <a:ext cx="11064240" cy="237744"/>
          </a:xfrm>
          <a:prstGeom prst="rect">
            <a:avLst/>
          </a:prstGeom>
          <a:noFill/>
        </p:spPr>
        <p:txBody>
          <a:bodyPr wrap="none" lIns="0" rIns="0" tIns="0" bIns="0" anchor="t">
            <a:spAutoFit/>
          </a:bodyPr>
          <a:lstStyle/>
          <a:p>
            <a:pPr algn="l">
              <a:lnSpc>
                <a:spcPts val="1238"/>
              </a:lnSpc>
              <a:spcBef>
                <a:spcPts val="0"/>
              </a:spcBef>
              <a:spcAft>
                <a:spcPts val="0"/>
              </a:spcAft>
              <a:defRPr sz="1050" b="0">
                <a:solidFill>
                  <a:srgbClr val="526675"/>
                </a:solidFill>
                <a:latin typeface="Noto Sans"/>
              </a:defRPr>
            </a:pPr>
            <a:r>
              <a:t>Still unmeasured: final-decision, slide-link and human influence accuracy. Fresh recording-level evaluation is needed.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84048"/>
            <a:ext cx="59436" cy="329184"/>
          </a:xfrm>
          <a:prstGeom prst="rect">
            <a:avLst/>
          </a:prstGeom>
          <a:solidFill>
            <a:srgbClr val="B30D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 SELECTED REFERENCES • PAPER NUMBERING"/>
          <p:cNvSpPr txBox="1"/>
          <p:nvPr/>
        </p:nvSpPr>
        <p:spPr>
          <a:xfrm>
            <a:off x="658368" y="320040"/>
            <a:ext cx="9144000" cy="228600"/>
          </a:xfrm>
          <a:prstGeom prst="rect">
            <a:avLst/>
          </a:prstGeom>
          <a:noFill/>
        </p:spPr>
        <p:txBody>
          <a:bodyPr wrap="none" lIns="0" rIns="0" tIns="0" bIns="0" anchor="t">
            <a:spAutoFit/>
          </a:bodyPr>
          <a:lstStyle/>
          <a:p>
            <a:pPr algn="l">
              <a:lnSpc>
                <a:spcPts val="1297"/>
              </a:lnSpc>
              <a:spcBef>
                <a:spcPts val="0"/>
              </a:spcBef>
              <a:spcAft>
                <a:spcPts val="0"/>
              </a:spcAft>
              <a:defRPr sz="1100" b="1">
                <a:solidFill>
                  <a:srgbClr val="B30D2C"/>
                </a:solidFill>
                <a:latin typeface="Noto Sans"/>
              </a:defRPr>
            </a:pPr>
            <a:r>
              <a:t>SELECTED REFERENCES • PAPER NUMBERING</a:t>
            </a:r>
          </a:p>
        </p:txBody>
      </p:sp>
      <p:sp>
        <p:nvSpPr>
          <p:cNvPr id="5" name="TEXT References"/>
          <p:cNvSpPr txBox="1"/>
          <p:nvPr/>
        </p:nvSpPr>
        <p:spPr>
          <a:xfrm>
            <a:off x="484632" y="749808"/>
            <a:ext cx="10881360" cy="502920"/>
          </a:xfrm>
          <a:prstGeom prst="rect">
            <a:avLst/>
          </a:prstGeom>
          <a:noFill/>
        </p:spPr>
        <p:txBody>
          <a:bodyPr wrap="none" lIns="0" rIns="0" tIns="0" bIns="0" anchor="t">
            <a:spAutoFit/>
          </a:bodyPr>
          <a:lstStyle/>
          <a:p>
            <a:pPr algn="l">
              <a:lnSpc>
                <a:spcPts val="3422"/>
              </a:lnSpc>
              <a:spcBef>
                <a:spcPts val="0"/>
              </a:spcBef>
              <a:spcAft>
                <a:spcPts val="0"/>
              </a:spcAft>
              <a:defRPr sz="2900" b="1">
                <a:solidFill>
                  <a:srgbClr val="152C40"/>
                </a:solidFill>
                <a:latin typeface="Noto Sans"/>
              </a:defRPr>
            </a:pPr>
            <a:r>
              <a:t>References</a:t>
            </a:r>
          </a:p>
        </p:txBody>
      </p:sp>
      <p:pic>
        <p:nvPicPr>
          <p:cNvPr id="6" name="Picture 5" descr="image3.png"/>
          <p:cNvPicPr>
            <a:picLocks noChangeAspect="1"/>
          </p:cNvPicPr>
          <p:nvPr/>
        </p:nvPicPr>
        <p:blipFill>
          <a:blip r:embed="rId2"/>
          <a:stretch>
            <a:fillRect/>
          </a:stretch>
        </p:blipFill>
        <p:spPr>
          <a:xfrm>
            <a:off x="10195560" y="320040"/>
            <a:ext cx="1508760" cy="286077"/>
          </a:xfrm>
          <a:prstGeom prst="rect">
            <a:avLst/>
          </a:prstGeom>
        </p:spPr>
      </p:pic>
      <p:cxnSp>
        <p:nvCxnSpPr>
          <p:cNvPr id="7" name="Connector 6"/>
          <p:cNvCxnSpPr/>
          <p:nvPr/>
        </p:nvCxnSpPr>
        <p:spPr>
          <a:xfrm>
            <a:off x="502920" y="6419088"/>
            <a:ext cx="11183112" cy="0"/>
          </a:xfrm>
          <a:prstGeom prst="line">
            <a:avLst/>
          </a:prstGeom>
          <a:ln w="12700">
            <a:solidFill>
              <a:srgbClr val="D9E2E7"/>
            </a:solidFill>
          </a:ln>
        </p:spPr>
        <p:style>
          <a:lnRef idx="2">
            <a:schemeClr val="accent1"/>
          </a:lnRef>
          <a:fillRef idx="0">
            <a:schemeClr val="accent1"/>
          </a:fillRef>
          <a:effectRef idx="1">
            <a:schemeClr val="accent1"/>
          </a:effectRef>
          <a:fontRef idx="minor">
            <a:schemeClr val="tx1"/>
          </a:fontRef>
        </p:style>
      </p:cxnSp>
      <p:sp>
        <p:nvSpPr>
          <p:cNvPr id="8" name="TEXT SIT Pune  |  AI &amp; ML  |  Group 12  |  Pr"/>
          <p:cNvSpPr txBox="1"/>
          <p:nvPr/>
        </p:nvSpPr>
        <p:spPr>
          <a:xfrm>
            <a:off x="502920" y="6519672"/>
            <a:ext cx="9509760" cy="173736"/>
          </a:xfrm>
          <a:prstGeom prst="rect">
            <a:avLst/>
          </a:prstGeom>
          <a:noFill/>
        </p:spPr>
        <p:txBody>
          <a:bodyPr wrap="none" lIns="0" rIns="0" tIns="0" bIns="0" anchor="t">
            <a:spAutoFit/>
          </a:bodyPr>
          <a:lstStyle/>
          <a:p>
            <a:pPr algn="l">
              <a:lnSpc>
                <a:spcPts val="1062"/>
              </a:lnSpc>
              <a:spcBef>
                <a:spcPts val="0"/>
              </a:spcBef>
              <a:spcAft>
                <a:spcPts val="0"/>
              </a:spcAft>
              <a:defRPr sz="900" b="0">
                <a:solidFill>
                  <a:srgbClr val="526675"/>
                </a:solidFill>
                <a:latin typeface="Noto Sans"/>
              </a:defRPr>
            </a:pPr>
            <a:r>
              <a:t>SIT Pune | AI &amp; ML | Group 12 | Prepared 20 October 2026</a:t>
            </a:r>
          </a:p>
        </p:txBody>
      </p:sp>
      <p:sp>
        <p:nvSpPr>
          <p:cNvPr id="9" name="TEXT 17 / 18"/>
          <p:cNvSpPr txBox="1"/>
          <p:nvPr/>
        </p:nvSpPr>
        <p:spPr>
          <a:xfrm>
            <a:off x="10789920" y="6510528"/>
            <a:ext cx="914400" cy="201168"/>
          </a:xfrm>
          <a:prstGeom prst="rect">
            <a:avLst/>
          </a:prstGeom>
          <a:noFill/>
        </p:spPr>
        <p:txBody>
          <a:bodyPr wrap="none" lIns="0" rIns="0" tIns="0" bIns="0" anchor="t">
            <a:spAutoFit/>
          </a:bodyPr>
          <a:lstStyle/>
          <a:p>
            <a:pPr algn="r">
              <a:lnSpc>
                <a:spcPts val="1180"/>
              </a:lnSpc>
              <a:spcBef>
                <a:spcPts val="0"/>
              </a:spcBef>
              <a:spcAft>
                <a:spcPts val="0"/>
              </a:spcAft>
              <a:defRPr sz="1000" b="0">
                <a:solidFill>
                  <a:srgbClr val="526675"/>
                </a:solidFill>
                <a:latin typeface="Noto Sans"/>
              </a:defRPr>
            </a:pPr>
            <a:r>
              <a:t>17 / 18</a:t>
            </a:r>
          </a:p>
        </p:txBody>
      </p:sp>
      <p:sp>
        <p:nvSpPr>
          <p:cNvPr id="10" name="TEXT [1] Tur et al. (2010)&#10;The CALO meeting a"/>
          <p:cNvSpPr txBox="1"/>
          <p:nvPr/>
        </p:nvSpPr>
        <p:spPr>
          <a:xfrm>
            <a:off x="640080" y="1783080"/>
            <a:ext cx="5257800" cy="804672"/>
          </a:xfrm>
          <a:prstGeom prst="rect">
            <a:avLst/>
          </a:prstGeom>
          <a:noFill/>
        </p:spPr>
        <p:txBody>
          <a:bodyPr wrap="none" lIns="0" rIns="0" tIns="0" bIns="0" anchor="t">
            <a:spAutoFit/>
          </a:bodyPr>
          <a:lstStyle/>
          <a:p>
            <a:pPr algn="l">
              <a:lnSpc>
                <a:spcPts val="1711"/>
              </a:lnSpc>
              <a:spcBef>
                <a:spcPts val="0"/>
              </a:spcBef>
              <a:spcAft>
                <a:spcPts val="0"/>
              </a:spcAft>
              <a:defRPr sz="1450" b="0">
                <a:solidFill>
                  <a:srgbClr val="152C40"/>
                </a:solidFill>
                <a:latin typeface="Noto Sans"/>
              </a:defRPr>
            </a:pPr>
            <a:r>
              <a:t>[1] Tur et al. (2010)</a:t>
            </a:r>
          </a:p>
          <a:p>
            <a:pPr algn="l">
              <a:lnSpc>
                <a:spcPts val="1711"/>
              </a:lnSpc>
              <a:spcBef>
                <a:spcPts val="0"/>
              </a:spcBef>
              <a:spcAft>
                <a:spcPts val="0"/>
              </a:spcAft>
              <a:defRPr sz="1450" b="0">
                <a:solidFill>
                  <a:srgbClr val="152C40"/>
                </a:solidFill>
                <a:latin typeface="Noto Sans"/>
              </a:defRPr>
            </a:pPr>
            <a:r>
              <a:t>The CALO meeting assistant system.</a:t>
            </a:r>
          </a:p>
        </p:txBody>
      </p:sp>
      <p:sp>
        <p:nvSpPr>
          <p:cNvPr id="11" name="TEXT [2] Radford et al. (2023)&#10;Robust speech "/>
          <p:cNvSpPr txBox="1"/>
          <p:nvPr/>
        </p:nvSpPr>
        <p:spPr>
          <a:xfrm>
            <a:off x="640080" y="2615184"/>
            <a:ext cx="5257800" cy="804672"/>
          </a:xfrm>
          <a:prstGeom prst="rect">
            <a:avLst/>
          </a:prstGeom>
          <a:noFill/>
        </p:spPr>
        <p:txBody>
          <a:bodyPr wrap="none" lIns="0" rIns="0" tIns="0" bIns="0" anchor="t">
            <a:spAutoFit/>
          </a:bodyPr>
          <a:lstStyle/>
          <a:p>
            <a:pPr algn="l">
              <a:lnSpc>
                <a:spcPts val="1711"/>
              </a:lnSpc>
              <a:spcBef>
                <a:spcPts val="0"/>
              </a:spcBef>
              <a:spcAft>
                <a:spcPts val="0"/>
              </a:spcAft>
              <a:defRPr sz="1450" b="0">
                <a:solidFill>
                  <a:srgbClr val="152C40"/>
                </a:solidFill>
                <a:latin typeface="Noto Sans"/>
              </a:defRPr>
            </a:pPr>
            <a:r>
              <a:t>[2] Radford et al. (2023)</a:t>
            </a:r>
          </a:p>
          <a:p>
            <a:pPr algn="l">
              <a:lnSpc>
                <a:spcPts val="1711"/>
              </a:lnSpc>
              <a:spcBef>
                <a:spcPts val="0"/>
              </a:spcBef>
              <a:spcAft>
                <a:spcPts val="0"/>
              </a:spcAft>
              <a:defRPr sz="1450" b="0">
                <a:solidFill>
                  <a:srgbClr val="152C40"/>
                </a:solidFill>
                <a:latin typeface="Noto Sans"/>
              </a:defRPr>
            </a:pPr>
            <a:r>
              <a:t>Robust speech recognition via large-scale weak supervision.</a:t>
            </a:r>
          </a:p>
        </p:txBody>
      </p:sp>
      <p:sp>
        <p:nvSpPr>
          <p:cNvPr id="12" name="TEXT [3] Bain et al. (2023)&#10;WhisperX: Time-ac"/>
          <p:cNvSpPr txBox="1"/>
          <p:nvPr/>
        </p:nvSpPr>
        <p:spPr>
          <a:xfrm>
            <a:off x="640080" y="3447288"/>
            <a:ext cx="5257800" cy="804672"/>
          </a:xfrm>
          <a:prstGeom prst="rect">
            <a:avLst/>
          </a:prstGeom>
          <a:noFill/>
        </p:spPr>
        <p:txBody>
          <a:bodyPr wrap="none" lIns="0" rIns="0" tIns="0" bIns="0" anchor="t">
            <a:spAutoFit/>
          </a:bodyPr>
          <a:lstStyle/>
          <a:p>
            <a:pPr algn="l">
              <a:lnSpc>
                <a:spcPts val="1711"/>
              </a:lnSpc>
              <a:spcBef>
                <a:spcPts val="0"/>
              </a:spcBef>
              <a:spcAft>
                <a:spcPts val="0"/>
              </a:spcAft>
              <a:defRPr sz="1450" b="0">
                <a:solidFill>
                  <a:srgbClr val="152C40"/>
                </a:solidFill>
                <a:latin typeface="Noto Sans"/>
              </a:defRPr>
            </a:pPr>
            <a:r>
              <a:t>[3] Bain et al. (2023)</a:t>
            </a:r>
          </a:p>
          <a:p>
            <a:pPr algn="l">
              <a:lnSpc>
                <a:spcPts val="1711"/>
              </a:lnSpc>
              <a:spcBef>
                <a:spcPts val="0"/>
              </a:spcBef>
              <a:spcAft>
                <a:spcPts val="0"/>
              </a:spcAft>
              <a:defRPr sz="1450" b="0">
                <a:solidFill>
                  <a:srgbClr val="152C40"/>
                </a:solidFill>
                <a:latin typeface="Noto Sans"/>
              </a:defRPr>
            </a:pPr>
            <a:r>
              <a:t>WhisperX: Time-accurate speech transcription of long-form</a:t>
            </a:r>
          </a:p>
          <a:p>
            <a:pPr algn="l">
              <a:lnSpc>
                <a:spcPts val="1711"/>
              </a:lnSpc>
              <a:spcBef>
                <a:spcPts val="0"/>
              </a:spcBef>
              <a:spcAft>
                <a:spcPts val="0"/>
              </a:spcAft>
              <a:defRPr sz="1450" b="0">
                <a:solidFill>
                  <a:srgbClr val="152C40"/>
                </a:solidFill>
                <a:latin typeface="Noto Sans"/>
              </a:defRPr>
            </a:pPr>
            <a:r>
              <a:t>audio.</a:t>
            </a:r>
          </a:p>
        </p:txBody>
      </p:sp>
      <p:sp>
        <p:nvSpPr>
          <p:cNvPr id="13" name="TEXT [4] Bredin (2023)&#10;pyannote.audio 2.1 spe"/>
          <p:cNvSpPr txBox="1"/>
          <p:nvPr/>
        </p:nvSpPr>
        <p:spPr>
          <a:xfrm>
            <a:off x="640080" y="4279392"/>
            <a:ext cx="5257800" cy="804672"/>
          </a:xfrm>
          <a:prstGeom prst="rect">
            <a:avLst/>
          </a:prstGeom>
          <a:noFill/>
        </p:spPr>
        <p:txBody>
          <a:bodyPr wrap="none" lIns="0" rIns="0" tIns="0" bIns="0" anchor="t">
            <a:spAutoFit/>
          </a:bodyPr>
          <a:lstStyle/>
          <a:p>
            <a:pPr algn="l">
              <a:lnSpc>
                <a:spcPts val="1711"/>
              </a:lnSpc>
              <a:spcBef>
                <a:spcPts val="0"/>
              </a:spcBef>
              <a:spcAft>
                <a:spcPts val="0"/>
              </a:spcAft>
              <a:defRPr sz="1450" b="0">
                <a:solidFill>
                  <a:srgbClr val="152C40"/>
                </a:solidFill>
                <a:latin typeface="Noto Sans"/>
              </a:defRPr>
            </a:pPr>
            <a:r>
              <a:t>[4] Bredin (2023)</a:t>
            </a:r>
          </a:p>
          <a:p>
            <a:pPr algn="l">
              <a:lnSpc>
                <a:spcPts val="1711"/>
              </a:lnSpc>
              <a:spcBef>
                <a:spcPts val="0"/>
              </a:spcBef>
              <a:spcAft>
                <a:spcPts val="0"/>
              </a:spcAft>
              <a:defRPr sz="1450" b="0">
                <a:solidFill>
                  <a:srgbClr val="152C40"/>
                </a:solidFill>
                <a:latin typeface="Noto Sans"/>
              </a:defRPr>
            </a:pPr>
            <a:r>
              <a:t>pyannote.audio 2.1 speaker diarization pipeline: Principle,</a:t>
            </a:r>
          </a:p>
          <a:p>
            <a:pPr algn="l">
              <a:lnSpc>
                <a:spcPts val="1711"/>
              </a:lnSpc>
              <a:spcBef>
                <a:spcPts val="0"/>
              </a:spcBef>
              <a:spcAft>
                <a:spcPts val="0"/>
              </a:spcAft>
              <a:defRPr sz="1450" b="0">
                <a:solidFill>
                  <a:srgbClr val="152C40"/>
                </a:solidFill>
                <a:latin typeface="Noto Sans"/>
              </a:defRPr>
            </a:pPr>
            <a:r>
              <a:t>benchmark, and recipe.</a:t>
            </a:r>
          </a:p>
        </p:txBody>
      </p:sp>
      <p:sp>
        <p:nvSpPr>
          <p:cNvPr id="14" name="TEXT [5] Plaquet &amp; Bredin (2023)&#10;Powerset mul"/>
          <p:cNvSpPr txBox="1"/>
          <p:nvPr/>
        </p:nvSpPr>
        <p:spPr>
          <a:xfrm>
            <a:off x="640080" y="5111496"/>
            <a:ext cx="5257800" cy="804672"/>
          </a:xfrm>
          <a:prstGeom prst="rect">
            <a:avLst/>
          </a:prstGeom>
          <a:noFill/>
        </p:spPr>
        <p:txBody>
          <a:bodyPr wrap="none" lIns="0" rIns="0" tIns="0" bIns="0" anchor="t">
            <a:spAutoFit/>
          </a:bodyPr>
          <a:lstStyle/>
          <a:p>
            <a:pPr algn="l">
              <a:lnSpc>
                <a:spcPts val="1711"/>
              </a:lnSpc>
              <a:spcBef>
                <a:spcPts val="0"/>
              </a:spcBef>
              <a:spcAft>
                <a:spcPts val="0"/>
              </a:spcAft>
              <a:defRPr sz="1450" b="0">
                <a:solidFill>
                  <a:srgbClr val="152C40"/>
                </a:solidFill>
                <a:latin typeface="Noto Sans"/>
              </a:defRPr>
            </a:pPr>
            <a:r>
              <a:t>[5] Plaquet &amp; Bredin (2023)</a:t>
            </a:r>
          </a:p>
          <a:p>
            <a:pPr algn="l">
              <a:lnSpc>
                <a:spcPts val="1711"/>
              </a:lnSpc>
              <a:spcBef>
                <a:spcPts val="0"/>
              </a:spcBef>
              <a:spcAft>
                <a:spcPts val="0"/>
              </a:spcAft>
              <a:defRPr sz="1450" b="0">
                <a:solidFill>
                  <a:srgbClr val="152C40"/>
                </a:solidFill>
                <a:latin typeface="Noto Sans"/>
              </a:defRPr>
            </a:pPr>
            <a:r>
              <a:t>Powerset multi-class cross entropy loss for neural speaker</a:t>
            </a:r>
          </a:p>
          <a:p>
            <a:pPr algn="l">
              <a:lnSpc>
                <a:spcPts val="1711"/>
              </a:lnSpc>
              <a:spcBef>
                <a:spcPts val="0"/>
              </a:spcBef>
              <a:spcAft>
                <a:spcPts val="0"/>
              </a:spcAft>
              <a:defRPr sz="1450" b="0">
                <a:solidFill>
                  <a:srgbClr val="152C40"/>
                </a:solidFill>
                <a:latin typeface="Noto Sans"/>
              </a:defRPr>
            </a:pPr>
            <a:r>
              <a:t>diarization.</a:t>
            </a:r>
          </a:p>
        </p:txBody>
      </p:sp>
      <p:sp>
        <p:nvSpPr>
          <p:cNvPr id="15" name="TEXT [7] Baghel et al. (2023)&#10;The DISPLACE ch"/>
          <p:cNvSpPr txBox="1"/>
          <p:nvPr/>
        </p:nvSpPr>
        <p:spPr>
          <a:xfrm>
            <a:off x="6309360" y="1783080"/>
            <a:ext cx="5257800" cy="804672"/>
          </a:xfrm>
          <a:prstGeom prst="rect">
            <a:avLst/>
          </a:prstGeom>
          <a:noFill/>
        </p:spPr>
        <p:txBody>
          <a:bodyPr wrap="none" lIns="0" rIns="0" tIns="0" bIns="0" anchor="t">
            <a:spAutoFit/>
          </a:bodyPr>
          <a:lstStyle/>
          <a:p>
            <a:pPr algn="l">
              <a:lnSpc>
                <a:spcPts val="1711"/>
              </a:lnSpc>
              <a:spcBef>
                <a:spcPts val="0"/>
              </a:spcBef>
              <a:spcAft>
                <a:spcPts val="0"/>
              </a:spcAft>
              <a:defRPr sz="1450" b="0">
                <a:solidFill>
                  <a:srgbClr val="152C40"/>
                </a:solidFill>
                <a:latin typeface="Noto Sans"/>
              </a:defRPr>
            </a:pPr>
            <a:r>
              <a:t>[7] Baghel et al. (2023)</a:t>
            </a:r>
          </a:p>
          <a:p>
            <a:pPr algn="l">
              <a:lnSpc>
                <a:spcPts val="1711"/>
              </a:lnSpc>
              <a:spcBef>
                <a:spcPts val="0"/>
              </a:spcBef>
              <a:spcAft>
                <a:spcPts val="0"/>
              </a:spcAft>
              <a:defRPr sz="1450" b="0">
                <a:solidFill>
                  <a:srgbClr val="152C40"/>
                </a:solidFill>
                <a:latin typeface="Noto Sans"/>
              </a:defRPr>
            </a:pPr>
            <a:r>
              <a:t>The DISPLACE challenge 2023.</a:t>
            </a:r>
          </a:p>
        </p:txBody>
      </p:sp>
      <p:sp>
        <p:nvSpPr>
          <p:cNvPr id="16" name="TEXT [8] Kalluri et al. (2024)&#10;The second DIS"/>
          <p:cNvSpPr txBox="1"/>
          <p:nvPr/>
        </p:nvSpPr>
        <p:spPr>
          <a:xfrm>
            <a:off x="6309360" y="2615184"/>
            <a:ext cx="5257800" cy="804672"/>
          </a:xfrm>
          <a:prstGeom prst="rect">
            <a:avLst/>
          </a:prstGeom>
          <a:noFill/>
        </p:spPr>
        <p:txBody>
          <a:bodyPr wrap="none" lIns="0" rIns="0" tIns="0" bIns="0" anchor="t">
            <a:spAutoFit/>
          </a:bodyPr>
          <a:lstStyle/>
          <a:p>
            <a:pPr algn="l">
              <a:lnSpc>
                <a:spcPts val="1711"/>
              </a:lnSpc>
              <a:spcBef>
                <a:spcPts val="0"/>
              </a:spcBef>
              <a:spcAft>
                <a:spcPts val="0"/>
              </a:spcAft>
              <a:defRPr sz="1450" b="0">
                <a:solidFill>
                  <a:srgbClr val="152C40"/>
                </a:solidFill>
                <a:latin typeface="Noto Sans"/>
              </a:defRPr>
            </a:pPr>
            <a:r>
              <a:t>[8] Kalluri et al. (2024)</a:t>
            </a:r>
          </a:p>
          <a:p>
            <a:pPr algn="l">
              <a:lnSpc>
                <a:spcPts val="1711"/>
              </a:lnSpc>
              <a:spcBef>
                <a:spcPts val="0"/>
              </a:spcBef>
              <a:spcAft>
                <a:spcPts val="0"/>
              </a:spcAft>
              <a:defRPr sz="1450" b="0">
                <a:solidFill>
                  <a:srgbClr val="152C40"/>
                </a:solidFill>
                <a:latin typeface="Noto Sans"/>
              </a:defRPr>
            </a:pPr>
            <a:r>
              <a:t>The second DISPLACE challenge: DIarization of SPeaker and</a:t>
            </a:r>
          </a:p>
          <a:p>
            <a:pPr algn="l">
              <a:lnSpc>
                <a:spcPts val="1711"/>
              </a:lnSpc>
              <a:spcBef>
                <a:spcPts val="0"/>
              </a:spcBef>
              <a:spcAft>
                <a:spcPts val="0"/>
              </a:spcAft>
              <a:defRPr sz="1450" b="0">
                <a:solidFill>
                  <a:srgbClr val="152C40"/>
                </a:solidFill>
                <a:latin typeface="Noto Sans"/>
              </a:defRPr>
            </a:pPr>
            <a:r>
              <a:t>LAnguage in Conversational Environments.</a:t>
            </a:r>
          </a:p>
        </p:txBody>
      </p:sp>
      <p:sp>
        <p:nvSpPr>
          <p:cNvPr id="17" name="TEXT [10] Hu et al. (2023)&#10;MeetingBank: A ben"/>
          <p:cNvSpPr txBox="1"/>
          <p:nvPr/>
        </p:nvSpPr>
        <p:spPr>
          <a:xfrm>
            <a:off x="6309360" y="3447288"/>
            <a:ext cx="5257800" cy="804672"/>
          </a:xfrm>
          <a:prstGeom prst="rect">
            <a:avLst/>
          </a:prstGeom>
          <a:noFill/>
        </p:spPr>
        <p:txBody>
          <a:bodyPr wrap="none" lIns="0" rIns="0" tIns="0" bIns="0" anchor="t">
            <a:spAutoFit/>
          </a:bodyPr>
          <a:lstStyle/>
          <a:p>
            <a:pPr algn="l">
              <a:lnSpc>
                <a:spcPts val="1711"/>
              </a:lnSpc>
              <a:spcBef>
                <a:spcPts val="0"/>
              </a:spcBef>
              <a:spcAft>
                <a:spcPts val="0"/>
              </a:spcAft>
              <a:defRPr sz="1450" b="0">
                <a:solidFill>
                  <a:srgbClr val="152C40"/>
                </a:solidFill>
                <a:latin typeface="Noto Sans"/>
              </a:defRPr>
            </a:pPr>
            <a:r>
              <a:t>[10] Hu et al. (2023)</a:t>
            </a:r>
          </a:p>
          <a:p>
            <a:pPr algn="l">
              <a:lnSpc>
                <a:spcPts val="1711"/>
              </a:lnSpc>
              <a:spcBef>
                <a:spcPts val="0"/>
              </a:spcBef>
              <a:spcAft>
                <a:spcPts val="0"/>
              </a:spcAft>
              <a:defRPr sz="1450" b="0">
                <a:solidFill>
                  <a:srgbClr val="152C40"/>
                </a:solidFill>
                <a:latin typeface="Noto Sans"/>
              </a:defRPr>
            </a:pPr>
            <a:r>
              <a:t>MeetingBank: A benchmark dataset for meeting</a:t>
            </a:r>
          </a:p>
          <a:p>
            <a:pPr algn="l">
              <a:lnSpc>
                <a:spcPts val="1711"/>
              </a:lnSpc>
              <a:spcBef>
                <a:spcPts val="0"/>
              </a:spcBef>
              <a:spcAft>
                <a:spcPts val="0"/>
              </a:spcAft>
              <a:defRPr sz="1450" b="0">
                <a:solidFill>
                  <a:srgbClr val="152C40"/>
                </a:solidFill>
                <a:latin typeface="Noto Sans"/>
              </a:defRPr>
            </a:pPr>
            <a:r>
              <a:t>summarization.</a:t>
            </a:r>
          </a:p>
        </p:txBody>
      </p:sp>
      <p:sp>
        <p:nvSpPr>
          <p:cNvPr id="18" name="TEXT [11] Kim et al. (2023)&#10;ExplainMeetSum: A"/>
          <p:cNvSpPr txBox="1"/>
          <p:nvPr/>
        </p:nvSpPr>
        <p:spPr>
          <a:xfrm>
            <a:off x="6309360" y="4279392"/>
            <a:ext cx="5257800" cy="804672"/>
          </a:xfrm>
          <a:prstGeom prst="rect">
            <a:avLst/>
          </a:prstGeom>
          <a:noFill/>
        </p:spPr>
        <p:txBody>
          <a:bodyPr wrap="none" lIns="0" rIns="0" tIns="0" bIns="0" anchor="t">
            <a:spAutoFit/>
          </a:bodyPr>
          <a:lstStyle/>
          <a:p>
            <a:pPr algn="l">
              <a:lnSpc>
                <a:spcPts val="1711"/>
              </a:lnSpc>
              <a:spcBef>
                <a:spcPts val="0"/>
              </a:spcBef>
              <a:spcAft>
                <a:spcPts val="0"/>
              </a:spcAft>
              <a:defRPr sz="1450" b="0">
                <a:solidFill>
                  <a:srgbClr val="152C40"/>
                </a:solidFill>
                <a:latin typeface="Noto Sans"/>
              </a:defRPr>
            </a:pPr>
            <a:r>
              <a:t>[11] Kim et al. (2023)</a:t>
            </a:r>
          </a:p>
          <a:p>
            <a:pPr algn="l">
              <a:lnSpc>
                <a:spcPts val="1711"/>
              </a:lnSpc>
              <a:spcBef>
                <a:spcPts val="0"/>
              </a:spcBef>
              <a:spcAft>
                <a:spcPts val="0"/>
              </a:spcAft>
              <a:defRPr sz="1450" b="0">
                <a:solidFill>
                  <a:srgbClr val="152C40"/>
                </a:solidFill>
                <a:latin typeface="Noto Sans"/>
              </a:defRPr>
            </a:pPr>
            <a:r>
              <a:t>ExplainMeetSum: A dataset for explainable meeting</a:t>
            </a:r>
          </a:p>
          <a:p>
            <a:pPr algn="l">
              <a:lnSpc>
                <a:spcPts val="1711"/>
              </a:lnSpc>
              <a:spcBef>
                <a:spcPts val="0"/>
              </a:spcBef>
              <a:spcAft>
                <a:spcPts val="0"/>
              </a:spcAft>
              <a:defRPr sz="1450" b="0">
                <a:solidFill>
                  <a:srgbClr val="152C40"/>
                </a:solidFill>
                <a:latin typeface="Noto Sans"/>
              </a:defRPr>
            </a:pPr>
            <a:r>
              <a:t>summarization aligned with human intent.</a:t>
            </a:r>
          </a:p>
        </p:txBody>
      </p:sp>
      <p:sp>
        <p:nvSpPr>
          <p:cNvPr id="19" name="TEXT [12] Carletta et al. (2006)&#10;The AMI meet"/>
          <p:cNvSpPr txBox="1"/>
          <p:nvPr/>
        </p:nvSpPr>
        <p:spPr>
          <a:xfrm>
            <a:off x="6309360" y="5111496"/>
            <a:ext cx="5257800" cy="804672"/>
          </a:xfrm>
          <a:prstGeom prst="rect">
            <a:avLst/>
          </a:prstGeom>
          <a:noFill/>
        </p:spPr>
        <p:txBody>
          <a:bodyPr wrap="none" lIns="0" rIns="0" tIns="0" bIns="0" anchor="t">
            <a:spAutoFit/>
          </a:bodyPr>
          <a:lstStyle/>
          <a:p>
            <a:pPr algn="l">
              <a:lnSpc>
                <a:spcPts val="1711"/>
              </a:lnSpc>
              <a:spcBef>
                <a:spcPts val="0"/>
              </a:spcBef>
              <a:spcAft>
                <a:spcPts val="0"/>
              </a:spcAft>
              <a:defRPr sz="1450" b="0">
                <a:solidFill>
                  <a:srgbClr val="152C40"/>
                </a:solidFill>
                <a:latin typeface="Noto Sans"/>
              </a:defRPr>
            </a:pPr>
            <a:r>
              <a:t>[12] Carletta et al. (2006)</a:t>
            </a:r>
          </a:p>
          <a:p>
            <a:pPr algn="l">
              <a:lnSpc>
                <a:spcPts val="1711"/>
              </a:lnSpc>
              <a:spcBef>
                <a:spcPts val="0"/>
              </a:spcBef>
              <a:spcAft>
                <a:spcPts val="0"/>
              </a:spcAft>
              <a:defRPr sz="1450" b="0">
                <a:solidFill>
                  <a:srgbClr val="152C40"/>
                </a:solidFill>
                <a:latin typeface="Noto Sans"/>
              </a:defRPr>
            </a:pPr>
            <a:r>
              <a:t>The AMI meeting corpus: A pre-announcement.</a:t>
            </a:r>
          </a:p>
        </p:txBody>
      </p:sp>
      <p:sp>
        <p:nvSpPr>
          <p:cNvPr id="20" name="TEXT Selected entries retain IEEE paper numbe"/>
          <p:cNvSpPr txBox="1"/>
          <p:nvPr/>
        </p:nvSpPr>
        <p:spPr>
          <a:xfrm>
            <a:off x="530352" y="6080760"/>
            <a:ext cx="11064240" cy="237744"/>
          </a:xfrm>
          <a:prstGeom prst="rect">
            <a:avLst/>
          </a:prstGeom>
          <a:noFill/>
        </p:spPr>
        <p:txBody>
          <a:bodyPr wrap="none" lIns="0" rIns="0" tIns="0" bIns="0" anchor="t">
            <a:spAutoFit/>
          </a:bodyPr>
          <a:lstStyle/>
          <a:p>
            <a:pPr algn="l">
              <a:lnSpc>
                <a:spcPts val="1238"/>
              </a:lnSpc>
              <a:spcBef>
                <a:spcPts val="0"/>
              </a:spcBef>
              <a:spcAft>
                <a:spcPts val="0"/>
              </a:spcAft>
              <a:defRPr sz="1050" b="0">
                <a:solidFill>
                  <a:srgbClr val="526675"/>
                </a:solidFill>
                <a:latin typeface="Noto Sans"/>
              </a:defRPr>
            </a:pPr>
            <a:r>
              <a:t>Selected entries retain IEEE paper numbering. All 15 full references are in the paper and this slide’s notes.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84048"/>
            <a:ext cx="59436" cy="329184"/>
          </a:xfrm>
          <a:prstGeom prst="rect">
            <a:avLst/>
          </a:prstGeom>
          <a:solidFill>
            <a:srgbClr val="B30D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 MAI PROJECT • GROUP 12"/>
          <p:cNvSpPr txBox="1"/>
          <p:nvPr/>
        </p:nvSpPr>
        <p:spPr>
          <a:xfrm>
            <a:off x="658368" y="320040"/>
            <a:ext cx="9144000" cy="228600"/>
          </a:xfrm>
          <a:prstGeom prst="rect">
            <a:avLst/>
          </a:prstGeom>
          <a:noFill/>
        </p:spPr>
        <p:txBody>
          <a:bodyPr wrap="none" lIns="0" rIns="0" tIns="0" bIns="0" anchor="t">
            <a:spAutoFit/>
          </a:bodyPr>
          <a:lstStyle/>
          <a:p>
            <a:pPr algn="l">
              <a:lnSpc>
                <a:spcPts val="1297"/>
              </a:lnSpc>
              <a:spcBef>
                <a:spcPts val="0"/>
              </a:spcBef>
              <a:spcAft>
                <a:spcPts val="0"/>
              </a:spcAft>
              <a:defRPr sz="1100" b="1">
                <a:solidFill>
                  <a:srgbClr val="B30D2C"/>
                </a:solidFill>
                <a:latin typeface="Noto Sans"/>
              </a:defRPr>
            </a:pPr>
            <a:r>
              <a:t>MAI PROJECT • GROUP 12</a:t>
            </a:r>
          </a:p>
        </p:txBody>
      </p:sp>
      <p:sp>
        <p:nvSpPr>
          <p:cNvPr id="5" name="TEXT Photograph of the Presentation"/>
          <p:cNvSpPr txBox="1"/>
          <p:nvPr/>
        </p:nvSpPr>
        <p:spPr>
          <a:xfrm>
            <a:off x="484632" y="749808"/>
            <a:ext cx="10881360" cy="502920"/>
          </a:xfrm>
          <a:prstGeom prst="rect">
            <a:avLst/>
          </a:prstGeom>
          <a:noFill/>
        </p:spPr>
        <p:txBody>
          <a:bodyPr wrap="none" lIns="0" rIns="0" tIns="0" bIns="0" anchor="t">
            <a:spAutoFit/>
          </a:bodyPr>
          <a:lstStyle/>
          <a:p>
            <a:pPr algn="l">
              <a:lnSpc>
                <a:spcPts val="3422"/>
              </a:lnSpc>
              <a:spcBef>
                <a:spcPts val="0"/>
              </a:spcBef>
              <a:spcAft>
                <a:spcPts val="0"/>
              </a:spcAft>
              <a:defRPr sz="2900" b="1">
                <a:solidFill>
                  <a:srgbClr val="152C40"/>
                </a:solidFill>
                <a:latin typeface="Noto Sans"/>
              </a:defRPr>
            </a:pPr>
            <a:r>
              <a:t>Photograph of the Presentation</a:t>
            </a:r>
          </a:p>
        </p:txBody>
      </p:sp>
      <p:pic>
        <p:nvPicPr>
          <p:cNvPr id="6" name="Picture 5" descr="image3.png"/>
          <p:cNvPicPr>
            <a:picLocks noChangeAspect="1"/>
          </p:cNvPicPr>
          <p:nvPr/>
        </p:nvPicPr>
        <p:blipFill>
          <a:blip r:embed="rId2"/>
          <a:stretch>
            <a:fillRect/>
          </a:stretch>
        </p:blipFill>
        <p:spPr>
          <a:xfrm>
            <a:off x="10195560" y="320040"/>
            <a:ext cx="1508760" cy="286077"/>
          </a:xfrm>
          <a:prstGeom prst="rect">
            <a:avLst/>
          </a:prstGeom>
        </p:spPr>
      </p:pic>
      <p:cxnSp>
        <p:nvCxnSpPr>
          <p:cNvPr id="7" name="Connector 6"/>
          <p:cNvCxnSpPr/>
          <p:nvPr/>
        </p:nvCxnSpPr>
        <p:spPr>
          <a:xfrm>
            <a:off x="502920" y="6419088"/>
            <a:ext cx="11183112" cy="0"/>
          </a:xfrm>
          <a:prstGeom prst="line">
            <a:avLst/>
          </a:prstGeom>
          <a:ln w="12700">
            <a:solidFill>
              <a:srgbClr val="D9E2E7"/>
            </a:solidFill>
          </a:ln>
        </p:spPr>
        <p:style>
          <a:lnRef idx="2">
            <a:schemeClr val="accent1"/>
          </a:lnRef>
          <a:fillRef idx="0">
            <a:schemeClr val="accent1"/>
          </a:fillRef>
          <a:effectRef idx="1">
            <a:schemeClr val="accent1"/>
          </a:effectRef>
          <a:fontRef idx="minor">
            <a:schemeClr val="tx1"/>
          </a:fontRef>
        </p:style>
      </p:cxnSp>
      <p:sp>
        <p:nvSpPr>
          <p:cNvPr id="8" name="TEXT SIT Pune  |  AI &amp; ML  |  Group 12  |  Pr"/>
          <p:cNvSpPr txBox="1"/>
          <p:nvPr/>
        </p:nvSpPr>
        <p:spPr>
          <a:xfrm>
            <a:off x="502920" y="6519672"/>
            <a:ext cx="9509760" cy="173736"/>
          </a:xfrm>
          <a:prstGeom prst="rect">
            <a:avLst/>
          </a:prstGeom>
          <a:noFill/>
        </p:spPr>
        <p:txBody>
          <a:bodyPr wrap="none" lIns="0" rIns="0" tIns="0" bIns="0" anchor="t">
            <a:spAutoFit/>
          </a:bodyPr>
          <a:lstStyle/>
          <a:p>
            <a:pPr algn="l">
              <a:lnSpc>
                <a:spcPts val="1062"/>
              </a:lnSpc>
              <a:spcBef>
                <a:spcPts val="0"/>
              </a:spcBef>
              <a:spcAft>
                <a:spcPts val="0"/>
              </a:spcAft>
              <a:defRPr sz="900" b="0">
                <a:solidFill>
                  <a:srgbClr val="526675"/>
                </a:solidFill>
                <a:latin typeface="Noto Sans"/>
              </a:defRPr>
            </a:pPr>
            <a:r>
              <a:t>SIT Pune | AI &amp; ML | Group 12 | Prepared 20 October 2026</a:t>
            </a:r>
          </a:p>
        </p:txBody>
      </p:sp>
      <p:sp>
        <p:nvSpPr>
          <p:cNvPr id="9" name="TEXT 18 / 18"/>
          <p:cNvSpPr txBox="1"/>
          <p:nvPr/>
        </p:nvSpPr>
        <p:spPr>
          <a:xfrm>
            <a:off x="10789920" y="6510528"/>
            <a:ext cx="914400" cy="201168"/>
          </a:xfrm>
          <a:prstGeom prst="rect">
            <a:avLst/>
          </a:prstGeom>
          <a:noFill/>
        </p:spPr>
        <p:txBody>
          <a:bodyPr wrap="none" lIns="0" rIns="0" tIns="0" bIns="0" anchor="t">
            <a:spAutoFit/>
          </a:bodyPr>
          <a:lstStyle/>
          <a:p>
            <a:pPr algn="r">
              <a:lnSpc>
                <a:spcPts val="1180"/>
              </a:lnSpc>
              <a:spcBef>
                <a:spcPts val="0"/>
              </a:spcBef>
              <a:spcAft>
                <a:spcPts val="0"/>
              </a:spcAft>
              <a:defRPr sz="1000" b="0">
                <a:solidFill>
                  <a:srgbClr val="526675"/>
                </a:solidFill>
                <a:latin typeface="Noto Sans"/>
              </a:defRPr>
            </a:pPr>
            <a:r>
              <a:t>18 / 18</a:t>
            </a:r>
          </a:p>
        </p:txBody>
      </p:sp>
      <p:sp>
        <p:nvSpPr>
          <p:cNvPr id="10" name="Rounded Rectangle 9"/>
          <p:cNvSpPr/>
          <p:nvPr/>
        </p:nvSpPr>
        <p:spPr>
          <a:xfrm>
            <a:off x="1051560" y="1828800"/>
            <a:ext cx="10058400" cy="3886200"/>
          </a:xfrm>
          <a:prstGeom prst="roundRect">
            <a:avLst>
              <a:gd name="adj" fmla="val 6000"/>
            </a:avLst>
          </a:prstGeom>
          <a:solidFill>
            <a:srgbClr val="F0F4F6"/>
          </a:solidFill>
          <a:ln w="10160">
            <a:solidFill>
              <a:srgbClr val="D9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 Add the actual presentation photograph&#10;a"/>
          <p:cNvSpPr txBox="1"/>
          <p:nvPr/>
        </p:nvSpPr>
        <p:spPr>
          <a:xfrm>
            <a:off x="1508760" y="3017520"/>
            <a:ext cx="9144000" cy="914400"/>
          </a:xfrm>
          <a:prstGeom prst="rect">
            <a:avLst/>
          </a:prstGeom>
          <a:noFill/>
        </p:spPr>
        <p:txBody>
          <a:bodyPr wrap="none" lIns="0" rIns="0" tIns="0" bIns="0" anchor="t">
            <a:spAutoFit/>
          </a:bodyPr>
          <a:lstStyle/>
          <a:p>
            <a:pPr algn="ctr">
              <a:lnSpc>
                <a:spcPts val="3186"/>
              </a:lnSpc>
              <a:spcBef>
                <a:spcPts val="0"/>
              </a:spcBef>
              <a:spcAft>
                <a:spcPts val="0"/>
              </a:spcAft>
              <a:defRPr sz="2700" b="0">
                <a:solidFill>
                  <a:srgbClr val="526675"/>
                </a:solidFill>
                <a:latin typeface="Noto Sans"/>
              </a:defRPr>
            </a:pPr>
            <a:r>
              <a:t>Add the actual presentation photograph</a:t>
            </a:r>
          </a:p>
          <a:p>
            <a:pPr algn="ctr">
              <a:lnSpc>
                <a:spcPts val="3186"/>
              </a:lnSpc>
              <a:spcBef>
                <a:spcPts val="0"/>
              </a:spcBef>
              <a:spcAft>
                <a:spcPts val="0"/>
              </a:spcAft>
              <a:defRPr sz="2700" b="0">
                <a:solidFill>
                  <a:srgbClr val="526675"/>
                </a:solidFill>
                <a:latin typeface="Noto Sans"/>
              </a:defRPr>
            </a:pPr>
            <a:r>
              <a:t>after the session.</a:t>
            </a:r>
          </a:p>
        </p:txBody>
      </p:sp>
      <p:sp>
        <p:nvSpPr>
          <p:cNvPr id="12" name="TEXT Symbiosis Institute of Technology, Pune "/>
          <p:cNvSpPr txBox="1"/>
          <p:nvPr/>
        </p:nvSpPr>
        <p:spPr>
          <a:xfrm>
            <a:off x="1371600" y="4937760"/>
            <a:ext cx="9418320" cy="411480"/>
          </a:xfrm>
          <a:prstGeom prst="rect">
            <a:avLst/>
          </a:prstGeom>
          <a:noFill/>
        </p:spPr>
        <p:txBody>
          <a:bodyPr wrap="none" lIns="0" rIns="0" tIns="0" bIns="0" anchor="t">
            <a:spAutoFit/>
          </a:bodyPr>
          <a:lstStyle/>
          <a:p>
            <a:pPr algn="ctr">
              <a:lnSpc>
                <a:spcPts val="2242"/>
              </a:lnSpc>
              <a:spcBef>
                <a:spcPts val="0"/>
              </a:spcBef>
              <a:spcAft>
                <a:spcPts val="0"/>
              </a:spcAft>
              <a:defRPr sz="1900" b="0">
                <a:solidFill>
                  <a:srgbClr val="526675"/>
                </a:solidFill>
                <a:latin typeface="Noto Sans"/>
              </a:defRPr>
            </a:pPr>
            <a:r>
              <a:t>Symbiosis Institute of Technology, Pune • AY 2026–27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