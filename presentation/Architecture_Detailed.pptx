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59436" cy="329184"/>
          </a:xfrm>
          <a:prstGeom prst="rect">
            <a:avLst/>
          </a:prstGeom>
          <a:solidFill>
            <a:srgbClr val="B30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SYSTEM DESIGN"/>
          <p:cNvSpPr txBox="1"/>
          <p:nvPr/>
        </p:nvSpPr>
        <p:spPr>
          <a:xfrm>
            <a:off x="658368" y="320040"/>
            <a:ext cx="914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B30D2C"/>
                </a:solidFill>
                <a:latin typeface="Noto Sans"/>
              </a:defRPr>
            </a:pPr>
            <a:r>
              <a:t>SYSTEM DESIGN</a:t>
            </a:r>
          </a:p>
        </p:txBody>
      </p:sp>
      <p:sp>
        <p:nvSpPr>
          <p:cNvPr id="5" name="TEXT The complete local architecture"/>
          <p:cNvSpPr txBox="1"/>
          <p:nvPr/>
        </p:nvSpPr>
        <p:spPr>
          <a:xfrm>
            <a:off x="484632" y="749808"/>
            <a:ext cx="108813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52C40"/>
                </a:solidFill>
                <a:latin typeface="Noto Sans"/>
              </a:defRPr>
            </a:pPr>
            <a:r>
              <a:t>The complete local architecture</a:t>
            </a:r>
          </a:p>
        </p:txBody>
      </p:sp>
      <p:sp>
        <p:nvSpPr>
          <p:cNvPr id="6" name="TEXT Data flow, model boundaries, persistence"/>
          <p:cNvSpPr txBox="1"/>
          <p:nvPr/>
        </p:nvSpPr>
        <p:spPr>
          <a:xfrm>
            <a:off x="502920" y="1298448"/>
            <a:ext cx="110642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675"/>
                </a:solidFill>
                <a:latin typeface="Noto Sans"/>
              </a:defRPr>
            </a:pPr>
            <a:r>
              <a:t>Data flow, model boundaries, persistence and human review — all on the laptop.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320040"/>
            <a:ext cx="1508760" cy="286077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1270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SIT Pune  |  AI &amp; ML  |  Group 12  |  Pr"/>
          <p:cNvSpPr txBox="1"/>
          <p:nvPr/>
        </p:nvSpPr>
        <p:spPr>
          <a:xfrm>
            <a:off x="502920" y="6519672"/>
            <a:ext cx="950976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26675"/>
                </a:solidFill>
                <a:latin typeface="Noto Sans"/>
              </a:defRPr>
            </a:pPr>
            <a:r>
              <a:t>SIT Pune | AI &amp; ML | Group 12 | Prepared 20 October 2026</a:t>
            </a:r>
          </a:p>
        </p:txBody>
      </p:sp>
      <p:sp>
        <p:nvSpPr>
          <p:cNvPr id="10" name="TEXT 01 / 18"/>
          <p:cNvSpPr txBox="1"/>
          <p:nvPr/>
        </p:nvSpPr>
        <p:spPr>
          <a:xfrm>
            <a:off x="10789920" y="6510528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675"/>
                </a:solidFill>
                <a:latin typeface="Noto Sans"/>
              </a:defRPr>
            </a:pPr>
            <a:r>
              <a:t>ARCHITECTURE</a:t>
            </a:r>
          </a:p>
        </p:txBody>
      </p:sp>
      <p:sp>
        <p:nvSpPr>
          <p:cNvPr id="11" name="TEXT 1  Capture"/>
          <p:cNvSpPr txBox="1"/>
          <p:nvPr/>
        </p:nvSpPr>
        <p:spPr>
          <a:xfrm>
            <a:off x="502920" y="1783080"/>
            <a:ext cx="19202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87F8C"/>
                </a:solidFill>
                <a:latin typeface="Noto Sans"/>
              </a:defRPr>
            </a:pPr>
            <a:r>
              <a:t>1 Capture</a:t>
            </a:r>
          </a:p>
        </p:txBody>
      </p:sp>
      <p:sp>
        <p:nvSpPr>
          <p:cNvPr id="12" name="TEXT 2  Speech &amp; slides"/>
          <p:cNvSpPr txBox="1"/>
          <p:nvPr/>
        </p:nvSpPr>
        <p:spPr>
          <a:xfrm>
            <a:off x="2697480" y="1783080"/>
            <a:ext cx="29718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87F8C"/>
                </a:solidFill>
                <a:latin typeface="Noto Sans"/>
              </a:defRPr>
            </a:pPr>
            <a:r>
              <a:t>2 Speech &amp; slides</a:t>
            </a:r>
          </a:p>
        </p:txBody>
      </p:sp>
      <p:sp>
        <p:nvSpPr>
          <p:cNvPr id="13" name="TEXT 3  Analysis"/>
          <p:cNvSpPr txBox="1"/>
          <p:nvPr/>
        </p:nvSpPr>
        <p:spPr>
          <a:xfrm>
            <a:off x="5989320" y="1783080"/>
            <a:ext cx="28346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87F8C"/>
                </a:solidFill>
                <a:latin typeface="Noto Sans"/>
              </a:defRPr>
            </a:pPr>
            <a:r>
              <a:t>3 Analysis</a:t>
            </a:r>
          </a:p>
        </p:txBody>
      </p:sp>
      <p:sp>
        <p:nvSpPr>
          <p:cNvPr id="14" name="TEXT 4  Save &amp; review"/>
          <p:cNvSpPr txBox="1"/>
          <p:nvPr/>
        </p:nvSpPr>
        <p:spPr>
          <a:xfrm>
            <a:off x="9144000" y="1783080"/>
            <a:ext cx="25146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87F8C"/>
                </a:solidFill>
                <a:latin typeface="Noto Sans"/>
              </a:defRPr>
            </a:pPr>
            <a:r>
              <a:t>4 Save &amp; review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63040" y="2871216"/>
            <a:ext cx="0" cy="201168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63040" y="3822191"/>
            <a:ext cx="0" cy="201169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23160" y="4434840"/>
            <a:ext cx="137160" cy="0"/>
          </a:xfrm>
          <a:prstGeom prst="line">
            <a:avLst/>
          </a:prstGeom>
          <a:ln w="19050">
            <a:solidFill>
              <a:srgbClr val="526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560320" y="2578608"/>
            <a:ext cx="0" cy="1856232"/>
          </a:xfrm>
          <a:prstGeom prst="line">
            <a:avLst/>
          </a:prstGeom>
          <a:ln w="19050">
            <a:solidFill>
              <a:srgbClr val="526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60320" y="2578608"/>
            <a:ext cx="137160" cy="0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60320" y="2578608"/>
            <a:ext cx="0" cy="1042416"/>
          </a:xfrm>
          <a:prstGeom prst="line">
            <a:avLst/>
          </a:prstGeom>
          <a:ln w="19050">
            <a:solidFill>
              <a:srgbClr val="526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560320" y="3621024"/>
            <a:ext cx="137160" cy="0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96512" y="2578608"/>
            <a:ext cx="155448" cy="0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96512" y="3621024"/>
            <a:ext cx="155448" cy="0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50992" y="2578608"/>
            <a:ext cx="82296" cy="0"/>
          </a:xfrm>
          <a:prstGeom prst="line">
            <a:avLst/>
          </a:prstGeom>
          <a:ln w="1905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33288" y="2578608"/>
            <a:ext cx="0" cy="1901952"/>
          </a:xfrm>
          <a:prstGeom prst="line">
            <a:avLst/>
          </a:prstGeom>
          <a:ln w="1905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650992" y="4480560"/>
            <a:ext cx="82296" cy="0"/>
          </a:xfrm>
          <a:prstGeom prst="line">
            <a:avLst/>
          </a:prstGeom>
          <a:ln w="1905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937760" y="4023360"/>
            <a:ext cx="0" cy="201168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423160" y="5440680"/>
            <a:ext cx="274320" cy="0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96512" y="5440680"/>
            <a:ext cx="155448" cy="0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37760" y="4937760"/>
            <a:ext cx="0" cy="155448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50992" y="4590288"/>
            <a:ext cx="173736" cy="0"/>
          </a:xfrm>
          <a:prstGeom prst="line">
            <a:avLst/>
          </a:prstGeom>
          <a:ln w="1905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824728" y="2606040"/>
            <a:ext cx="0" cy="1984248"/>
          </a:xfrm>
          <a:prstGeom prst="line">
            <a:avLst/>
          </a:prstGeom>
          <a:ln w="1905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24728" y="2606040"/>
            <a:ext cx="164592" cy="0"/>
          </a:xfrm>
          <a:prstGeom prst="line">
            <a:avLst/>
          </a:prstGeom>
          <a:ln w="1905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50992" y="5440680"/>
            <a:ext cx="246888" cy="0"/>
          </a:xfrm>
          <a:prstGeom prst="line">
            <a:avLst/>
          </a:prstGeom>
          <a:ln w="19050">
            <a:solidFill>
              <a:srgbClr val="526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897880" y="3685032"/>
            <a:ext cx="0" cy="1755648"/>
          </a:xfrm>
          <a:prstGeom prst="line">
            <a:avLst/>
          </a:prstGeom>
          <a:ln w="19050">
            <a:solidFill>
              <a:srgbClr val="526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97880" y="3685032"/>
            <a:ext cx="91440" cy="0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88352" y="4041648"/>
            <a:ext cx="0" cy="210312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388352" y="4983480"/>
            <a:ext cx="0" cy="201168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823960" y="2651760"/>
            <a:ext cx="137160" cy="0"/>
          </a:xfrm>
          <a:prstGeom prst="line">
            <a:avLst/>
          </a:prstGeom>
          <a:ln w="19050">
            <a:solidFill>
              <a:srgbClr val="B30D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961120" y="2651760"/>
            <a:ext cx="0" cy="91440"/>
          </a:xfrm>
          <a:prstGeom prst="line">
            <a:avLst/>
          </a:prstGeom>
          <a:ln w="19050">
            <a:solidFill>
              <a:srgbClr val="B30D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961120" y="2743200"/>
            <a:ext cx="182880" cy="0"/>
          </a:xfrm>
          <a:prstGeom prst="line">
            <a:avLst/>
          </a:prstGeom>
          <a:ln w="19050">
            <a:solidFill>
              <a:srgbClr val="B30D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23960" y="5541264"/>
            <a:ext cx="201168" cy="0"/>
          </a:xfrm>
          <a:prstGeom prst="line">
            <a:avLst/>
          </a:prstGeom>
          <a:ln w="19050">
            <a:solidFill>
              <a:srgbClr val="526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025128" y="3154680"/>
            <a:ext cx="0" cy="2386584"/>
          </a:xfrm>
          <a:prstGeom prst="line">
            <a:avLst/>
          </a:prstGeom>
          <a:ln w="19050">
            <a:solidFill>
              <a:srgbClr val="526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25128" y="3154680"/>
            <a:ext cx="118872" cy="0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396728" y="3337560"/>
            <a:ext cx="0" cy="228600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396728" y="4361688"/>
            <a:ext cx="0" cy="237744"/>
          </a:xfrm>
          <a:prstGeom prst="line">
            <a:avLst/>
          </a:prstGeom>
          <a:ln w="19050">
            <a:solidFill>
              <a:srgbClr val="5266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658600" y="5029200"/>
            <a:ext cx="164592" cy="0"/>
          </a:xfrm>
          <a:prstGeom prst="line">
            <a:avLst/>
          </a:prstGeom>
          <a:ln w="19050">
            <a:solidFill>
              <a:srgbClr val="087F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1823192" y="3959352"/>
            <a:ext cx="0" cy="1069848"/>
          </a:xfrm>
          <a:prstGeom prst="line">
            <a:avLst/>
          </a:prstGeom>
          <a:ln w="19050">
            <a:solidFill>
              <a:srgbClr val="087F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1658600" y="3959352"/>
            <a:ext cx="164592" cy="0"/>
          </a:xfrm>
          <a:prstGeom prst="line">
            <a:avLst/>
          </a:prstGeom>
          <a:ln w="19050">
            <a:solidFill>
              <a:srgbClr val="087F8C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02920" y="2240280"/>
            <a:ext cx="1920240" cy="630936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 Browser input"/>
          <p:cNvSpPr txBox="1"/>
          <p:nvPr/>
        </p:nvSpPr>
        <p:spPr>
          <a:xfrm>
            <a:off x="612648" y="2331720"/>
            <a:ext cx="1700784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Browser input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3072384"/>
            <a:ext cx="1920240" cy="749808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 FastAPI"/>
          <p:cNvSpPr txBox="1"/>
          <p:nvPr/>
        </p:nvSpPr>
        <p:spPr>
          <a:xfrm>
            <a:off x="612648" y="3163824"/>
            <a:ext cx="1700784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FastAPI</a:t>
            </a:r>
          </a:p>
        </p:txBody>
      </p:sp>
      <p:sp>
        <p:nvSpPr>
          <p:cNvPr id="54" name="TEXT Auth + validation"/>
          <p:cNvSpPr txBox="1"/>
          <p:nvPr/>
        </p:nvSpPr>
        <p:spPr>
          <a:xfrm>
            <a:off x="612648" y="3557015"/>
            <a:ext cx="1700784" cy="237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Auth + validation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4023360"/>
            <a:ext cx="1920240" cy="822960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 Queue + FFmpeg"/>
          <p:cNvSpPr txBox="1"/>
          <p:nvPr/>
        </p:nvSpPr>
        <p:spPr>
          <a:xfrm>
            <a:off x="612648" y="4114800"/>
            <a:ext cx="1700784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Queue + FFmpeg</a:t>
            </a:r>
          </a:p>
        </p:txBody>
      </p:sp>
      <p:sp>
        <p:nvSpPr>
          <p:cNvPr id="57" name="TEXT 1 worker; 16 kHz mono"/>
          <p:cNvSpPr txBox="1"/>
          <p:nvPr/>
        </p:nvSpPr>
        <p:spPr>
          <a:xfrm>
            <a:off x="612648" y="4507992"/>
            <a:ext cx="170078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1 worker; 16 kHz mono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5093208"/>
            <a:ext cx="1920240" cy="713232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 Optional PPTX"/>
          <p:cNvSpPr txBox="1"/>
          <p:nvPr/>
        </p:nvSpPr>
        <p:spPr>
          <a:xfrm>
            <a:off x="612648" y="5184648"/>
            <a:ext cx="1700784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Optional PPTX</a:t>
            </a:r>
          </a:p>
        </p:txBody>
      </p:sp>
      <p:sp>
        <p:nvSpPr>
          <p:cNvPr id="60" name="TEXT Ordered slide files"/>
          <p:cNvSpPr txBox="1"/>
          <p:nvPr/>
        </p:nvSpPr>
        <p:spPr>
          <a:xfrm>
            <a:off x="612648" y="5577840"/>
            <a:ext cx="1700784" cy="2011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Ordered slide files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697480" y="2240280"/>
            <a:ext cx="1399032" cy="685800"/>
          </a:xfrm>
          <a:prstGeom prst="roundRect">
            <a:avLst>
              <a:gd name="adj" fmla="val 6000"/>
            </a:avLst>
          </a:prstGeom>
          <a:solidFill>
            <a:srgbClr val="E9F5F4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 ASR + VAD"/>
          <p:cNvSpPr txBox="1"/>
          <p:nvPr/>
        </p:nvSpPr>
        <p:spPr>
          <a:xfrm>
            <a:off x="2807208" y="2331720"/>
            <a:ext cx="1179576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ASR + VAD</a:t>
            </a:r>
          </a:p>
        </p:txBody>
      </p:sp>
      <p:sp>
        <p:nvSpPr>
          <p:cNvPr id="63" name="TEXT faster-whisper"/>
          <p:cNvSpPr txBox="1"/>
          <p:nvPr/>
        </p:nvSpPr>
        <p:spPr>
          <a:xfrm>
            <a:off x="2807208" y="2724912"/>
            <a:ext cx="1179576" cy="1737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faster-whisper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51960" y="2240280"/>
            <a:ext cx="1399032" cy="685800"/>
          </a:xfrm>
          <a:prstGeom prst="roundRect">
            <a:avLst>
              <a:gd name="adj" fmla="val 6000"/>
            </a:avLst>
          </a:prstGeom>
          <a:solidFill>
            <a:srgbClr val="E9F5F4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 Word cache"/>
          <p:cNvSpPr txBox="1"/>
          <p:nvPr/>
        </p:nvSpPr>
        <p:spPr>
          <a:xfrm>
            <a:off x="4361688" y="2331720"/>
            <a:ext cx="1179576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Word cache</a:t>
            </a:r>
          </a:p>
        </p:txBody>
      </p:sp>
      <p:sp>
        <p:nvSpPr>
          <p:cNvPr id="66" name="TEXT Words + times"/>
          <p:cNvSpPr txBox="1"/>
          <p:nvPr/>
        </p:nvSpPr>
        <p:spPr>
          <a:xfrm>
            <a:off x="4361688" y="2724912"/>
            <a:ext cx="1179576" cy="1737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Words + times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697480" y="3246120"/>
            <a:ext cx="1399032" cy="777240"/>
          </a:xfrm>
          <a:prstGeom prst="roundRect">
            <a:avLst>
              <a:gd name="adj" fmla="val 6000"/>
            </a:avLst>
          </a:prstGeom>
          <a:solidFill>
            <a:srgbClr val="E9F5F4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 Diarization"/>
          <p:cNvSpPr txBox="1"/>
          <p:nvPr/>
        </p:nvSpPr>
        <p:spPr>
          <a:xfrm>
            <a:off x="2807208" y="3337560"/>
            <a:ext cx="1179576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Diarization</a:t>
            </a:r>
          </a:p>
        </p:txBody>
      </p:sp>
      <p:sp>
        <p:nvSpPr>
          <p:cNvPr id="69" name="TEXT Sherpa-ONNX"/>
          <p:cNvSpPr txBox="1"/>
          <p:nvPr/>
        </p:nvSpPr>
        <p:spPr>
          <a:xfrm>
            <a:off x="2807208" y="3730752"/>
            <a:ext cx="1179576" cy="265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Sherpa-ONNX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51960" y="3246120"/>
            <a:ext cx="1399032" cy="777240"/>
          </a:xfrm>
          <a:prstGeom prst="roundRect">
            <a:avLst>
              <a:gd name="adj" fmla="val 6000"/>
            </a:avLst>
          </a:prstGeom>
          <a:solidFill>
            <a:srgbClr val="E9F5F4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 Speakers"/>
          <p:cNvSpPr txBox="1"/>
          <p:nvPr/>
        </p:nvSpPr>
        <p:spPr>
          <a:xfrm>
            <a:off x="4361688" y="3337560"/>
            <a:ext cx="1179576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Speakers</a:t>
            </a:r>
          </a:p>
        </p:txBody>
      </p:sp>
      <p:sp>
        <p:nvSpPr>
          <p:cNvPr id="72" name="TEXT Who spoke when"/>
          <p:cNvSpPr txBox="1"/>
          <p:nvPr/>
        </p:nvSpPr>
        <p:spPr>
          <a:xfrm>
            <a:off x="4361688" y="3730752"/>
            <a:ext cx="1179576" cy="265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Who spoke when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51960" y="4224528"/>
            <a:ext cx="1399032" cy="713232"/>
          </a:xfrm>
          <a:prstGeom prst="roundRect">
            <a:avLst>
              <a:gd name="adj" fmla="val 6000"/>
            </a:avLst>
          </a:prstGeom>
          <a:solidFill>
            <a:srgbClr val="E9F5F4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 Attribution"/>
          <p:cNvSpPr txBox="1"/>
          <p:nvPr/>
        </p:nvSpPr>
        <p:spPr>
          <a:xfrm>
            <a:off x="4361688" y="4315968"/>
            <a:ext cx="1179576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Attribution</a:t>
            </a:r>
          </a:p>
        </p:txBody>
      </p:sp>
      <p:sp>
        <p:nvSpPr>
          <p:cNvPr id="75" name="TEXT Tagged words"/>
          <p:cNvSpPr txBox="1"/>
          <p:nvPr/>
        </p:nvSpPr>
        <p:spPr>
          <a:xfrm>
            <a:off x="4361688" y="4709160"/>
            <a:ext cx="1179576" cy="2011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Tagged words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97480" y="5093208"/>
            <a:ext cx="1399032" cy="713232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 Slide parsing"/>
          <p:cNvSpPr txBox="1"/>
          <p:nvPr/>
        </p:nvSpPr>
        <p:spPr>
          <a:xfrm>
            <a:off x="2807208" y="5184648"/>
            <a:ext cx="1179576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Slide parsing</a:t>
            </a:r>
          </a:p>
        </p:txBody>
      </p:sp>
      <p:sp>
        <p:nvSpPr>
          <p:cNvPr id="78" name="TEXT Text/tables/notes"/>
          <p:cNvSpPr txBox="1"/>
          <p:nvPr/>
        </p:nvSpPr>
        <p:spPr>
          <a:xfrm>
            <a:off x="2807208" y="5577840"/>
            <a:ext cx="1179576" cy="2011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Text/tables/notes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251960" y="5093208"/>
            <a:ext cx="1399032" cy="713232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 Align or skip"/>
          <p:cNvSpPr txBox="1"/>
          <p:nvPr/>
        </p:nvSpPr>
        <p:spPr>
          <a:xfrm>
            <a:off x="4361688" y="5184648"/>
            <a:ext cx="1179576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Align or skip</a:t>
            </a:r>
          </a:p>
        </p:txBody>
      </p:sp>
      <p:sp>
        <p:nvSpPr>
          <p:cNvPr id="81" name="TEXT MiniLM / TF-IDF"/>
          <p:cNvSpPr txBox="1"/>
          <p:nvPr/>
        </p:nvSpPr>
        <p:spPr>
          <a:xfrm>
            <a:off x="4361688" y="5577840"/>
            <a:ext cx="1179576" cy="2011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MiniLM / TF-IDF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989320" y="2240280"/>
            <a:ext cx="2834640" cy="960120"/>
          </a:xfrm>
          <a:prstGeom prst="roundRect">
            <a:avLst>
              <a:gd name="adj" fmla="val 6000"/>
            </a:avLst>
          </a:prstGeom>
          <a:solidFill>
            <a:srgbClr val="FBEEF1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 Learned English review"/>
          <p:cNvSpPr txBox="1"/>
          <p:nvPr/>
        </p:nvSpPr>
        <p:spPr>
          <a:xfrm>
            <a:off x="6099048" y="2331720"/>
            <a:ext cx="2615184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Learned English review</a:t>
            </a:r>
          </a:p>
        </p:txBody>
      </p:sp>
      <p:sp>
        <p:nvSpPr>
          <p:cNvPr id="84" name="TEXT TF-IDF → 75% forest + 25% linear&#10;Smooth "/>
          <p:cNvSpPr txBox="1"/>
          <p:nvPr/>
        </p:nvSpPr>
        <p:spPr>
          <a:xfrm>
            <a:off x="6099048" y="2724912"/>
            <a:ext cx="2615184" cy="4480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TF-IDF → 75% forest + 25% linear</a:t>
            </a:r>
          </a:p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Smooth → threshold → suggestions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89320" y="3337560"/>
            <a:ext cx="2834640" cy="704088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 Event rules → evidence"/>
          <p:cNvSpPr txBox="1"/>
          <p:nvPr/>
        </p:nvSpPr>
        <p:spPr>
          <a:xfrm>
            <a:off x="6099048" y="3429000"/>
            <a:ext cx="2615184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Event rules → evidence</a:t>
            </a:r>
          </a:p>
        </p:txBody>
      </p:sp>
      <p:sp>
        <p:nvSpPr>
          <p:cNvPr id="87" name="TEXT Proposals / questions / agreements"/>
          <p:cNvSpPr txBox="1"/>
          <p:nvPr/>
        </p:nvSpPr>
        <p:spPr>
          <a:xfrm>
            <a:off x="6099048" y="3822191"/>
            <a:ext cx="2615184" cy="192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Proposals / questions / agreements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989320" y="4251960"/>
            <a:ext cx="2834640" cy="731520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 Decisions → interactions"/>
          <p:cNvSpPr txBox="1"/>
          <p:nvPr/>
        </p:nvSpPr>
        <p:spPr>
          <a:xfrm>
            <a:off x="6099048" y="4343400"/>
            <a:ext cx="2615184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Decisions → interactions</a:t>
            </a:r>
          </a:p>
        </p:txBody>
      </p:sp>
      <p:sp>
        <p:nvSpPr>
          <p:cNvPr id="90" name="TEXT Source anchors and relationships"/>
          <p:cNvSpPr txBox="1"/>
          <p:nvPr/>
        </p:nvSpPr>
        <p:spPr>
          <a:xfrm>
            <a:off x="6099048" y="4736592"/>
            <a:ext cx="261518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Source anchors and relationships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989320" y="5184648"/>
            <a:ext cx="2834640" cy="713232"/>
          </a:xfrm>
          <a:prstGeom prst="roundRect">
            <a:avLst>
              <a:gd name="adj" fmla="val 6000"/>
            </a:avLst>
          </a:prstGeom>
          <a:solidFill>
            <a:srgbClr val="FFF3E2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 Exploratory influence"/>
          <p:cNvSpPr txBox="1"/>
          <p:nvPr/>
        </p:nvSpPr>
        <p:spPr>
          <a:xfrm>
            <a:off x="6099048" y="5276088"/>
            <a:ext cx="2615184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Exploratory influence</a:t>
            </a:r>
          </a:p>
        </p:txBody>
      </p:sp>
      <p:sp>
        <p:nvSpPr>
          <p:cNvPr id="93" name="TEXT Unvalidated heuristic"/>
          <p:cNvSpPr txBox="1"/>
          <p:nvPr/>
        </p:nvSpPr>
        <p:spPr>
          <a:xfrm>
            <a:off x="6099048" y="5669280"/>
            <a:ext cx="2615184" cy="2011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Unvalidated heuristic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144000" y="2240280"/>
            <a:ext cx="2514600" cy="1097280"/>
          </a:xfrm>
          <a:prstGeom prst="roundRect">
            <a:avLst>
              <a:gd name="adj" fmla="val 6000"/>
            </a:avLst>
          </a:prstGeom>
          <a:solidFill>
            <a:srgbClr val="E9F5F4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 Report builder"/>
          <p:cNvSpPr txBox="1"/>
          <p:nvPr/>
        </p:nvSpPr>
        <p:spPr>
          <a:xfrm>
            <a:off x="9253728" y="2331720"/>
            <a:ext cx="2295144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Report builder</a:t>
            </a:r>
          </a:p>
        </p:txBody>
      </p:sp>
      <p:sp>
        <p:nvSpPr>
          <p:cNvPr id="96" name="TEXT Suggestions + rule outputs&#10;Source IDs st"/>
          <p:cNvSpPr txBox="1"/>
          <p:nvPr/>
        </p:nvSpPr>
        <p:spPr>
          <a:xfrm>
            <a:off x="9253728" y="2724912"/>
            <a:ext cx="2295144" cy="5852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Suggestions + rule outputs</a:t>
            </a:r>
          </a:p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Source IDs stay attached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144000" y="3566160"/>
            <a:ext cx="2514600" cy="795528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 Local persistence"/>
          <p:cNvSpPr txBox="1"/>
          <p:nvPr/>
        </p:nvSpPr>
        <p:spPr>
          <a:xfrm>
            <a:off x="9253728" y="3657600"/>
            <a:ext cx="2295144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Local persistence</a:t>
            </a:r>
          </a:p>
        </p:txBody>
      </p:sp>
      <p:sp>
        <p:nvSpPr>
          <p:cNvPr id="99" name="TEXT SQLite reports + file artifacts"/>
          <p:cNvSpPr txBox="1"/>
          <p:nvPr/>
        </p:nvSpPr>
        <p:spPr>
          <a:xfrm>
            <a:off x="9253728" y="4050791"/>
            <a:ext cx="2295144" cy="2834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SQLite reports + file artifacts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144000" y="4599432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E9F5F4"/>
          </a:solidFill>
          <a:ln w="10160"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 Review + exports"/>
          <p:cNvSpPr txBox="1"/>
          <p:nvPr/>
        </p:nvSpPr>
        <p:spPr>
          <a:xfrm>
            <a:off x="9253728" y="4690872"/>
            <a:ext cx="2295144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52C40"/>
                </a:solidFill>
                <a:latin typeface="Noto Sans"/>
              </a:defRPr>
            </a:pPr>
            <a:r>
              <a:t>Review + exports</a:t>
            </a:r>
          </a:p>
        </p:txBody>
      </p:sp>
      <p:sp>
        <p:nvSpPr>
          <p:cNvPr id="102" name="TEXT Listen • labels • evidence&#10;JSON / MD / H"/>
          <p:cNvSpPr txBox="1"/>
          <p:nvPr/>
        </p:nvSpPr>
        <p:spPr>
          <a:xfrm>
            <a:off x="9253728" y="5084064"/>
            <a:ext cx="2295144" cy="6766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Listen • labels • evidence</a:t>
            </a:r>
          </a:p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26675"/>
                </a:solidFill>
                <a:latin typeface="Noto Sans"/>
              </a:defRPr>
            </a:pPr>
            <a:r>
              <a:t>JSON / MD / HTML / CSV</a:t>
            </a:r>
          </a:p>
        </p:txBody>
      </p:sp>
      <p:sp>
        <p:nvSpPr>
          <p:cNvPr id="103" name="TEXT Arrows show data dependencies, not paral"/>
          <p:cNvSpPr txBox="1"/>
          <p:nvPr/>
        </p:nvSpPr>
        <p:spPr>
          <a:xfrm>
            <a:off x="530352" y="6080760"/>
            <a:ext cx="110642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26675"/>
                </a:solidFill>
                <a:latin typeface="Noto Sans"/>
              </a:defRPr>
            </a:pPr>
            <a:r>
              <a:t>Arrows show data dependencies, not parallel compute. ASR drafts precede final speaker attribution; cached words are reused.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