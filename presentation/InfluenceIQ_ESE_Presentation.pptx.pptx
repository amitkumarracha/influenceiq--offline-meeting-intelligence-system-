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753600" cy="7315200"/>
  <p:notesSz cx="6858000" cy="9144000"/>
  <p:embeddedFontLst>
    <p:embeddedFont>
      <p:font typeface="Times New Roman Bold" charset="1" panose="02020803070505020304"/>
      <p:regular r:id="rId27"/>
    </p:embeddedFont>
    <p:embeddedFont>
      <p:font typeface="Times New Roman" charset="1" panose="02020603050405020304"/>
      <p:regular r:id="rId28"/>
    </p:embeddedFont>
    <p:embeddedFont>
      <p:font typeface="Calibri (MS)" charset="1" panose="020F0502020204030204"/>
      <p:regular r:id="rId29"/>
    </p:embeddedFont>
    <p:embeddedFont>
      <p:font typeface="Times New Roman Italics" charset="1" panose="020205030504050903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5079" y="2748867"/>
            <a:ext cx="3567617" cy="1450438"/>
            <a:chOff x="0" y="0"/>
            <a:chExt cx="4756823" cy="193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6785" cy="1933956"/>
            </a:xfrm>
            <a:custGeom>
              <a:avLst/>
              <a:gdLst/>
              <a:ahLst/>
              <a:cxnLst/>
              <a:rect r="r" b="b" t="t" l="l"/>
              <a:pathLst>
                <a:path h="1933956" w="4756785">
                  <a:moveTo>
                    <a:pt x="0" y="0"/>
                  </a:moveTo>
                  <a:lnTo>
                    <a:pt x="4756785" y="0"/>
                  </a:lnTo>
                  <a:lnTo>
                    <a:pt x="4756785" y="1933956"/>
                  </a:lnTo>
                  <a:lnTo>
                    <a:pt x="0" y="1933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35747" y="247269"/>
            <a:ext cx="6493726" cy="42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B. Tech. Project AY 2026-27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245" y="1801806"/>
            <a:ext cx="781510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the Project: InfluenceIQ — Offline Decision-Discussion Detection with Source-Linked Meeting Review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117" y="5325799"/>
            <a:ext cx="4889021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Members:</a:t>
            </a:r>
          </a:p>
          <a:p>
            <a:pPr algn="l" marL="247090" indent="-123545" lvl="1">
              <a:lnSpc>
                <a:spcPts val="2304"/>
              </a:lnSpc>
              <a:buAutoNum type="arabicPeriod" startAt="1"/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Anushka Chatterjee (23070126015)</a:t>
            </a:r>
          </a:p>
          <a:p>
            <a:pPr algn="l" marL="247090" indent="-123545" lvl="1">
              <a:lnSpc>
                <a:spcPts val="2304"/>
              </a:lnSpc>
              <a:buAutoNum type="arabicPeriod" startAt="1"/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Amitkumar Racha (24070126501)</a:t>
            </a:r>
          </a:p>
          <a:p>
            <a:pPr algn="l" marL="247090" indent="-123545" lvl="1">
              <a:lnSpc>
                <a:spcPts val="2304"/>
              </a:lnSpc>
              <a:buAutoNum type="arabicPeriod" startAt="1"/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Sahil Awatramani (23070126112)</a:t>
            </a:r>
          </a:p>
          <a:p>
            <a:pPr algn="l" marL="247090" indent="-123545" lvl="1">
              <a:lnSpc>
                <a:spcPts val="2304"/>
              </a:lnSpc>
              <a:buAutoNum type="arabicPeriod" startAt="1"/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Shriyans Sahoo (23070126125)</a:t>
            </a:r>
          </a:p>
          <a:p>
            <a:pPr algn="l" marL="192181" indent="-96091" lvl="1">
              <a:lnSpc>
                <a:spcPts val="179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80180" y="4578134"/>
            <a:ext cx="4647505" cy="61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Guide: Dr. Nivedita Mishra</a:t>
            </a:r>
          </a:p>
          <a:p>
            <a:pPr algn="ctr">
              <a:lnSpc>
                <a:spcPts val="179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45901" y="1411662"/>
            <a:ext cx="6493726" cy="32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ID: Group 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5930" y="835666"/>
            <a:ext cx="6493631" cy="38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6"/>
              </a:lnSpc>
            </a:pPr>
            <a:r>
              <a:rPr lang="en-US" b="true" sz="23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30936" y="1587246"/>
            <a:ext cx="4395216" cy="441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8897" indent="-124449" lvl="1">
              <a:lnSpc>
                <a:spcPts val="2048"/>
              </a:lnSpc>
              <a:buFont typeface="Arial"/>
              <a:buChar char="•"/>
            </a:pPr>
            <a:r>
              <a:rPr lang="en-US" sz="170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Meeting recordings preserve proposals, explanations and decisions, but finding the relevant passage means manually scrubbing through audio.</a:t>
            </a:r>
          </a:p>
          <a:p>
            <a:pPr algn="l" marL="248897" indent="-124449" lvl="1">
              <a:lnSpc>
                <a:spcPts val="2048"/>
              </a:lnSpc>
              <a:buFont typeface="Arial"/>
              <a:buChar char="•"/>
            </a:pPr>
            <a:r>
              <a:rPr lang="en-US" sz="170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Speech-recognition errors change the words an extractor sees; speaker-attribution errors credit a contribution to the wrong person.</a:t>
            </a:r>
          </a:p>
          <a:p>
            <a:pPr algn="l" marL="248897" indent="-124449" lvl="1">
              <a:lnSpc>
                <a:spcPts val="2048"/>
              </a:lnSpc>
              <a:buFont typeface="Arial"/>
              <a:buChar char="•"/>
            </a:pPr>
            <a:r>
              <a:rPr lang="en-US" sz="170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useful review tool therefore needs an explicit evaluation target and a trace back to the original recording.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64480" y="1560576"/>
            <a:ext cx="3803904" cy="1999488"/>
            <a:chOff x="0" y="0"/>
            <a:chExt cx="5071872" cy="2665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71872" cy="2665984"/>
            </a:xfrm>
            <a:custGeom>
              <a:avLst/>
              <a:gdLst/>
              <a:ahLst/>
              <a:cxnLst/>
              <a:rect r="r" b="b" t="t" l="l"/>
              <a:pathLst>
                <a:path h="2665984" w="5071872">
                  <a:moveTo>
                    <a:pt x="0" y="213233"/>
                  </a:moveTo>
                  <a:cubicBezTo>
                    <a:pt x="0" y="95504"/>
                    <a:pt x="95504" y="0"/>
                    <a:pt x="213233" y="0"/>
                  </a:cubicBezTo>
                  <a:lnTo>
                    <a:pt x="4858639" y="0"/>
                  </a:lnTo>
                  <a:cubicBezTo>
                    <a:pt x="4976368" y="0"/>
                    <a:pt x="5071872" y="95504"/>
                    <a:pt x="5071872" y="213233"/>
                  </a:cubicBezTo>
                  <a:lnTo>
                    <a:pt x="5071872" y="2452751"/>
                  </a:lnTo>
                  <a:cubicBezTo>
                    <a:pt x="5071872" y="2570480"/>
                    <a:pt x="4976368" y="2665984"/>
                    <a:pt x="4858639" y="2665984"/>
                  </a:cubicBezTo>
                  <a:lnTo>
                    <a:pt x="213233" y="2665984"/>
                  </a:lnTo>
                  <a:cubicBezTo>
                    <a:pt x="95504" y="2665984"/>
                    <a:pt x="0" y="2570480"/>
                    <a:pt x="0" y="2452751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559552" y="1658112"/>
            <a:ext cx="3413760" cy="1853184"/>
            <a:chOff x="0" y="0"/>
            <a:chExt cx="4551680" cy="24709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51680" cy="2470912"/>
            </a:xfrm>
            <a:custGeom>
              <a:avLst/>
              <a:gdLst/>
              <a:ahLst/>
              <a:cxnLst/>
              <a:rect r="r" b="b" t="t" l="l"/>
              <a:pathLst>
                <a:path h="2470912" w="4551680">
                  <a:moveTo>
                    <a:pt x="0" y="0"/>
                  </a:moveTo>
                  <a:lnTo>
                    <a:pt x="4551680" y="0"/>
                  </a:lnTo>
                  <a:lnTo>
                    <a:pt x="4551680" y="2470912"/>
                  </a:lnTo>
                  <a:lnTo>
                    <a:pt x="0" y="2470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650" t="0" r="-1965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551680" cy="2489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6"/>
                </a:lnSpc>
              </a:pPr>
              <a:r>
                <a:rPr lang="en-US" sz="2346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InfluenceIQ</a:t>
              </a:r>
            </a:p>
            <a:p>
              <a:pPr algn="l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 offline meeting-analysis system: local speech processing + a supervised discussion detector + source-linked evidence review.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364480" y="3755136"/>
            <a:ext cx="1121664" cy="682752"/>
            <a:chOff x="0" y="0"/>
            <a:chExt cx="1495552" cy="9103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5552" cy="910336"/>
            </a:xfrm>
            <a:custGeom>
              <a:avLst/>
              <a:gdLst/>
              <a:ahLst/>
              <a:cxnLst/>
              <a:rect r="r" b="b" t="t" l="l"/>
              <a:pathLst>
                <a:path h="910336" w="1495552">
                  <a:moveTo>
                    <a:pt x="0" y="0"/>
                  </a:moveTo>
                  <a:lnTo>
                    <a:pt x="1495552" y="0"/>
                  </a:lnTo>
                  <a:lnTo>
                    <a:pt x="1495552" y="910336"/>
                  </a:lnTo>
                  <a:lnTo>
                    <a:pt x="0" y="910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097" t="0" r="-2809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5552" cy="929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86144" y="3755136"/>
            <a:ext cx="2682240" cy="682752"/>
            <a:chOff x="0" y="0"/>
            <a:chExt cx="3576320" cy="9103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76320" cy="910336"/>
            </a:xfrm>
            <a:custGeom>
              <a:avLst/>
              <a:gdLst/>
              <a:ahLst/>
              <a:cxnLst/>
              <a:rect r="r" b="b" t="t" l="l"/>
              <a:pathLst>
                <a:path h="910336" w="3576320">
                  <a:moveTo>
                    <a:pt x="0" y="0"/>
                  </a:moveTo>
                  <a:lnTo>
                    <a:pt x="3576320" y="0"/>
                  </a:lnTo>
                  <a:lnTo>
                    <a:pt x="3576320" y="910336"/>
                  </a:lnTo>
                  <a:lnTo>
                    <a:pt x="0" y="910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576320" cy="929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64"/>
                </a:lnSpc>
              </a:pPr>
              <a:r>
                <a:rPr lang="en-US" sz="1386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AMI meetings with manual discussion annotations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64480" y="4535424"/>
            <a:ext cx="1121664" cy="682752"/>
            <a:chOff x="0" y="0"/>
            <a:chExt cx="1495552" cy="910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5552" cy="910336"/>
            </a:xfrm>
            <a:custGeom>
              <a:avLst/>
              <a:gdLst/>
              <a:ahLst/>
              <a:cxnLst/>
              <a:rect r="r" b="b" t="t" l="l"/>
              <a:pathLst>
                <a:path h="910336" w="1495552">
                  <a:moveTo>
                    <a:pt x="0" y="0"/>
                  </a:moveTo>
                  <a:lnTo>
                    <a:pt x="1495552" y="0"/>
                  </a:lnTo>
                  <a:lnTo>
                    <a:pt x="1495552" y="910336"/>
                  </a:lnTo>
                  <a:lnTo>
                    <a:pt x="0" y="910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097" t="0" r="-2809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495552" cy="929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86144" y="4535424"/>
            <a:ext cx="2682240" cy="682752"/>
            <a:chOff x="0" y="0"/>
            <a:chExt cx="3576320" cy="9103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76320" cy="910336"/>
            </a:xfrm>
            <a:custGeom>
              <a:avLst/>
              <a:gdLst/>
              <a:ahLst/>
              <a:cxnLst/>
              <a:rect r="r" b="b" t="t" l="l"/>
              <a:pathLst>
                <a:path h="910336" w="3576320">
                  <a:moveTo>
                    <a:pt x="0" y="0"/>
                  </a:moveTo>
                  <a:lnTo>
                    <a:pt x="3576320" y="0"/>
                  </a:lnTo>
                  <a:lnTo>
                    <a:pt x="3576320" y="910336"/>
                  </a:lnTo>
                  <a:lnTo>
                    <a:pt x="0" y="910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576320" cy="929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64"/>
                </a:lnSpc>
              </a:pPr>
              <a:r>
                <a:rPr lang="en-US" sz="1386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classifier families compared under one split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364480" y="5315712"/>
            <a:ext cx="1121664" cy="682752"/>
            <a:chOff x="0" y="0"/>
            <a:chExt cx="1495552" cy="910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95552" cy="910336"/>
            </a:xfrm>
            <a:custGeom>
              <a:avLst/>
              <a:gdLst/>
              <a:ahLst/>
              <a:cxnLst/>
              <a:rect r="r" b="b" t="t" l="l"/>
              <a:pathLst>
                <a:path h="910336" w="1495552">
                  <a:moveTo>
                    <a:pt x="0" y="0"/>
                  </a:moveTo>
                  <a:lnTo>
                    <a:pt x="1495552" y="0"/>
                  </a:lnTo>
                  <a:lnTo>
                    <a:pt x="1495552" y="910336"/>
                  </a:lnTo>
                  <a:lnTo>
                    <a:pt x="0" y="910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097" t="0" r="-2809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495552" cy="929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597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86144" y="5315712"/>
            <a:ext cx="2682240" cy="682752"/>
            <a:chOff x="0" y="0"/>
            <a:chExt cx="3576320" cy="910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76320" cy="910336"/>
            </a:xfrm>
            <a:custGeom>
              <a:avLst/>
              <a:gdLst/>
              <a:ahLst/>
              <a:cxnLst/>
              <a:rect r="r" b="b" t="t" l="l"/>
              <a:pathLst>
                <a:path h="910336" w="3576320">
                  <a:moveTo>
                    <a:pt x="0" y="0"/>
                  </a:moveTo>
                  <a:lnTo>
                    <a:pt x="3576320" y="0"/>
                  </a:lnTo>
                  <a:lnTo>
                    <a:pt x="3576320" y="910336"/>
                  </a:lnTo>
                  <a:lnTo>
                    <a:pt x="0" y="910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576320" cy="929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64"/>
                </a:lnSpc>
              </a:pPr>
              <a:r>
                <a:rPr lang="en-US" sz="1386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automated regression tests passed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5216" y="1560576"/>
            <a:ext cx="8583168" cy="1511808"/>
            <a:chOff x="0" y="0"/>
            <a:chExt cx="11444224" cy="20157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44224" cy="2015744"/>
            </a:xfrm>
            <a:custGeom>
              <a:avLst/>
              <a:gdLst/>
              <a:ahLst/>
              <a:cxnLst/>
              <a:rect r="r" b="b" t="t" l="l"/>
              <a:pathLst>
                <a:path h="2015744" w="11444224">
                  <a:moveTo>
                    <a:pt x="0" y="161290"/>
                  </a:moveTo>
                  <a:cubicBezTo>
                    <a:pt x="0" y="72136"/>
                    <a:pt x="72136" y="0"/>
                    <a:pt x="161290" y="0"/>
                  </a:cubicBezTo>
                  <a:lnTo>
                    <a:pt x="11282934" y="0"/>
                  </a:lnTo>
                  <a:cubicBezTo>
                    <a:pt x="11371961" y="0"/>
                    <a:pt x="11444224" y="72136"/>
                    <a:pt x="11444224" y="161290"/>
                  </a:cubicBezTo>
                  <a:lnTo>
                    <a:pt x="11444224" y="1854454"/>
                  </a:lnTo>
                  <a:cubicBezTo>
                    <a:pt x="11444224" y="1943481"/>
                    <a:pt x="11372088" y="2015744"/>
                    <a:pt x="11282934" y="2015744"/>
                  </a:cubicBezTo>
                  <a:lnTo>
                    <a:pt x="161290" y="2015744"/>
                  </a:lnTo>
                  <a:cubicBezTo>
                    <a:pt x="72263" y="2015744"/>
                    <a:pt x="0" y="1943608"/>
                    <a:pt x="0" y="1854454"/>
                  </a:cubicBezTo>
                  <a:close/>
                </a:path>
              </a:pathLst>
            </a:custGeom>
            <a:solidFill>
              <a:srgbClr val="FBECE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9056" y="1609344"/>
            <a:ext cx="8095488" cy="1414272"/>
            <a:chOff x="0" y="0"/>
            <a:chExt cx="10793984" cy="18856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93984" cy="1885696"/>
            </a:xfrm>
            <a:custGeom>
              <a:avLst/>
              <a:gdLst/>
              <a:ahLst/>
              <a:cxnLst/>
              <a:rect r="r" b="b" t="t" l="l"/>
              <a:pathLst>
                <a:path h="1885696" w="10793984">
                  <a:moveTo>
                    <a:pt x="0" y="0"/>
                  </a:moveTo>
                  <a:lnTo>
                    <a:pt x="10793984" y="0"/>
                  </a:lnTo>
                  <a:lnTo>
                    <a:pt x="10793984" y="1885696"/>
                  </a:lnTo>
                  <a:lnTo>
                    <a:pt x="0" y="18856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535" r="0" b="-615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793984" cy="1904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 i="true">
                  <a:solidFill>
                    <a:srgbClr val="222222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Given a meeting recording, locate the passages that belong to a decision discussion — offline, on local hardware — and present each suggestion with its original text, speaker and timestamp so a human can verify it.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5216" y="3364992"/>
            <a:ext cx="2731008" cy="2633472"/>
            <a:chOff x="0" y="0"/>
            <a:chExt cx="3641344" cy="35112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41344" cy="3511296"/>
            </a:xfrm>
            <a:custGeom>
              <a:avLst/>
              <a:gdLst/>
              <a:ahLst/>
              <a:cxnLst/>
              <a:rect r="r" b="b" t="t" l="l"/>
              <a:pathLst>
                <a:path h="3511296" w="3641344">
                  <a:moveTo>
                    <a:pt x="0" y="280924"/>
                  </a:moveTo>
                  <a:cubicBezTo>
                    <a:pt x="0" y="125730"/>
                    <a:pt x="125730" y="0"/>
                    <a:pt x="280924" y="0"/>
                  </a:cubicBezTo>
                  <a:lnTo>
                    <a:pt x="3360420" y="0"/>
                  </a:lnTo>
                  <a:cubicBezTo>
                    <a:pt x="3515614" y="0"/>
                    <a:pt x="3641344" y="125730"/>
                    <a:pt x="3641344" y="280924"/>
                  </a:cubicBezTo>
                  <a:lnTo>
                    <a:pt x="3641344" y="3230372"/>
                  </a:lnTo>
                  <a:cubicBezTo>
                    <a:pt x="3641344" y="3385566"/>
                    <a:pt x="3515614" y="3511296"/>
                    <a:pt x="3360420" y="3511296"/>
                  </a:cubicBezTo>
                  <a:lnTo>
                    <a:pt x="280924" y="3511296"/>
                  </a:lnTo>
                  <a:cubicBezTo>
                    <a:pt x="125730" y="3511296"/>
                    <a:pt x="0" y="3385566"/>
                    <a:pt x="0" y="323037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77240" y="3508705"/>
            <a:ext cx="2346960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Noisy inputs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7240" y="3908374"/>
            <a:ext cx="2346960" cy="196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ASR word errors and diarization errors propagate into every downstream label.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511296" y="3364992"/>
            <a:ext cx="2731008" cy="2633472"/>
            <a:chOff x="0" y="0"/>
            <a:chExt cx="3641344" cy="3511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41344" cy="3511296"/>
            </a:xfrm>
            <a:custGeom>
              <a:avLst/>
              <a:gdLst/>
              <a:ahLst/>
              <a:cxnLst/>
              <a:rect r="r" b="b" t="t" l="l"/>
              <a:pathLst>
                <a:path h="3511296" w="3641344">
                  <a:moveTo>
                    <a:pt x="0" y="280924"/>
                  </a:moveTo>
                  <a:cubicBezTo>
                    <a:pt x="0" y="125730"/>
                    <a:pt x="125730" y="0"/>
                    <a:pt x="280924" y="0"/>
                  </a:cubicBezTo>
                  <a:lnTo>
                    <a:pt x="3360420" y="0"/>
                  </a:lnTo>
                  <a:cubicBezTo>
                    <a:pt x="3515614" y="0"/>
                    <a:pt x="3641344" y="125730"/>
                    <a:pt x="3641344" y="280924"/>
                  </a:cubicBezTo>
                  <a:lnTo>
                    <a:pt x="3641344" y="3230372"/>
                  </a:lnTo>
                  <a:cubicBezTo>
                    <a:pt x="3641344" y="3385566"/>
                    <a:pt x="3515614" y="3511296"/>
                    <a:pt x="3360420" y="3511296"/>
                  </a:cubicBezTo>
                  <a:lnTo>
                    <a:pt x="280924" y="3511296"/>
                  </a:lnTo>
                  <a:cubicBezTo>
                    <a:pt x="125730" y="3511296"/>
                    <a:pt x="0" y="3385566"/>
                    <a:pt x="0" y="323037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3703320" y="3508705"/>
            <a:ext cx="2346960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Discussion ≠ decision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03320" y="3908374"/>
            <a:ext cx="2346960" cy="196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passage can concern a decision without recording a final agreement or action.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37376" y="3364992"/>
            <a:ext cx="2731008" cy="2633472"/>
            <a:chOff x="0" y="0"/>
            <a:chExt cx="3641344" cy="35112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41344" cy="3511296"/>
            </a:xfrm>
            <a:custGeom>
              <a:avLst/>
              <a:gdLst/>
              <a:ahLst/>
              <a:cxnLst/>
              <a:rect r="r" b="b" t="t" l="l"/>
              <a:pathLst>
                <a:path h="3511296" w="3641344">
                  <a:moveTo>
                    <a:pt x="0" y="280924"/>
                  </a:moveTo>
                  <a:cubicBezTo>
                    <a:pt x="0" y="125730"/>
                    <a:pt x="125730" y="0"/>
                    <a:pt x="280924" y="0"/>
                  </a:cubicBezTo>
                  <a:lnTo>
                    <a:pt x="3360420" y="0"/>
                  </a:lnTo>
                  <a:cubicBezTo>
                    <a:pt x="3515614" y="0"/>
                    <a:pt x="3641344" y="125730"/>
                    <a:pt x="3641344" y="280924"/>
                  </a:cubicBezTo>
                  <a:lnTo>
                    <a:pt x="3641344" y="3230372"/>
                  </a:lnTo>
                  <a:cubicBezTo>
                    <a:pt x="3641344" y="3385566"/>
                    <a:pt x="3515614" y="3511296"/>
                    <a:pt x="3360420" y="3511296"/>
                  </a:cubicBezTo>
                  <a:lnTo>
                    <a:pt x="280924" y="3511296"/>
                  </a:lnTo>
                  <a:cubicBezTo>
                    <a:pt x="125730" y="3511296"/>
                    <a:pt x="0" y="3385566"/>
                    <a:pt x="0" y="323037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629400" y="3508705"/>
            <a:ext cx="2346960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Multilingual meetings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29400" y="3908374"/>
            <a:ext cx="2346960" cy="196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Hindi and Hinglish speech must be handled honestly by an English-trained detector.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 of the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5216" y="1638605"/>
            <a:ext cx="409651" cy="409651"/>
            <a:chOff x="0" y="0"/>
            <a:chExt cx="546202" cy="5462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46202" cy="555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0432" y="1560576"/>
            <a:ext cx="7997952" cy="829056"/>
            <a:chOff x="0" y="0"/>
            <a:chExt cx="10663936" cy="1105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63934" cy="1105408"/>
            </a:xfrm>
            <a:custGeom>
              <a:avLst/>
              <a:gdLst/>
              <a:ahLst/>
              <a:cxnLst/>
              <a:rect r="r" b="b" t="t" l="l"/>
              <a:pathLst>
                <a:path h="1105408" w="10663934">
                  <a:moveTo>
                    <a:pt x="0" y="0"/>
                  </a:moveTo>
                  <a:lnTo>
                    <a:pt x="10663934" y="0"/>
                  </a:lnTo>
                  <a:lnTo>
                    <a:pt x="10663934" y="1105408"/>
                  </a:lnTo>
                  <a:lnTo>
                    <a:pt x="0" y="1105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663936" cy="1124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Offline workflow: </a:t>
              </a:r>
              <a:r>
                <a:rPr lang="en-US" sz="1706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Local speech recognition, diarization and optional slide (PPTX) alignment with no remote inference.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5216" y="2535936"/>
            <a:ext cx="409651" cy="409651"/>
            <a:chOff x="0" y="0"/>
            <a:chExt cx="546202" cy="5462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46202" cy="555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0432" y="2457907"/>
            <a:ext cx="7997952" cy="829056"/>
            <a:chOff x="0" y="0"/>
            <a:chExt cx="10663936" cy="11054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63934" cy="1105408"/>
            </a:xfrm>
            <a:custGeom>
              <a:avLst/>
              <a:gdLst/>
              <a:ahLst/>
              <a:cxnLst/>
              <a:rect r="r" b="b" t="t" l="l"/>
              <a:pathLst>
                <a:path h="1105408" w="10663934">
                  <a:moveTo>
                    <a:pt x="0" y="0"/>
                  </a:moveTo>
                  <a:lnTo>
                    <a:pt x="10663934" y="0"/>
                  </a:lnTo>
                  <a:lnTo>
                    <a:pt x="10663934" y="1105408"/>
                  </a:lnTo>
                  <a:lnTo>
                    <a:pt x="0" y="1105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663936" cy="1124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Discussion detector: </a:t>
              </a:r>
              <a:r>
                <a:rPr lang="en-US" sz="1706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 whether ±40-act lexical context and a forest/linear score mix beat matched lexical classifiers.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85216" y="3433267"/>
            <a:ext cx="409651" cy="409651"/>
            <a:chOff x="0" y="0"/>
            <a:chExt cx="546202" cy="5462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46202" cy="555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70432" y="3355238"/>
            <a:ext cx="7997952" cy="829056"/>
            <a:chOff x="0" y="0"/>
            <a:chExt cx="10663936" cy="11054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63934" cy="1105408"/>
            </a:xfrm>
            <a:custGeom>
              <a:avLst/>
              <a:gdLst/>
              <a:ahLst/>
              <a:cxnLst/>
              <a:rect r="r" b="b" t="t" l="l"/>
              <a:pathLst>
                <a:path h="1105408" w="10663934">
                  <a:moveTo>
                    <a:pt x="0" y="0"/>
                  </a:moveTo>
                  <a:lnTo>
                    <a:pt x="10663934" y="0"/>
                  </a:lnTo>
                  <a:lnTo>
                    <a:pt x="10663934" y="1105408"/>
                  </a:lnTo>
                  <a:lnTo>
                    <a:pt x="0" y="1105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0663936" cy="1124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Source-linked evidence: </a:t>
              </a:r>
              <a:r>
                <a:rPr lang="en-US" sz="1706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Keep segment IDs, verbatim text, speaker labels and timestamps with audio seek for review.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85216" y="4330598"/>
            <a:ext cx="409651" cy="409651"/>
            <a:chOff x="0" y="0"/>
            <a:chExt cx="546202" cy="5462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46202" cy="555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0432" y="4252570"/>
            <a:ext cx="7997952" cy="829056"/>
            <a:chOff x="0" y="0"/>
            <a:chExt cx="10663936" cy="11054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63934" cy="1105408"/>
            </a:xfrm>
            <a:custGeom>
              <a:avLst/>
              <a:gdLst/>
              <a:ahLst/>
              <a:cxnLst/>
              <a:rect r="r" b="b" t="t" l="l"/>
              <a:pathLst>
                <a:path h="1105408" w="10663934">
                  <a:moveTo>
                    <a:pt x="0" y="0"/>
                  </a:moveTo>
                  <a:lnTo>
                    <a:pt x="10663934" y="0"/>
                  </a:lnTo>
                  <a:lnTo>
                    <a:pt x="10663934" y="1105408"/>
                  </a:lnTo>
                  <a:lnTo>
                    <a:pt x="0" y="1105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663936" cy="1124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Speech-error analysis: </a:t>
              </a:r>
              <a:r>
                <a:rPr lang="en-US" sz="1706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Measure WER/CER and diarization error, including Hindi and Hinglish pilots.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85216" y="5227930"/>
            <a:ext cx="409651" cy="409651"/>
            <a:chOff x="0" y="0"/>
            <a:chExt cx="546202" cy="54620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46202" cy="555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70432" y="5149901"/>
            <a:ext cx="7997952" cy="829056"/>
            <a:chOff x="0" y="0"/>
            <a:chExt cx="10663936" cy="11054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63934" cy="1105408"/>
            </a:xfrm>
            <a:custGeom>
              <a:avLst/>
              <a:gdLst/>
              <a:ahLst/>
              <a:cxnLst/>
              <a:rect r="r" b="b" t="t" l="l"/>
              <a:pathLst>
                <a:path h="1105408" w="10663934">
                  <a:moveTo>
                    <a:pt x="0" y="0"/>
                  </a:moveTo>
                  <a:lnTo>
                    <a:pt x="10663934" y="0"/>
                  </a:lnTo>
                  <a:lnTo>
                    <a:pt x="10663934" y="1105408"/>
                  </a:lnTo>
                  <a:lnTo>
                    <a:pt x="0" y="1105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0663936" cy="1124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Transparent reporting: </a:t>
              </a:r>
              <a:r>
                <a:rPr lang="en-US" sz="1706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Report rejected and negative results instead of a single combined accuracy figure.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Plan with Timeline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5216" y="1560576"/>
            <a:ext cx="2731008" cy="1950720"/>
            <a:chOff x="0" y="0"/>
            <a:chExt cx="3641344" cy="2600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41344" cy="2600960"/>
            </a:xfrm>
            <a:custGeom>
              <a:avLst/>
              <a:gdLst/>
              <a:ahLst/>
              <a:cxnLst/>
              <a:rect r="r" b="b" t="t" l="l"/>
              <a:pathLst>
                <a:path h="2600960" w="3641344">
                  <a:moveTo>
                    <a:pt x="0" y="208026"/>
                  </a:moveTo>
                  <a:cubicBezTo>
                    <a:pt x="0" y="93218"/>
                    <a:pt x="93218" y="0"/>
                    <a:pt x="208026" y="0"/>
                  </a:cubicBezTo>
                  <a:lnTo>
                    <a:pt x="3433318" y="0"/>
                  </a:lnTo>
                  <a:cubicBezTo>
                    <a:pt x="3548253" y="0"/>
                    <a:pt x="3641344" y="93218"/>
                    <a:pt x="3641344" y="208026"/>
                  </a:cubicBezTo>
                  <a:lnTo>
                    <a:pt x="3641344" y="2392934"/>
                  </a:lnTo>
                  <a:cubicBezTo>
                    <a:pt x="3641344" y="2507869"/>
                    <a:pt x="3548126" y="2600960"/>
                    <a:pt x="3433318" y="2600960"/>
                  </a:cubicBezTo>
                  <a:lnTo>
                    <a:pt x="208026" y="2600960"/>
                  </a:lnTo>
                  <a:cubicBezTo>
                    <a:pt x="93218" y="2600960"/>
                    <a:pt x="0" y="2507742"/>
                    <a:pt x="0" y="239293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1706880"/>
            <a:ext cx="390144" cy="390144"/>
            <a:chOff x="0" y="0"/>
            <a:chExt cx="520192" cy="520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0192" cy="520192"/>
            </a:xfrm>
            <a:custGeom>
              <a:avLst/>
              <a:gdLst/>
              <a:ahLst/>
              <a:cxnLst/>
              <a:rect r="r" b="b" t="t" l="l"/>
              <a:pathLst>
                <a:path h="520192" w="520192">
                  <a:moveTo>
                    <a:pt x="0" y="260096"/>
                  </a:moveTo>
                  <a:cubicBezTo>
                    <a:pt x="0" y="116459"/>
                    <a:pt x="116459" y="0"/>
                    <a:pt x="260096" y="0"/>
                  </a:cubicBezTo>
                  <a:cubicBezTo>
                    <a:pt x="403733" y="0"/>
                    <a:pt x="520192" y="116459"/>
                    <a:pt x="520192" y="260096"/>
                  </a:cubicBezTo>
                  <a:cubicBezTo>
                    <a:pt x="520192" y="403733"/>
                    <a:pt x="403733" y="520192"/>
                    <a:pt x="260096" y="520192"/>
                  </a:cubicBezTo>
                  <a:cubicBezTo>
                    <a:pt x="116459" y="520192"/>
                    <a:pt x="0" y="403733"/>
                    <a:pt x="0" y="260096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20192" cy="529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9200" y="1658112"/>
            <a:ext cx="1999488" cy="536448"/>
            <a:chOff x="0" y="0"/>
            <a:chExt cx="2665984" cy="7152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65983" cy="715264"/>
            </a:xfrm>
            <a:custGeom>
              <a:avLst/>
              <a:gdLst/>
              <a:ahLst/>
              <a:cxnLst/>
              <a:rect r="r" b="b" t="t" l="l"/>
              <a:pathLst>
                <a:path h="715264" w="2665983">
                  <a:moveTo>
                    <a:pt x="0" y="0"/>
                  </a:moveTo>
                  <a:lnTo>
                    <a:pt x="2665983" y="0"/>
                  </a:lnTo>
                  <a:lnTo>
                    <a:pt x="2665983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665984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 &amp; scoping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77240" y="2318766"/>
            <a:ext cx="2346960" cy="80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Meeting assistants, Whisper, diarization, multilingual benchmarks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7240" y="3128315"/>
            <a:ext cx="2346960" cy="2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 i="true">
                <a:solidFill>
                  <a:srgbClr val="8C8C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Period: add month(s)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511296" y="1560576"/>
            <a:ext cx="2731008" cy="1950720"/>
            <a:chOff x="0" y="0"/>
            <a:chExt cx="3641344" cy="2600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41344" cy="2600960"/>
            </a:xfrm>
            <a:custGeom>
              <a:avLst/>
              <a:gdLst/>
              <a:ahLst/>
              <a:cxnLst/>
              <a:rect r="r" b="b" t="t" l="l"/>
              <a:pathLst>
                <a:path h="2600960" w="3641344">
                  <a:moveTo>
                    <a:pt x="0" y="208026"/>
                  </a:moveTo>
                  <a:cubicBezTo>
                    <a:pt x="0" y="93218"/>
                    <a:pt x="93218" y="0"/>
                    <a:pt x="208026" y="0"/>
                  </a:cubicBezTo>
                  <a:lnTo>
                    <a:pt x="3433318" y="0"/>
                  </a:lnTo>
                  <a:cubicBezTo>
                    <a:pt x="3548253" y="0"/>
                    <a:pt x="3641344" y="93218"/>
                    <a:pt x="3641344" y="208026"/>
                  </a:cubicBezTo>
                  <a:lnTo>
                    <a:pt x="3641344" y="2392934"/>
                  </a:lnTo>
                  <a:cubicBezTo>
                    <a:pt x="3641344" y="2507869"/>
                    <a:pt x="3548126" y="2600960"/>
                    <a:pt x="3433318" y="2600960"/>
                  </a:cubicBezTo>
                  <a:lnTo>
                    <a:pt x="208026" y="2600960"/>
                  </a:lnTo>
                  <a:cubicBezTo>
                    <a:pt x="93218" y="2600960"/>
                    <a:pt x="0" y="2507742"/>
                    <a:pt x="0" y="239293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657600" y="1706880"/>
            <a:ext cx="390144" cy="390144"/>
            <a:chOff x="0" y="0"/>
            <a:chExt cx="520192" cy="5201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0192" cy="520192"/>
            </a:xfrm>
            <a:custGeom>
              <a:avLst/>
              <a:gdLst/>
              <a:ahLst/>
              <a:cxnLst/>
              <a:rect r="r" b="b" t="t" l="l"/>
              <a:pathLst>
                <a:path h="520192" w="520192">
                  <a:moveTo>
                    <a:pt x="0" y="260096"/>
                  </a:moveTo>
                  <a:cubicBezTo>
                    <a:pt x="0" y="116459"/>
                    <a:pt x="116459" y="0"/>
                    <a:pt x="260096" y="0"/>
                  </a:cubicBezTo>
                  <a:cubicBezTo>
                    <a:pt x="403733" y="0"/>
                    <a:pt x="520192" y="116459"/>
                    <a:pt x="520192" y="260096"/>
                  </a:cubicBezTo>
                  <a:cubicBezTo>
                    <a:pt x="520192" y="403733"/>
                    <a:pt x="403733" y="520192"/>
                    <a:pt x="260096" y="520192"/>
                  </a:cubicBezTo>
                  <a:cubicBezTo>
                    <a:pt x="116459" y="520192"/>
                    <a:pt x="0" y="403733"/>
                    <a:pt x="0" y="260096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20192" cy="529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145280" y="1658112"/>
            <a:ext cx="1999488" cy="536448"/>
            <a:chOff x="0" y="0"/>
            <a:chExt cx="2665984" cy="7152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65983" cy="715264"/>
            </a:xfrm>
            <a:custGeom>
              <a:avLst/>
              <a:gdLst/>
              <a:ahLst/>
              <a:cxnLst/>
              <a:rect r="r" b="b" t="t" l="l"/>
              <a:pathLst>
                <a:path h="715264" w="2665983">
                  <a:moveTo>
                    <a:pt x="0" y="0"/>
                  </a:moveTo>
                  <a:lnTo>
                    <a:pt x="2665983" y="0"/>
                  </a:lnTo>
                  <a:lnTo>
                    <a:pt x="2665983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665984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preparation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703320" y="2318766"/>
            <a:ext cx="2346960" cy="80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 project-separated split; FLEURS Hindi &amp; MUCS Hinglish samples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703320" y="3128315"/>
            <a:ext cx="2346960" cy="2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 i="true">
                <a:solidFill>
                  <a:srgbClr val="8C8C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Period: add month(s)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437376" y="1560576"/>
            <a:ext cx="2731008" cy="1950720"/>
            <a:chOff x="0" y="0"/>
            <a:chExt cx="3641344" cy="2600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41344" cy="2600960"/>
            </a:xfrm>
            <a:custGeom>
              <a:avLst/>
              <a:gdLst/>
              <a:ahLst/>
              <a:cxnLst/>
              <a:rect r="r" b="b" t="t" l="l"/>
              <a:pathLst>
                <a:path h="2600960" w="3641344">
                  <a:moveTo>
                    <a:pt x="0" y="208026"/>
                  </a:moveTo>
                  <a:cubicBezTo>
                    <a:pt x="0" y="93218"/>
                    <a:pt x="93218" y="0"/>
                    <a:pt x="208026" y="0"/>
                  </a:cubicBezTo>
                  <a:lnTo>
                    <a:pt x="3433318" y="0"/>
                  </a:lnTo>
                  <a:cubicBezTo>
                    <a:pt x="3548253" y="0"/>
                    <a:pt x="3641344" y="93218"/>
                    <a:pt x="3641344" y="208026"/>
                  </a:cubicBezTo>
                  <a:lnTo>
                    <a:pt x="3641344" y="2392934"/>
                  </a:lnTo>
                  <a:cubicBezTo>
                    <a:pt x="3641344" y="2507869"/>
                    <a:pt x="3548126" y="2600960"/>
                    <a:pt x="3433318" y="2600960"/>
                  </a:cubicBezTo>
                  <a:lnTo>
                    <a:pt x="208026" y="2600960"/>
                  </a:lnTo>
                  <a:cubicBezTo>
                    <a:pt x="93218" y="2600960"/>
                    <a:pt x="0" y="2507742"/>
                    <a:pt x="0" y="239293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83680" y="1706880"/>
            <a:ext cx="390144" cy="390144"/>
            <a:chOff x="0" y="0"/>
            <a:chExt cx="520192" cy="5201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0192" cy="520192"/>
            </a:xfrm>
            <a:custGeom>
              <a:avLst/>
              <a:gdLst/>
              <a:ahLst/>
              <a:cxnLst/>
              <a:rect r="r" b="b" t="t" l="l"/>
              <a:pathLst>
                <a:path h="520192" w="520192">
                  <a:moveTo>
                    <a:pt x="0" y="260096"/>
                  </a:moveTo>
                  <a:cubicBezTo>
                    <a:pt x="0" y="116459"/>
                    <a:pt x="116459" y="0"/>
                    <a:pt x="260096" y="0"/>
                  </a:cubicBezTo>
                  <a:cubicBezTo>
                    <a:pt x="403733" y="0"/>
                    <a:pt x="520192" y="116459"/>
                    <a:pt x="520192" y="260096"/>
                  </a:cubicBezTo>
                  <a:cubicBezTo>
                    <a:pt x="520192" y="403733"/>
                    <a:pt x="403733" y="520192"/>
                    <a:pt x="260096" y="520192"/>
                  </a:cubicBezTo>
                  <a:cubicBezTo>
                    <a:pt x="116459" y="520192"/>
                    <a:pt x="0" y="403733"/>
                    <a:pt x="0" y="260096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20192" cy="529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071360" y="1658112"/>
            <a:ext cx="1999488" cy="536448"/>
            <a:chOff x="0" y="0"/>
            <a:chExt cx="2665984" cy="7152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65983" cy="715264"/>
            </a:xfrm>
            <a:custGeom>
              <a:avLst/>
              <a:gdLst/>
              <a:ahLst/>
              <a:cxnLst/>
              <a:rect r="r" b="b" t="t" l="l"/>
              <a:pathLst>
                <a:path h="715264" w="2665983">
                  <a:moveTo>
                    <a:pt x="0" y="0"/>
                  </a:moveTo>
                  <a:lnTo>
                    <a:pt x="2665983" y="0"/>
                  </a:lnTo>
                  <a:lnTo>
                    <a:pt x="2665983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665984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Detector modelling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629400" y="2318766"/>
            <a:ext cx="2346960" cy="80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classifier families × 2 lexical representations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629400" y="3128315"/>
            <a:ext cx="2346960" cy="2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 i="true">
                <a:solidFill>
                  <a:srgbClr val="8C8C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Period: add month(s)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585216" y="3852672"/>
            <a:ext cx="2731008" cy="1950720"/>
            <a:chOff x="0" y="0"/>
            <a:chExt cx="3641344" cy="2600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41344" cy="2600960"/>
            </a:xfrm>
            <a:custGeom>
              <a:avLst/>
              <a:gdLst/>
              <a:ahLst/>
              <a:cxnLst/>
              <a:rect r="r" b="b" t="t" l="l"/>
              <a:pathLst>
                <a:path h="2600960" w="3641344">
                  <a:moveTo>
                    <a:pt x="0" y="208026"/>
                  </a:moveTo>
                  <a:cubicBezTo>
                    <a:pt x="0" y="93218"/>
                    <a:pt x="93218" y="0"/>
                    <a:pt x="208026" y="0"/>
                  </a:cubicBezTo>
                  <a:lnTo>
                    <a:pt x="3433318" y="0"/>
                  </a:lnTo>
                  <a:cubicBezTo>
                    <a:pt x="3548253" y="0"/>
                    <a:pt x="3641344" y="93218"/>
                    <a:pt x="3641344" y="208026"/>
                  </a:cubicBezTo>
                  <a:lnTo>
                    <a:pt x="3641344" y="2392934"/>
                  </a:lnTo>
                  <a:cubicBezTo>
                    <a:pt x="3641344" y="2507869"/>
                    <a:pt x="3548126" y="2600960"/>
                    <a:pt x="3433318" y="2600960"/>
                  </a:cubicBezTo>
                  <a:lnTo>
                    <a:pt x="208026" y="2600960"/>
                  </a:lnTo>
                  <a:cubicBezTo>
                    <a:pt x="93218" y="2600960"/>
                    <a:pt x="0" y="2507742"/>
                    <a:pt x="0" y="239293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31520" y="3998976"/>
            <a:ext cx="390144" cy="390144"/>
            <a:chOff x="0" y="0"/>
            <a:chExt cx="520192" cy="5201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0192" cy="520192"/>
            </a:xfrm>
            <a:custGeom>
              <a:avLst/>
              <a:gdLst/>
              <a:ahLst/>
              <a:cxnLst/>
              <a:rect r="r" b="b" t="t" l="l"/>
              <a:pathLst>
                <a:path h="520192" w="520192">
                  <a:moveTo>
                    <a:pt x="0" y="260096"/>
                  </a:moveTo>
                  <a:cubicBezTo>
                    <a:pt x="0" y="116459"/>
                    <a:pt x="116459" y="0"/>
                    <a:pt x="260096" y="0"/>
                  </a:cubicBezTo>
                  <a:cubicBezTo>
                    <a:pt x="403733" y="0"/>
                    <a:pt x="520192" y="116459"/>
                    <a:pt x="520192" y="260096"/>
                  </a:cubicBezTo>
                  <a:cubicBezTo>
                    <a:pt x="520192" y="403733"/>
                    <a:pt x="403733" y="520192"/>
                    <a:pt x="260096" y="520192"/>
                  </a:cubicBezTo>
                  <a:cubicBezTo>
                    <a:pt x="116459" y="520192"/>
                    <a:pt x="0" y="403733"/>
                    <a:pt x="0" y="260096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20192" cy="529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19200" y="3950208"/>
            <a:ext cx="1999488" cy="536448"/>
            <a:chOff x="0" y="0"/>
            <a:chExt cx="2665984" cy="7152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65983" cy="715264"/>
            </a:xfrm>
            <a:custGeom>
              <a:avLst/>
              <a:gdLst/>
              <a:ahLst/>
              <a:cxnLst/>
              <a:rect r="r" b="b" t="t" l="l"/>
              <a:pathLst>
                <a:path h="715264" w="2665983">
                  <a:moveTo>
                    <a:pt x="0" y="0"/>
                  </a:moveTo>
                  <a:lnTo>
                    <a:pt x="2665983" y="0"/>
                  </a:lnTo>
                  <a:lnTo>
                    <a:pt x="2665983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665984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Score combination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777240" y="4610862"/>
            <a:ext cx="2346960" cy="80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Forest/linear mixture, smoothing and threshold on development data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7240" y="5420411"/>
            <a:ext cx="2346960" cy="2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 i="true">
                <a:solidFill>
                  <a:srgbClr val="8C8C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Period: add month(s)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3511296" y="3852672"/>
            <a:ext cx="2731008" cy="1950720"/>
            <a:chOff x="0" y="0"/>
            <a:chExt cx="3641344" cy="2600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41344" cy="2600960"/>
            </a:xfrm>
            <a:custGeom>
              <a:avLst/>
              <a:gdLst/>
              <a:ahLst/>
              <a:cxnLst/>
              <a:rect r="r" b="b" t="t" l="l"/>
              <a:pathLst>
                <a:path h="2600960" w="3641344">
                  <a:moveTo>
                    <a:pt x="0" y="208026"/>
                  </a:moveTo>
                  <a:cubicBezTo>
                    <a:pt x="0" y="93218"/>
                    <a:pt x="93218" y="0"/>
                    <a:pt x="208026" y="0"/>
                  </a:cubicBezTo>
                  <a:lnTo>
                    <a:pt x="3433318" y="0"/>
                  </a:lnTo>
                  <a:cubicBezTo>
                    <a:pt x="3548253" y="0"/>
                    <a:pt x="3641344" y="93218"/>
                    <a:pt x="3641344" y="208026"/>
                  </a:cubicBezTo>
                  <a:lnTo>
                    <a:pt x="3641344" y="2392934"/>
                  </a:lnTo>
                  <a:cubicBezTo>
                    <a:pt x="3641344" y="2507869"/>
                    <a:pt x="3548126" y="2600960"/>
                    <a:pt x="3433318" y="2600960"/>
                  </a:cubicBezTo>
                  <a:lnTo>
                    <a:pt x="208026" y="2600960"/>
                  </a:lnTo>
                  <a:cubicBezTo>
                    <a:pt x="93218" y="2600960"/>
                    <a:pt x="0" y="2507742"/>
                    <a:pt x="0" y="239293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3657600" y="3998976"/>
            <a:ext cx="390144" cy="390144"/>
            <a:chOff x="0" y="0"/>
            <a:chExt cx="520192" cy="5201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0192" cy="520192"/>
            </a:xfrm>
            <a:custGeom>
              <a:avLst/>
              <a:gdLst/>
              <a:ahLst/>
              <a:cxnLst/>
              <a:rect r="r" b="b" t="t" l="l"/>
              <a:pathLst>
                <a:path h="520192" w="520192">
                  <a:moveTo>
                    <a:pt x="0" y="260096"/>
                  </a:moveTo>
                  <a:cubicBezTo>
                    <a:pt x="0" y="116459"/>
                    <a:pt x="116459" y="0"/>
                    <a:pt x="260096" y="0"/>
                  </a:cubicBezTo>
                  <a:cubicBezTo>
                    <a:pt x="403733" y="0"/>
                    <a:pt x="520192" y="116459"/>
                    <a:pt x="520192" y="260096"/>
                  </a:cubicBezTo>
                  <a:cubicBezTo>
                    <a:pt x="520192" y="403733"/>
                    <a:pt x="403733" y="520192"/>
                    <a:pt x="260096" y="520192"/>
                  </a:cubicBezTo>
                  <a:cubicBezTo>
                    <a:pt x="116459" y="520192"/>
                    <a:pt x="0" y="403733"/>
                    <a:pt x="0" y="260096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20192" cy="529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145280" y="3950208"/>
            <a:ext cx="1999488" cy="536448"/>
            <a:chOff x="0" y="0"/>
            <a:chExt cx="2665984" cy="7152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665983" cy="715264"/>
            </a:xfrm>
            <a:custGeom>
              <a:avLst/>
              <a:gdLst/>
              <a:ahLst/>
              <a:cxnLst/>
              <a:rect r="r" b="b" t="t" l="l"/>
              <a:pathLst>
                <a:path h="715264" w="2665983">
                  <a:moveTo>
                    <a:pt x="0" y="0"/>
                  </a:moveTo>
                  <a:lnTo>
                    <a:pt x="2665983" y="0"/>
                  </a:lnTo>
                  <a:lnTo>
                    <a:pt x="2665983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2665984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Speech &amp; diarization pilots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3703320" y="4610862"/>
            <a:ext cx="2346960" cy="80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ASR model comparison; diarization threshold calibration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703320" y="5420411"/>
            <a:ext cx="2346960" cy="2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 i="true">
                <a:solidFill>
                  <a:srgbClr val="8C8C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Period: add month(s)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6437376" y="3852672"/>
            <a:ext cx="2731008" cy="1950720"/>
            <a:chOff x="0" y="0"/>
            <a:chExt cx="3641344" cy="26009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41344" cy="2600960"/>
            </a:xfrm>
            <a:custGeom>
              <a:avLst/>
              <a:gdLst/>
              <a:ahLst/>
              <a:cxnLst/>
              <a:rect r="r" b="b" t="t" l="l"/>
              <a:pathLst>
                <a:path h="2600960" w="3641344">
                  <a:moveTo>
                    <a:pt x="0" y="208026"/>
                  </a:moveTo>
                  <a:cubicBezTo>
                    <a:pt x="0" y="93218"/>
                    <a:pt x="93218" y="0"/>
                    <a:pt x="208026" y="0"/>
                  </a:cubicBezTo>
                  <a:lnTo>
                    <a:pt x="3433318" y="0"/>
                  </a:lnTo>
                  <a:cubicBezTo>
                    <a:pt x="3548253" y="0"/>
                    <a:pt x="3641344" y="93218"/>
                    <a:pt x="3641344" y="208026"/>
                  </a:cubicBezTo>
                  <a:lnTo>
                    <a:pt x="3641344" y="2392934"/>
                  </a:lnTo>
                  <a:cubicBezTo>
                    <a:pt x="3641344" y="2507869"/>
                    <a:pt x="3548126" y="2600960"/>
                    <a:pt x="3433318" y="2600960"/>
                  </a:cubicBezTo>
                  <a:lnTo>
                    <a:pt x="208026" y="2600960"/>
                  </a:lnTo>
                  <a:cubicBezTo>
                    <a:pt x="93218" y="2600960"/>
                    <a:pt x="0" y="2507742"/>
                    <a:pt x="0" y="239293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583680" y="3998976"/>
            <a:ext cx="390144" cy="390144"/>
            <a:chOff x="0" y="0"/>
            <a:chExt cx="520192" cy="5201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0192" cy="520192"/>
            </a:xfrm>
            <a:custGeom>
              <a:avLst/>
              <a:gdLst/>
              <a:ahLst/>
              <a:cxnLst/>
              <a:rect r="r" b="b" t="t" l="l"/>
              <a:pathLst>
                <a:path h="520192" w="520192">
                  <a:moveTo>
                    <a:pt x="0" y="260096"/>
                  </a:moveTo>
                  <a:cubicBezTo>
                    <a:pt x="0" y="116459"/>
                    <a:pt x="116459" y="0"/>
                    <a:pt x="260096" y="0"/>
                  </a:cubicBezTo>
                  <a:cubicBezTo>
                    <a:pt x="403733" y="0"/>
                    <a:pt x="520192" y="116459"/>
                    <a:pt x="520192" y="260096"/>
                  </a:cubicBezTo>
                  <a:cubicBezTo>
                    <a:pt x="520192" y="403733"/>
                    <a:pt x="403733" y="520192"/>
                    <a:pt x="260096" y="520192"/>
                  </a:cubicBezTo>
                  <a:cubicBezTo>
                    <a:pt x="116459" y="520192"/>
                    <a:pt x="0" y="403733"/>
                    <a:pt x="0" y="260096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520192" cy="529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071360" y="3950208"/>
            <a:ext cx="1999488" cy="536448"/>
            <a:chOff x="0" y="0"/>
            <a:chExt cx="2665984" cy="7152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65983" cy="715264"/>
            </a:xfrm>
            <a:custGeom>
              <a:avLst/>
              <a:gdLst/>
              <a:ahLst/>
              <a:cxnLst/>
              <a:rect r="r" b="b" t="t" l="l"/>
              <a:pathLst>
                <a:path h="715264" w="2665983">
                  <a:moveTo>
                    <a:pt x="0" y="0"/>
                  </a:moveTo>
                  <a:lnTo>
                    <a:pt x="2665983" y="0"/>
                  </a:lnTo>
                  <a:lnTo>
                    <a:pt x="2665983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2665984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B012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Integration, testing &amp; paper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6629400" y="4610862"/>
            <a:ext cx="2346960" cy="80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review, exports, 597-test regression, ESE report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629400" y="5420411"/>
            <a:ext cx="2346960" cy="2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 i="true">
                <a:solidFill>
                  <a:srgbClr val="8C8C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Period: add month(s)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30936" y="6171438"/>
            <a:ext cx="8491728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8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Phases run sequentially across AY 2026–27; each later phase builds on frozen selections from the previous one.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487680" y="1511808"/>
          <a:ext cx="8764693" cy="4660053"/>
        </p:xfrm>
        <a:graphic>
          <a:graphicData uri="http://schemas.openxmlformats.org/drawingml/2006/table">
            <a:tbl>
              <a:tblPr/>
              <a:tblGrid>
                <a:gridCol w="2532023"/>
                <a:gridCol w="2872872"/>
                <a:gridCol w="3359799"/>
              </a:tblGrid>
              <a:tr h="58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Relevance to InfluenceIQ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</a:tr>
              <a:tr h="58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Tur et al. 2010 — CALO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Transcription + semantic interpretation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Broader assistant; we bound the task to discussion review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Radford et al. 2023 — Whisper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Multilingual ASR, weak supervision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Basis of the local faster-whisper recogniser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8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Bain et al. 2023 — WhisperX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Time-accurate long-form ASR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Motivates alignment; full pipeline not used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Bredin 2023; Plaquet &amp; Bredin 2023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pyannote diarization; overlap-aware powerset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 speaker attribution separately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8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Macháček et al. 2023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Streaming Whisper commit policies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 use bounded preview windows + full post-capture pass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DISPLACE 2023/24; Vistaar 2023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Multilingual diarization; Indian-language ASR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Motivate code-switched meeting evaluation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8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MeetingBank 2023; ExplainMeetSum 2023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Meeting summarisation; evidence-aligned summaries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 give extractive, source-linked suggestions instead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Gap in the Research / Technology / Methodology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5216" y="1560576"/>
            <a:ext cx="4194048" cy="2097024"/>
            <a:chOff x="0" y="0"/>
            <a:chExt cx="5592064" cy="27960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92064" cy="2796032"/>
            </a:xfrm>
            <a:custGeom>
              <a:avLst/>
              <a:gdLst/>
              <a:ahLst/>
              <a:cxnLst/>
              <a:rect r="r" b="b" t="t" l="l"/>
              <a:pathLst>
                <a:path h="2796032" w="5592064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5368417" y="0"/>
                  </a:lnTo>
                  <a:cubicBezTo>
                    <a:pt x="5491988" y="0"/>
                    <a:pt x="5592064" y="100203"/>
                    <a:pt x="5592064" y="223647"/>
                  </a:cubicBezTo>
                  <a:lnTo>
                    <a:pt x="5592064" y="2572385"/>
                  </a:lnTo>
                  <a:cubicBezTo>
                    <a:pt x="5592064" y="2695956"/>
                    <a:pt x="5491861" y="2796032"/>
                    <a:pt x="5368417" y="2796032"/>
                  </a:cubicBezTo>
                  <a:lnTo>
                    <a:pt x="223647" y="2796032"/>
                  </a:lnTo>
                  <a:cubicBezTo>
                    <a:pt x="100203" y="2796032"/>
                    <a:pt x="0" y="2695829"/>
                    <a:pt x="0" y="257238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77240" y="1704289"/>
            <a:ext cx="3810000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 traceability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7240" y="2094433"/>
            <a:ext cx="3810000" cy="143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summaries rarely link each claim back to the exact segment, speaker and timestamp.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974336" y="1560576"/>
            <a:ext cx="4194048" cy="2097024"/>
            <a:chOff x="0" y="0"/>
            <a:chExt cx="5592064" cy="27960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92064" cy="2796032"/>
            </a:xfrm>
            <a:custGeom>
              <a:avLst/>
              <a:gdLst/>
              <a:ahLst/>
              <a:cxnLst/>
              <a:rect r="r" b="b" t="t" l="l"/>
              <a:pathLst>
                <a:path h="2796032" w="5592064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5368417" y="0"/>
                  </a:lnTo>
                  <a:cubicBezTo>
                    <a:pt x="5491988" y="0"/>
                    <a:pt x="5592064" y="100203"/>
                    <a:pt x="5592064" y="223647"/>
                  </a:cubicBezTo>
                  <a:lnTo>
                    <a:pt x="5592064" y="2572385"/>
                  </a:lnTo>
                  <a:cubicBezTo>
                    <a:pt x="5592064" y="2695956"/>
                    <a:pt x="5491861" y="2796032"/>
                    <a:pt x="5368417" y="2796032"/>
                  </a:cubicBezTo>
                  <a:lnTo>
                    <a:pt x="223647" y="2796032"/>
                  </a:lnTo>
                  <a:cubicBezTo>
                    <a:pt x="100203" y="2796032"/>
                    <a:pt x="0" y="2695829"/>
                    <a:pt x="0" y="257238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166360" y="1704289"/>
            <a:ext cx="3810000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Cloud dependence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66360" y="2094433"/>
            <a:ext cx="3810000" cy="143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meeting assistants rely on remote inference, which conflicts with local, private review.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5216" y="3852672"/>
            <a:ext cx="4194048" cy="2097024"/>
            <a:chOff x="0" y="0"/>
            <a:chExt cx="5592064" cy="27960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92064" cy="2796032"/>
            </a:xfrm>
            <a:custGeom>
              <a:avLst/>
              <a:gdLst/>
              <a:ahLst/>
              <a:cxnLst/>
              <a:rect r="r" b="b" t="t" l="l"/>
              <a:pathLst>
                <a:path h="2796032" w="5592064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5368417" y="0"/>
                  </a:lnTo>
                  <a:cubicBezTo>
                    <a:pt x="5491988" y="0"/>
                    <a:pt x="5592064" y="100203"/>
                    <a:pt x="5592064" y="223647"/>
                  </a:cubicBezTo>
                  <a:lnTo>
                    <a:pt x="5592064" y="2572385"/>
                  </a:lnTo>
                  <a:cubicBezTo>
                    <a:pt x="5592064" y="2695956"/>
                    <a:pt x="5491861" y="2796032"/>
                    <a:pt x="5368417" y="2796032"/>
                  </a:cubicBezTo>
                  <a:lnTo>
                    <a:pt x="223647" y="2796032"/>
                  </a:lnTo>
                  <a:cubicBezTo>
                    <a:pt x="100203" y="2796032"/>
                    <a:pt x="0" y="2695829"/>
                    <a:pt x="0" y="257238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77240" y="3996385"/>
            <a:ext cx="3810000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Non-comparable scores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7240" y="4386529"/>
            <a:ext cx="3810000" cy="143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Published summarisation and diarization scores are not baselines for binary discussion membership.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974336" y="3852672"/>
            <a:ext cx="4194048" cy="2097024"/>
            <a:chOff x="0" y="0"/>
            <a:chExt cx="5592064" cy="27960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92064" cy="2796032"/>
            </a:xfrm>
            <a:custGeom>
              <a:avLst/>
              <a:gdLst/>
              <a:ahLst/>
              <a:cxnLst/>
              <a:rect r="r" b="b" t="t" l="l"/>
              <a:pathLst>
                <a:path h="2796032" w="5592064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5368417" y="0"/>
                  </a:lnTo>
                  <a:cubicBezTo>
                    <a:pt x="5491988" y="0"/>
                    <a:pt x="5592064" y="100203"/>
                    <a:pt x="5592064" y="223647"/>
                  </a:cubicBezTo>
                  <a:lnTo>
                    <a:pt x="5592064" y="2572385"/>
                  </a:lnTo>
                  <a:cubicBezTo>
                    <a:pt x="5592064" y="2695956"/>
                    <a:pt x="5491861" y="2796032"/>
                    <a:pt x="5368417" y="2796032"/>
                  </a:cubicBezTo>
                  <a:lnTo>
                    <a:pt x="223647" y="2796032"/>
                  </a:lnTo>
                  <a:cubicBezTo>
                    <a:pt x="100203" y="2796032"/>
                    <a:pt x="0" y="2695829"/>
                    <a:pt x="0" y="257238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166360" y="3996385"/>
            <a:ext cx="3810000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Hidden error propagation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66360" y="4386529"/>
            <a:ext cx="3810000" cy="143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ASR and diarization errors are seldom reported separately, and Hindi–English meetings are under-evaluated.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Description of the Proposed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5216" y="1560576"/>
            <a:ext cx="2535936" cy="536448"/>
            <a:chOff x="0" y="0"/>
            <a:chExt cx="3381248" cy="715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8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3381248">
                  <a:moveTo>
                    <a:pt x="0" y="57277"/>
                  </a:moveTo>
                  <a:cubicBezTo>
                    <a:pt x="0" y="25654"/>
                    <a:pt x="25654" y="0"/>
                    <a:pt x="57277" y="0"/>
                  </a:cubicBezTo>
                  <a:lnTo>
                    <a:pt x="3323971" y="0"/>
                  </a:lnTo>
                  <a:cubicBezTo>
                    <a:pt x="3355594" y="0"/>
                    <a:pt x="3381248" y="25654"/>
                    <a:pt x="3381248" y="57277"/>
                  </a:cubicBezTo>
                  <a:lnTo>
                    <a:pt x="3381248" y="657987"/>
                  </a:lnTo>
                  <a:cubicBezTo>
                    <a:pt x="3381248" y="689610"/>
                    <a:pt x="3355594" y="715264"/>
                    <a:pt x="3323971" y="715264"/>
                  </a:cubicBezTo>
                  <a:lnTo>
                    <a:pt x="57277" y="715264"/>
                  </a:lnTo>
                  <a:cubicBezTo>
                    <a:pt x="25654" y="715264"/>
                    <a:pt x="0" y="689610"/>
                    <a:pt x="0" y="657987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85216" y="1560576"/>
            <a:ext cx="2535936" cy="536448"/>
            <a:chOff x="0" y="0"/>
            <a:chExt cx="3381248" cy="7152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8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381248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4"/>
                </a:lnSpc>
              </a:pPr>
              <a:r>
                <a:rPr lang="en-US" sz="1386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Audio recording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511296" y="1560576"/>
            <a:ext cx="2535936" cy="536448"/>
            <a:chOff x="0" y="0"/>
            <a:chExt cx="3381248" cy="7152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8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3381248">
                  <a:moveTo>
                    <a:pt x="0" y="57277"/>
                  </a:moveTo>
                  <a:cubicBezTo>
                    <a:pt x="0" y="25654"/>
                    <a:pt x="25654" y="0"/>
                    <a:pt x="57277" y="0"/>
                  </a:cubicBezTo>
                  <a:lnTo>
                    <a:pt x="3323971" y="0"/>
                  </a:lnTo>
                  <a:cubicBezTo>
                    <a:pt x="3355594" y="0"/>
                    <a:pt x="3381248" y="25654"/>
                    <a:pt x="3381248" y="57277"/>
                  </a:cubicBezTo>
                  <a:lnTo>
                    <a:pt x="3381248" y="657987"/>
                  </a:lnTo>
                  <a:cubicBezTo>
                    <a:pt x="3381248" y="689610"/>
                    <a:pt x="3355594" y="715264"/>
                    <a:pt x="3323971" y="715264"/>
                  </a:cubicBezTo>
                  <a:lnTo>
                    <a:pt x="57277" y="715264"/>
                  </a:lnTo>
                  <a:cubicBezTo>
                    <a:pt x="25654" y="715264"/>
                    <a:pt x="0" y="689610"/>
                    <a:pt x="0" y="657987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511296" y="1560576"/>
            <a:ext cx="2535936" cy="536448"/>
            <a:chOff x="0" y="0"/>
            <a:chExt cx="3381248" cy="7152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8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381248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4"/>
                </a:lnSpc>
              </a:pPr>
              <a:r>
                <a:rPr lang="en-US" sz="1386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Optional PPTX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85216" y="2438400"/>
            <a:ext cx="2535936" cy="536448"/>
            <a:chOff x="0" y="0"/>
            <a:chExt cx="3381248" cy="7152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8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3381248">
                  <a:moveTo>
                    <a:pt x="0" y="57277"/>
                  </a:moveTo>
                  <a:cubicBezTo>
                    <a:pt x="0" y="25654"/>
                    <a:pt x="25654" y="0"/>
                    <a:pt x="57277" y="0"/>
                  </a:cubicBezTo>
                  <a:lnTo>
                    <a:pt x="3323971" y="0"/>
                  </a:lnTo>
                  <a:cubicBezTo>
                    <a:pt x="3355594" y="0"/>
                    <a:pt x="3381248" y="25654"/>
                    <a:pt x="3381248" y="57277"/>
                  </a:cubicBezTo>
                  <a:lnTo>
                    <a:pt x="3381248" y="657987"/>
                  </a:lnTo>
                  <a:cubicBezTo>
                    <a:pt x="3381248" y="689610"/>
                    <a:pt x="3355594" y="715264"/>
                    <a:pt x="3323971" y="715264"/>
                  </a:cubicBezTo>
                  <a:lnTo>
                    <a:pt x="57277" y="715264"/>
                  </a:lnTo>
                  <a:cubicBezTo>
                    <a:pt x="25654" y="715264"/>
                    <a:pt x="0" y="689610"/>
                    <a:pt x="0" y="65798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85216" y="2438400"/>
            <a:ext cx="2535936" cy="536448"/>
            <a:chOff x="0" y="0"/>
            <a:chExt cx="3381248" cy="7152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8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3381248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4"/>
                </a:lnSpc>
              </a:pPr>
              <a:r>
                <a:rPr lang="en-US" sz="1386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Local ASR + speakers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511296" y="2438400"/>
            <a:ext cx="2535936" cy="536448"/>
            <a:chOff x="0" y="0"/>
            <a:chExt cx="3381248" cy="7152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8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3381248">
                  <a:moveTo>
                    <a:pt x="0" y="57277"/>
                  </a:moveTo>
                  <a:cubicBezTo>
                    <a:pt x="0" y="25654"/>
                    <a:pt x="25654" y="0"/>
                    <a:pt x="57277" y="0"/>
                  </a:cubicBezTo>
                  <a:lnTo>
                    <a:pt x="3323971" y="0"/>
                  </a:lnTo>
                  <a:cubicBezTo>
                    <a:pt x="3355594" y="0"/>
                    <a:pt x="3381248" y="25654"/>
                    <a:pt x="3381248" y="57277"/>
                  </a:cubicBezTo>
                  <a:lnTo>
                    <a:pt x="3381248" y="657987"/>
                  </a:lnTo>
                  <a:cubicBezTo>
                    <a:pt x="3381248" y="689610"/>
                    <a:pt x="3355594" y="715264"/>
                    <a:pt x="3323971" y="715264"/>
                  </a:cubicBezTo>
                  <a:lnTo>
                    <a:pt x="57277" y="715264"/>
                  </a:lnTo>
                  <a:cubicBezTo>
                    <a:pt x="25654" y="715264"/>
                    <a:pt x="0" y="689610"/>
                    <a:pt x="0" y="65798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511296" y="2438400"/>
            <a:ext cx="2535936" cy="536448"/>
            <a:chOff x="0" y="0"/>
            <a:chExt cx="3381248" cy="7152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8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381248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4"/>
                </a:lnSpc>
              </a:pPr>
              <a:r>
                <a:rPr lang="en-US" sz="1386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Text + available times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85216" y="3316224"/>
            <a:ext cx="5462016" cy="536448"/>
            <a:chOff x="0" y="0"/>
            <a:chExt cx="7282688" cy="7152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82688" cy="715264"/>
            </a:xfrm>
            <a:custGeom>
              <a:avLst/>
              <a:gdLst/>
              <a:ahLst/>
              <a:cxnLst/>
              <a:rect r="r" b="b" t="t" l="l"/>
              <a:pathLst>
                <a:path h="715264" w="7282688">
                  <a:moveTo>
                    <a:pt x="0" y="57277"/>
                  </a:moveTo>
                  <a:cubicBezTo>
                    <a:pt x="0" y="25654"/>
                    <a:pt x="25654" y="0"/>
                    <a:pt x="57277" y="0"/>
                  </a:cubicBezTo>
                  <a:lnTo>
                    <a:pt x="7225411" y="0"/>
                  </a:lnTo>
                  <a:cubicBezTo>
                    <a:pt x="7257034" y="0"/>
                    <a:pt x="7282688" y="25654"/>
                    <a:pt x="7282688" y="57277"/>
                  </a:cubicBezTo>
                  <a:lnTo>
                    <a:pt x="7282688" y="657987"/>
                  </a:lnTo>
                  <a:cubicBezTo>
                    <a:pt x="7282688" y="689610"/>
                    <a:pt x="7257034" y="715264"/>
                    <a:pt x="7225411" y="715264"/>
                  </a:cubicBezTo>
                  <a:lnTo>
                    <a:pt x="57277" y="715264"/>
                  </a:lnTo>
                  <a:cubicBezTo>
                    <a:pt x="25654" y="715264"/>
                    <a:pt x="0" y="689610"/>
                    <a:pt x="0" y="65798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85216" y="3316224"/>
            <a:ext cx="5462016" cy="536448"/>
            <a:chOff x="0" y="0"/>
            <a:chExt cx="7282688" cy="7152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82688" cy="715264"/>
            </a:xfrm>
            <a:custGeom>
              <a:avLst/>
              <a:gdLst/>
              <a:ahLst/>
              <a:cxnLst/>
              <a:rect r="r" b="b" t="t" l="l"/>
              <a:pathLst>
                <a:path h="715264" w="7282688">
                  <a:moveTo>
                    <a:pt x="0" y="0"/>
                  </a:moveTo>
                  <a:lnTo>
                    <a:pt x="7282688" y="0"/>
                  </a:lnTo>
                  <a:lnTo>
                    <a:pt x="7282688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93" r="0" b="-14839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7282688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4"/>
                </a:lnSpc>
              </a:pPr>
              <a:r>
                <a:rPr lang="en-US" sz="1386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Source passages and slide links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85216" y="4194048"/>
            <a:ext cx="5462016" cy="536448"/>
            <a:chOff x="0" y="0"/>
            <a:chExt cx="7282688" cy="7152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82688" cy="715264"/>
            </a:xfrm>
            <a:custGeom>
              <a:avLst/>
              <a:gdLst/>
              <a:ahLst/>
              <a:cxnLst/>
              <a:rect r="r" b="b" t="t" l="l"/>
              <a:pathLst>
                <a:path h="715264" w="7282688">
                  <a:moveTo>
                    <a:pt x="0" y="57277"/>
                  </a:moveTo>
                  <a:cubicBezTo>
                    <a:pt x="0" y="25654"/>
                    <a:pt x="25654" y="0"/>
                    <a:pt x="57277" y="0"/>
                  </a:cubicBezTo>
                  <a:lnTo>
                    <a:pt x="7225411" y="0"/>
                  </a:lnTo>
                  <a:cubicBezTo>
                    <a:pt x="7257034" y="0"/>
                    <a:pt x="7282688" y="25654"/>
                    <a:pt x="7282688" y="57277"/>
                  </a:cubicBezTo>
                  <a:lnTo>
                    <a:pt x="7282688" y="657987"/>
                  </a:lnTo>
                  <a:cubicBezTo>
                    <a:pt x="7282688" y="689610"/>
                    <a:pt x="7257034" y="715264"/>
                    <a:pt x="7225411" y="715264"/>
                  </a:cubicBezTo>
                  <a:lnTo>
                    <a:pt x="57277" y="715264"/>
                  </a:lnTo>
                  <a:cubicBezTo>
                    <a:pt x="25654" y="715264"/>
                    <a:pt x="0" y="689610"/>
                    <a:pt x="0" y="65798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85216" y="4194048"/>
            <a:ext cx="5462016" cy="536448"/>
            <a:chOff x="0" y="0"/>
            <a:chExt cx="7282688" cy="7152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82688" cy="715264"/>
            </a:xfrm>
            <a:custGeom>
              <a:avLst/>
              <a:gdLst/>
              <a:ahLst/>
              <a:cxnLst/>
              <a:rect r="r" b="b" t="t" l="l"/>
              <a:pathLst>
                <a:path h="715264" w="7282688">
                  <a:moveTo>
                    <a:pt x="0" y="0"/>
                  </a:moveTo>
                  <a:lnTo>
                    <a:pt x="7282688" y="0"/>
                  </a:lnTo>
                  <a:lnTo>
                    <a:pt x="7282688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93" r="0" b="-14839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7282688" cy="734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4"/>
                </a:lnSpc>
              </a:pPr>
              <a:r>
                <a:rPr lang="en-US" sz="1386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Word cache · segment IDs · timestamps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85216" y="5071872"/>
            <a:ext cx="5462016" cy="731520"/>
            <a:chOff x="0" y="0"/>
            <a:chExt cx="7282688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82688" cy="975360"/>
            </a:xfrm>
            <a:custGeom>
              <a:avLst/>
              <a:gdLst/>
              <a:ahLst/>
              <a:cxnLst/>
              <a:rect r="r" b="b" t="t" l="l"/>
              <a:pathLst>
                <a:path h="975360" w="7282688">
                  <a:moveTo>
                    <a:pt x="0" y="77978"/>
                  </a:moveTo>
                  <a:cubicBezTo>
                    <a:pt x="0" y="34925"/>
                    <a:pt x="34925" y="0"/>
                    <a:pt x="77978" y="0"/>
                  </a:cubicBezTo>
                  <a:lnTo>
                    <a:pt x="7204710" y="0"/>
                  </a:lnTo>
                  <a:cubicBezTo>
                    <a:pt x="7247763" y="0"/>
                    <a:pt x="7282688" y="34925"/>
                    <a:pt x="7282688" y="77978"/>
                  </a:cubicBezTo>
                  <a:lnTo>
                    <a:pt x="7282688" y="897382"/>
                  </a:lnTo>
                  <a:cubicBezTo>
                    <a:pt x="7282688" y="940435"/>
                    <a:pt x="7247763" y="975360"/>
                    <a:pt x="7204710" y="975360"/>
                  </a:cubicBezTo>
                  <a:lnTo>
                    <a:pt x="77978" y="975360"/>
                  </a:lnTo>
                  <a:cubicBezTo>
                    <a:pt x="34925" y="975360"/>
                    <a:pt x="0" y="940435"/>
                    <a:pt x="0" y="897382"/>
                  </a:cubicBezTo>
                  <a:close/>
                </a:path>
              </a:pathLst>
            </a:custGeom>
            <a:solidFill>
              <a:srgbClr val="FBECE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85216" y="5071872"/>
            <a:ext cx="5462016" cy="731520"/>
            <a:chOff x="0" y="0"/>
            <a:chExt cx="7282688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82688" cy="975360"/>
            </a:xfrm>
            <a:custGeom>
              <a:avLst/>
              <a:gdLst/>
              <a:ahLst/>
              <a:cxnLst/>
              <a:rect r="r" b="b" t="t" l="l"/>
              <a:pathLst>
                <a:path h="975360" w="7282688">
                  <a:moveTo>
                    <a:pt x="0" y="0"/>
                  </a:moveTo>
                  <a:lnTo>
                    <a:pt x="7282688" y="0"/>
                  </a:lnTo>
                  <a:lnTo>
                    <a:pt x="728268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7282688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4"/>
                </a:lnSpc>
              </a:pPr>
              <a:r>
                <a:rPr lang="en-US" sz="1386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Learned English discussion review</a:t>
              </a:r>
            </a:p>
            <a:p>
              <a:pPr algn="ctr">
                <a:lnSpc>
                  <a:spcPts val="1664"/>
                </a:lnSpc>
              </a:pPr>
              <a:r>
                <a:rPr lang="en-US" sz="1386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Forest + linear scores · audio seek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rot="5207100">
            <a:off x="1672047" y="2258187"/>
            <a:ext cx="362264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 rot="5207100">
            <a:off x="4598127" y="2258187"/>
            <a:ext cx="362264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 rot="5207100">
            <a:off x="1672047" y="3136011"/>
            <a:ext cx="362264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1" id="51"/>
          <p:cNvSpPr/>
          <p:nvPr/>
        </p:nvSpPr>
        <p:spPr>
          <a:xfrm rot="5207100">
            <a:off x="4598127" y="3136011"/>
            <a:ext cx="362264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2" id="52"/>
          <p:cNvSpPr/>
          <p:nvPr/>
        </p:nvSpPr>
        <p:spPr>
          <a:xfrm rot="5207100">
            <a:off x="3135087" y="4013835"/>
            <a:ext cx="362264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3" id="53"/>
          <p:cNvSpPr/>
          <p:nvPr/>
        </p:nvSpPr>
        <p:spPr>
          <a:xfrm rot="5207100">
            <a:off x="3135087" y="4891659"/>
            <a:ext cx="362264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6380140" y="4185580"/>
            <a:ext cx="2796711" cy="1626279"/>
            <a:chOff x="0" y="0"/>
            <a:chExt cx="3728949" cy="216837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28974" cy="2168398"/>
            </a:xfrm>
            <a:custGeom>
              <a:avLst/>
              <a:gdLst/>
              <a:ahLst/>
              <a:cxnLst/>
              <a:rect r="r" b="b" t="t" l="l"/>
              <a:pathLst>
                <a:path h="2168398" w="3728974">
                  <a:moveTo>
                    <a:pt x="0" y="173482"/>
                  </a:moveTo>
                  <a:cubicBezTo>
                    <a:pt x="0" y="77724"/>
                    <a:pt x="77724" y="0"/>
                    <a:pt x="173482" y="0"/>
                  </a:cubicBezTo>
                  <a:lnTo>
                    <a:pt x="3555492" y="0"/>
                  </a:lnTo>
                  <a:cubicBezTo>
                    <a:pt x="3651250" y="0"/>
                    <a:pt x="3728974" y="77724"/>
                    <a:pt x="3728974" y="173482"/>
                  </a:cubicBezTo>
                  <a:lnTo>
                    <a:pt x="3728974" y="1994916"/>
                  </a:lnTo>
                  <a:cubicBezTo>
                    <a:pt x="3728974" y="2090674"/>
                    <a:pt x="3651250" y="2168398"/>
                    <a:pt x="3555492" y="2168398"/>
                  </a:cubicBezTo>
                  <a:lnTo>
                    <a:pt x="173482" y="2168398"/>
                  </a:lnTo>
                  <a:cubicBezTo>
                    <a:pt x="77724" y="2168398"/>
                    <a:pt x="0" y="2090674"/>
                    <a:pt x="0" y="199491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607" t="0" r="-24607" b="1"/>
              </a:stretch>
            </a:blipFill>
            <a:ln w="16933" cap="sq">
              <a:solidFill>
                <a:srgbClr val="595959"/>
              </a:solidFill>
              <a:prstDash val="dash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486144" y="4242816"/>
            <a:ext cx="2584704" cy="1511808"/>
            <a:chOff x="0" y="0"/>
            <a:chExt cx="3446272" cy="20157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46272" cy="2015744"/>
            </a:xfrm>
            <a:custGeom>
              <a:avLst/>
              <a:gdLst/>
              <a:ahLst/>
              <a:cxnLst/>
              <a:rect r="r" b="b" t="t" l="l"/>
              <a:pathLst>
                <a:path h="2015744" w="3446272">
                  <a:moveTo>
                    <a:pt x="0" y="0"/>
                  </a:moveTo>
                  <a:lnTo>
                    <a:pt x="3446272" y="0"/>
                  </a:lnTo>
                  <a:lnTo>
                    <a:pt x="3446272" y="2015744"/>
                  </a:lnTo>
                  <a:lnTo>
                    <a:pt x="0" y="2015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45" t="0" r="-2504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446272" cy="2034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4"/>
                </a:lnSpc>
              </a:pPr>
              <a:r>
                <a:rPr lang="en-US" sz="1386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Separate outputs</a:t>
              </a:r>
            </a:p>
            <a:p>
              <a:pPr algn="ctr">
                <a:lnSpc>
                  <a:spcPts val="1664"/>
                </a:lnSpc>
              </a:pPr>
              <a:r>
                <a:rPr lang="en-US" sz="1386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Rule-based decision events and exploratory influence scores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192900">
            <a:off x="6036783" y="4452747"/>
            <a:ext cx="362264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0" id="60"/>
          <p:cNvSpPr txBox="true"/>
          <p:nvPr/>
        </p:nvSpPr>
        <p:spPr>
          <a:xfrm rot="0">
            <a:off x="6434328" y="1587246"/>
            <a:ext cx="2688336" cy="236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Recognition is cached separately from speaker attribution, so speaker fixes reuse saved words.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Scores are ranking signals, not calibrated probabilities.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0936" y="5927598"/>
            <a:ext cx="8491728" cy="22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 i="true">
                <a:solidFill>
                  <a:srgbClr val="595959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Fig. Local processing and source-linked review (adapted from the report, Fig. 1)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Requirement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5216" y="1560576"/>
            <a:ext cx="4194048" cy="4535424"/>
            <a:chOff x="0" y="0"/>
            <a:chExt cx="5592064" cy="60472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92064" cy="6047232"/>
            </a:xfrm>
            <a:custGeom>
              <a:avLst/>
              <a:gdLst/>
              <a:ahLst/>
              <a:cxnLst/>
              <a:rect r="r" b="b" t="t" l="l"/>
              <a:pathLst>
                <a:path h="6047232" w="5592064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lnTo>
                    <a:pt x="5144643" y="0"/>
                  </a:lnTo>
                  <a:cubicBezTo>
                    <a:pt x="5391658" y="0"/>
                    <a:pt x="5592064" y="200279"/>
                    <a:pt x="5592064" y="447421"/>
                  </a:cubicBezTo>
                  <a:lnTo>
                    <a:pt x="5592064" y="5599811"/>
                  </a:lnTo>
                  <a:cubicBezTo>
                    <a:pt x="5592064" y="5846826"/>
                    <a:pt x="5391785" y="6047232"/>
                    <a:pt x="5144643" y="6047232"/>
                  </a:cubicBezTo>
                  <a:lnTo>
                    <a:pt x="447421" y="6047232"/>
                  </a:lnTo>
                  <a:cubicBezTo>
                    <a:pt x="200279" y="6047232"/>
                    <a:pt x="0" y="5846953"/>
                    <a:pt x="0" y="559981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77240" y="1684782"/>
            <a:ext cx="3810000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Functional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7240" y="2123694"/>
            <a:ext cx="3810000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or record meeting audio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ASR and full-recording diarization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Speaker renaming that reuses cached words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PPTX text, table and notes extraction with passage-to-slide links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suggestions with text, speaker, timestamp and seek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Rule-based events: proposals, questions, objections, agreements, decisions, actions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Exports that retain source information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974336" y="1560576"/>
            <a:ext cx="4194048" cy="4535424"/>
            <a:chOff x="0" y="0"/>
            <a:chExt cx="5592064" cy="60472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92064" cy="6047232"/>
            </a:xfrm>
            <a:custGeom>
              <a:avLst/>
              <a:gdLst/>
              <a:ahLst/>
              <a:cxnLst/>
              <a:rect r="r" b="b" t="t" l="l"/>
              <a:pathLst>
                <a:path h="6047232" w="5592064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lnTo>
                    <a:pt x="5144643" y="0"/>
                  </a:lnTo>
                  <a:cubicBezTo>
                    <a:pt x="5391658" y="0"/>
                    <a:pt x="5592064" y="200279"/>
                    <a:pt x="5592064" y="447421"/>
                  </a:cubicBezTo>
                  <a:lnTo>
                    <a:pt x="5592064" y="5599811"/>
                  </a:lnTo>
                  <a:cubicBezTo>
                    <a:pt x="5592064" y="5846826"/>
                    <a:pt x="5391785" y="6047232"/>
                    <a:pt x="5144643" y="6047232"/>
                  </a:cubicBezTo>
                  <a:lnTo>
                    <a:pt x="447421" y="6047232"/>
                  </a:lnTo>
                  <a:cubicBezTo>
                    <a:pt x="200279" y="6047232"/>
                    <a:pt x="0" y="5846953"/>
                    <a:pt x="0" y="559981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166360" y="1684782"/>
            <a:ext cx="3810000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Non-functional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66360" y="2123694"/>
            <a:ext cx="3810000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Offline: local CPU inference with 8-bit integer computation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Traceability of every suggestion to its source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stage status for unsupported languages or missing models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Batched runtime feature extraction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English/Hindi language constraint for automatic detection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Reproducibility: split membership, source hashes and frozen selections retained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Technology Stack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5216" y="1560576"/>
            <a:ext cx="4194048" cy="994867"/>
            <a:chOff x="0" y="0"/>
            <a:chExt cx="5592064" cy="13264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92064" cy="1326515"/>
            </a:xfrm>
            <a:custGeom>
              <a:avLst/>
              <a:gdLst/>
              <a:ahLst/>
              <a:cxnLst/>
              <a:rect r="r" b="b" t="t" l="l"/>
              <a:pathLst>
                <a:path h="1326515" w="5592064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5485892" y="0"/>
                  </a:lnTo>
                  <a:cubicBezTo>
                    <a:pt x="5544439" y="0"/>
                    <a:pt x="5592064" y="47498"/>
                    <a:pt x="5592064" y="106172"/>
                  </a:cubicBezTo>
                  <a:lnTo>
                    <a:pt x="5592064" y="1220343"/>
                  </a:lnTo>
                  <a:cubicBezTo>
                    <a:pt x="5592064" y="1278890"/>
                    <a:pt x="5544566" y="1326515"/>
                    <a:pt x="5485892" y="1326515"/>
                  </a:cubicBezTo>
                  <a:lnTo>
                    <a:pt x="106172" y="1326515"/>
                  </a:lnTo>
                  <a:cubicBezTo>
                    <a:pt x="47625" y="1326515"/>
                    <a:pt x="0" y="1279017"/>
                    <a:pt x="0" y="122034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77240" y="1645768"/>
            <a:ext cx="3810000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Speech recognition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7240" y="1996897"/>
            <a:ext cx="3810000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faster-whisper: small, medium, large-v3-turbo · int8 on CPU · beam size 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974336" y="1560576"/>
            <a:ext cx="4194048" cy="994867"/>
            <a:chOff x="0" y="0"/>
            <a:chExt cx="5592064" cy="13264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92064" cy="1326515"/>
            </a:xfrm>
            <a:custGeom>
              <a:avLst/>
              <a:gdLst/>
              <a:ahLst/>
              <a:cxnLst/>
              <a:rect r="r" b="b" t="t" l="l"/>
              <a:pathLst>
                <a:path h="1326515" w="5592064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5485892" y="0"/>
                  </a:lnTo>
                  <a:cubicBezTo>
                    <a:pt x="5544439" y="0"/>
                    <a:pt x="5592064" y="47498"/>
                    <a:pt x="5592064" y="106172"/>
                  </a:cubicBezTo>
                  <a:lnTo>
                    <a:pt x="5592064" y="1220343"/>
                  </a:lnTo>
                  <a:cubicBezTo>
                    <a:pt x="5592064" y="1278890"/>
                    <a:pt x="5544566" y="1326515"/>
                    <a:pt x="5485892" y="1326515"/>
                  </a:cubicBezTo>
                  <a:lnTo>
                    <a:pt x="106172" y="1326515"/>
                  </a:lnTo>
                  <a:cubicBezTo>
                    <a:pt x="47625" y="1326515"/>
                    <a:pt x="0" y="1279017"/>
                    <a:pt x="0" y="122034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166360" y="1645768"/>
            <a:ext cx="3810000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Speaker diarization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66360" y="1996897"/>
            <a:ext cx="3810000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Sherpa-ONNX speaker backend, threshold calibrated to 0.9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5216" y="2701747"/>
            <a:ext cx="4194048" cy="994867"/>
            <a:chOff x="0" y="0"/>
            <a:chExt cx="5592064" cy="13264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92064" cy="1326515"/>
            </a:xfrm>
            <a:custGeom>
              <a:avLst/>
              <a:gdLst/>
              <a:ahLst/>
              <a:cxnLst/>
              <a:rect r="r" b="b" t="t" l="l"/>
              <a:pathLst>
                <a:path h="1326515" w="5592064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5485892" y="0"/>
                  </a:lnTo>
                  <a:cubicBezTo>
                    <a:pt x="5544439" y="0"/>
                    <a:pt x="5592064" y="47498"/>
                    <a:pt x="5592064" y="106172"/>
                  </a:cubicBezTo>
                  <a:lnTo>
                    <a:pt x="5592064" y="1220343"/>
                  </a:lnTo>
                  <a:cubicBezTo>
                    <a:pt x="5592064" y="1278890"/>
                    <a:pt x="5544566" y="1326515"/>
                    <a:pt x="5485892" y="1326515"/>
                  </a:cubicBezTo>
                  <a:lnTo>
                    <a:pt x="106172" y="1326515"/>
                  </a:lnTo>
                  <a:cubicBezTo>
                    <a:pt x="47625" y="1326515"/>
                    <a:pt x="0" y="1279017"/>
                    <a:pt x="0" y="122034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77240" y="2786939"/>
            <a:ext cx="3810000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Text features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7240" y="3138068"/>
            <a:ext cx="3810000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TF-IDF: word 1–2-grams (12k) + character 3–5-grams (20k)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974336" y="2701747"/>
            <a:ext cx="4194048" cy="994867"/>
            <a:chOff x="0" y="0"/>
            <a:chExt cx="5592064" cy="13264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92064" cy="1326515"/>
            </a:xfrm>
            <a:custGeom>
              <a:avLst/>
              <a:gdLst/>
              <a:ahLst/>
              <a:cxnLst/>
              <a:rect r="r" b="b" t="t" l="l"/>
              <a:pathLst>
                <a:path h="1326515" w="5592064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5485892" y="0"/>
                  </a:lnTo>
                  <a:cubicBezTo>
                    <a:pt x="5544439" y="0"/>
                    <a:pt x="5592064" y="47498"/>
                    <a:pt x="5592064" y="106172"/>
                  </a:cubicBezTo>
                  <a:lnTo>
                    <a:pt x="5592064" y="1220343"/>
                  </a:lnTo>
                  <a:cubicBezTo>
                    <a:pt x="5592064" y="1278890"/>
                    <a:pt x="5544566" y="1326515"/>
                    <a:pt x="5485892" y="1326515"/>
                  </a:cubicBezTo>
                  <a:lnTo>
                    <a:pt x="106172" y="1326515"/>
                  </a:lnTo>
                  <a:cubicBezTo>
                    <a:pt x="47625" y="1326515"/>
                    <a:pt x="0" y="1279017"/>
                    <a:pt x="0" y="122034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166360" y="2786939"/>
            <a:ext cx="3810000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66360" y="3138068"/>
            <a:ext cx="3810000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regression, Complement Naive Bayes, linear SVM, random forest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85216" y="3842918"/>
            <a:ext cx="4194048" cy="994867"/>
            <a:chOff x="0" y="0"/>
            <a:chExt cx="5592064" cy="13264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92064" cy="1326515"/>
            </a:xfrm>
            <a:custGeom>
              <a:avLst/>
              <a:gdLst/>
              <a:ahLst/>
              <a:cxnLst/>
              <a:rect r="r" b="b" t="t" l="l"/>
              <a:pathLst>
                <a:path h="1326515" w="5592064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5485892" y="0"/>
                  </a:lnTo>
                  <a:cubicBezTo>
                    <a:pt x="5544439" y="0"/>
                    <a:pt x="5592064" y="47498"/>
                    <a:pt x="5592064" y="106172"/>
                  </a:cubicBezTo>
                  <a:lnTo>
                    <a:pt x="5592064" y="1220343"/>
                  </a:lnTo>
                  <a:cubicBezTo>
                    <a:pt x="5592064" y="1278890"/>
                    <a:pt x="5544566" y="1326515"/>
                    <a:pt x="5485892" y="1326515"/>
                  </a:cubicBezTo>
                  <a:lnTo>
                    <a:pt x="106172" y="1326515"/>
                  </a:lnTo>
                  <a:cubicBezTo>
                    <a:pt x="47625" y="1326515"/>
                    <a:pt x="0" y="1279017"/>
                    <a:pt x="0" y="122034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77240" y="3928110"/>
            <a:ext cx="3810000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Slide processing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7240" y="4279240"/>
            <a:ext cx="3810000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PPTX text, tables, notes; lexical or embedding similarity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974336" y="3842918"/>
            <a:ext cx="4194048" cy="994867"/>
            <a:chOff x="0" y="0"/>
            <a:chExt cx="5592064" cy="13264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92064" cy="1326515"/>
            </a:xfrm>
            <a:custGeom>
              <a:avLst/>
              <a:gdLst/>
              <a:ahLst/>
              <a:cxnLst/>
              <a:rect r="r" b="b" t="t" l="l"/>
              <a:pathLst>
                <a:path h="1326515" w="5592064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5485892" y="0"/>
                  </a:lnTo>
                  <a:cubicBezTo>
                    <a:pt x="5544439" y="0"/>
                    <a:pt x="5592064" y="47498"/>
                    <a:pt x="5592064" y="106172"/>
                  </a:cubicBezTo>
                  <a:lnTo>
                    <a:pt x="5592064" y="1220343"/>
                  </a:lnTo>
                  <a:cubicBezTo>
                    <a:pt x="5592064" y="1278890"/>
                    <a:pt x="5544566" y="1326515"/>
                    <a:pt x="5485892" y="1326515"/>
                  </a:cubicBezTo>
                  <a:lnTo>
                    <a:pt x="106172" y="1326515"/>
                  </a:lnTo>
                  <a:cubicBezTo>
                    <a:pt x="47625" y="1326515"/>
                    <a:pt x="0" y="1279017"/>
                    <a:pt x="0" y="122034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166360" y="3928110"/>
            <a:ext cx="3810000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Review interface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66360" y="4279240"/>
            <a:ext cx="3810000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review with audio seek; source-preserving exports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85216" y="4984090"/>
            <a:ext cx="4194048" cy="994867"/>
            <a:chOff x="0" y="0"/>
            <a:chExt cx="5592064" cy="13264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92064" cy="1326515"/>
            </a:xfrm>
            <a:custGeom>
              <a:avLst/>
              <a:gdLst/>
              <a:ahLst/>
              <a:cxnLst/>
              <a:rect r="r" b="b" t="t" l="l"/>
              <a:pathLst>
                <a:path h="1326515" w="5592064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5485892" y="0"/>
                  </a:lnTo>
                  <a:cubicBezTo>
                    <a:pt x="5544439" y="0"/>
                    <a:pt x="5592064" y="47498"/>
                    <a:pt x="5592064" y="106172"/>
                  </a:cubicBezTo>
                  <a:lnTo>
                    <a:pt x="5592064" y="1220343"/>
                  </a:lnTo>
                  <a:cubicBezTo>
                    <a:pt x="5592064" y="1278890"/>
                    <a:pt x="5544566" y="1326515"/>
                    <a:pt x="5485892" y="1326515"/>
                  </a:cubicBezTo>
                  <a:lnTo>
                    <a:pt x="106172" y="1326515"/>
                  </a:lnTo>
                  <a:cubicBezTo>
                    <a:pt x="47625" y="1326515"/>
                    <a:pt x="0" y="1279017"/>
                    <a:pt x="0" y="122034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77240" y="5069281"/>
            <a:ext cx="3810000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7240" y="5420411"/>
            <a:ext cx="3810000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 Meeting Corpus · FLEURS Hindi · MUCS 2021 Hinglish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4974336" y="4984090"/>
            <a:ext cx="4194048" cy="994867"/>
            <a:chOff x="0" y="0"/>
            <a:chExt cx="5592064" cy="13264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92064" cy="1326515"/>
            </a:xfrm>
            <a:custGeom>
              <a:avLst/>
              <a:gdLst/>
              <a:ahLst/>
              <a:cxnLst/>
              <a:rect r="r" b="b" t="t" l="l"/>
              <a:pathLst>
                <a:path h="1326515" w="5592064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5485892" y="0"/>
                  </a:lnTo>
                  <a:cubicBezTo>
                    <a:pt x="5544439" y="0"/>
                    <a:pt x="5592064" y="47498"/>
                    <a:pt x="5592064" y="106172"/>
                  </a:cubicBezTo>
                  <a:lnTo>
                    <a:pt x="5592064" y="1220343"/>
                  </a:lnTo>
                  <a:cubicBezTo>
                    <a:pt x="5592064" y="1278890"/>
                    <a:pt x="5544566" y="1326515"/>
                    <a:pt x="5485892" y="1326515"/>
                  </a:cubicBezTo>
                  <a:lnTo>
                    <a:pt x="106172" y="1326515"/>
                  </a:lnTo>
                  <a:cubicBezTo>
                    <a:pt x="47625" y="1326515"/>
                    <a:pt x="0" y="1279017"/>
                    <a:pt x="0" y="122034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5166360" y="5069281"/>
            <a:ext cx="3810000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166360" y="5420411"/>
            <a:ext cx="3810000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/ R / F1, AP, MCC, ROC-AUC · WER / CER · DER / JER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Design: Discussion Detector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5216" y="1560576"/>
            <a:ext cx="4291584" cy="955853"/>
            <a:chOff x="0" y="0"/>
            <a:chExt cx="5722112" cy="12744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22112" cy="1274572"/>
            </a:xfrm>
            <a:custGeom>
              <a:avLst/>
              <a:gdLst/>
              <a:ahLst/>
              <a:cxnLst/>
              <a:rect r="r" b="b" t="t" l="l"/>
              <a:pathLst>
                <a:path h="1274572" w="5722112">
                  <a:moveTo>
                    <a:pt x="0" y="101981"/>
                  </a:moveTo>
                  <a:cubicBezTo>
                    <a:pt x="0" y="45593"/>
                    <a:pt x="45593" y="0"/>
                    <a:pt x="101981" y="0"/>
                  </a:cubicBezTo>
                  <a:lnTo>
                    <a:pt x="5620131" y="0"/>
                  </a:lnTo>
                  <a:cubicBezTo>
                    <a:pt x="5676392" y="0"/>
                    <a:pt x="5722112" y="45593"/>
                    <a:pt x="5722112" y="101981"/>
                  </a:cubicBezTo>
                  <a:lnTo>
                    <a:pt x="5722112" y="1172591"/>
                  </a:lnTo>
                  <a:cubicBezTo>
                    <a:pt x="5722112" y="1228852"/>
                    <a:pt x="5676519" y="1274572"/>
                    <a:pt x="5620131" y="1274572"/>
                  </a:cubicBezTo>
                  <a:lnTo>
                    <a:pt x="101981" y="1274572"/>
                  </a:lnTo>
                  <a:cubicBezTo>
                    <a:pt x="45593" y="1274445"/>
                    <a:pt x="0" y="1228852"/>
                    <a:pt x="0" y="117246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1823923"/>
            <a:ext cx="409651" cy="409651"/>
            <a:chOff x="0" y="0"/>
            <a:chExt cx="546202" cy="5462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46202" cy="555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13688" y="1636014"/>
            <a:ext cx="3419856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Dialogue 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3688" y="1977390"/>
            <a:ext cx="3419856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8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if ≥ 50% of its words lie in an annotated decision-discussion span</a:t>
            </a:r>
          </a:p>
        </p:txBody>
      </p:sp>
      <p:sp>
        <p:nvSpPr>
          <p:cNvPr name="AutoShape 20" id="20"/>
          <p:cNvSpPr/>
          <p:nvPr/>
        </p:nvSpPr>
        <p:spPr>
          <a:xfrm rot="5076660">
            <a:off x="2622833" y="2604440"/>
            <a:ext cx="216351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585216" y="2711501"/>
            <a:ext cx="4291584" cy="955853"/>
            <a:chOff x="0" y="0"/>
            <a:chExt cx="5722112" cy="12744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22112" cy="1274572"/>
            </a:xfrm>
            <a:custGeom>
              <a:avLst/>
              <a:gdLst/>
              <a:ahLst/>
              <a:cxnLst/>
              <a:rect r="r" b="b" t="t" l="l"/>
              <a:pathLst>
                <a:path h="1274572" w="5722112">
                  <a:moveTo>
                    <a:pt x="0" y="101981"/>
                  </a:moveTo>
                  <a:cubicBezTo>
                    <a:pt x="0" y="45593"/>
                    <a:pt x="45593" y="0"/>
                    <a:pt x="101981" y="0"/>
                  </a:cubicBezTo>
                  <a:lnTo>
                    <a:pt x="5620131" y="0"/>
                  </a:lnTo>
                  <a:cubicBezTo>
                    <a:pt x="5676392" y="0"/>
                    <a:pt x="5722112" y="45593"/>
                    <a:pt x="5722112" y="101981"/>
                  </a:cubicBezTo>
                  <a:lnTo>
                    <a:pt x="5722112" y="1172591"/>
                  </a:lnTo>
                  <a:cubicBezTo>
                    <a:pt x="5722112" y="1228852"/>
                    <a:pt x="5676519" y="1274572"/>
                    <a:pt x="5620131" y="1274572"/>
                  </a:cubicBezTo>
                  <a:lnTo>
                    <a:pt x="101981" y="1274572"/>
                  </a:lnTo>
                  <a:cubicBezTo>
                    <a:pt x="45593" y="1274445"/>
                    <a:pt x="0" y="1228852"/>
                    <a:pt x="0" y="117246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2974848"/>
            <a:ext cx="409651" cy="409651"/>
            <a:chOff x="0" y="0"/>
            <a:chExt cx="546202" cy="5462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546202" cy="555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13688" y="2786939"/>
            <a:ext cx="3419856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Local features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3688" y="3128315"/>
            <a:ext cx="3419856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8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 + character TF-IDF, fitted on training text only</a:t>
            </a:r>
          </a:p>
        </p:txBody>
      </p:sp>
      <p:sp>
        <p:nvSpPr>
          <p:cNvPr name="AutoShape 28" id="28"/>
          <p:cNvSpPr/>
          <p:nvPr/>
        </p:nvSpPr>
        <p:spPr>
          <a:xfrm rot="5076660">
            <a:off x="2622833" y="3755365"/>
            <a:ext cx="216351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585216" y="3862426"/>
            <a:ext cx="4291584" cy="955853"/>
            <a:chOff x="0" y="0"/>
            <a:chExt cx="5722112" cy="12744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22112" cy="1274572"/>
            </a:xfrm>
            <a:custGeom>
              <a:avLst/>
              <a:gdLst/>
              <a:ahLst/>
              <a:cxnLst/>
              <a:rect r="r" b="b" t="t" l="l"/>
              <a:pathLst>
                <a:path h="1274572" w="5722112">
                  <a:moveTo>
                    <a:pt x="0" y="101981"/>
                  </a:moveTo>
                  <a:cubicBezTo>
                    <a:pt x="0" y="45593"/>
                    <a:pt x="45593" y="0"/>
                    <a:pt x="101981" y="0"/>
                  </a:cubicBezTo>
                  <a:lnTo>
                    <a:pt x="5620131" y="0"/>
                  </a:lnTo>
                  <a:cubicBezTo>
                    <a:pt x="5676392" y="0"/>
                    <a:pt x="5722112" y="45593"/>
                    <a:pt x="5722112" y="101981"/>
                  </a:cubicBezTo>
                  <a:lnTo>
                    <a:pt x="5722112" y="1172591"/>
                  </a:lnTo>
                  <a:cubicBezTo>
                    <a:pt x="5722112" y="1228852"/>
                    <a:pt x="5676519" y="1274572"/>
                    <a:pt x="5620131" y="1274572"/>
                  </a:cubicBezTo>
                  <a:lnTo>
                    <a:pt x="101981" y="1274572"/>
                  </a:lnTo>
                  <a:cubicBezTo>
                    <a:pt x="45593" y="1274445"/>
                    <a:pt x="0" y="1228852"/>
                    <a:pt x="0" y="117246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31520" y="4125773"/>
            <a:ext cx="409651" cy="409651"/>
            <a:chOff x="0" y="0"/>
            <a:chExt cx="546202" cy="5462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46202" cy="555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13688" y="3937864"/>
            <a:ext cx="3419856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Context-40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3688" y="4279240"/>
            <a:ext cx="3419856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8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lexical context from ±40 acts, never crossing meeting boundaries</a:t>
            </a:r>
          </a:p>
        </p:txBody>
      </p:sp>
      <p:sp>
        <p:nvSpPr>
          <p:cNvPr name="AutoShape 36" id="36"/>
          <p:cNvSpPr/>
          <p:nvPr/>
        </p:nvSpPr>
        <p:spPr>
          <a:xfrm rot="5076660">
            <a:off x="2622833" y="4906289"/>
            <a:ext cx="216351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585216" y="5013350"/>
            <a:ext cx="4291584" cy="955853"/>
            <a:chOff x="0" y="0"/>
            <a:chExt cx="5722112" cy="12744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722112" cy="1274572"/>
            </a:xfrm>
            <a:custGeom>
              <a:avLst/>
              <a:gdLst/>
              <a:ahLst/>
              <a:cxnLst/>
              <a:rect r="r" b="b" t="t" l="l"/>
              <a:pathLst>
                <a:path h="1274572" w="5722112">
                  <a:moveTo>
                    <a:pt x="0" y="101981"/>
                  </a:moveTo>
                  <a:cubicBezTo>
                    <a:pt x="0" y="45593"/>
                    <a:pt x="45593" y="0"/>
                    <a:pt x="101981" y="0"/>
                  </a:cubicBezTo>
                  <a:lnTo>
                    <a:pt x="5620131" y="0"/>
                  </a:lnTo>
                  <a:cubicBezTo>
                    <a:pt x="5676392" y="0"/>
                    <a:pt x="5722112" y="45593"/>
                    <a:pt x="5722112" y="101981"/>
                  </a:cubicBezTo>
                  <a:lnTo>
                    <a:pt x="5722112" y="1172591"/>
                  </a:lnTo>
                  <a:cubicBezTo>
                    <a:pt x="5722112" y="1228852"/>
                    <a:pt x="5676519" y="1274572"/>
                    <a:pt x="5620131" y="1274572"/>
                  </a:cubicBezTo>
                  <a:lnTo>
                    <a:pt x="101981" y="1274572"/>
                  </a:lnTo>
                  <a:cubicBezTo>
                    <a:pt x="45593" y="1274445"/>
                    <a:pt x="0" y="1228852"/>
                    <a:pt x="0" y="1172464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31520" y="5276698"/>
            <a:ext cx="409651" cy="409651"/>
            <a:chOff x="0" y="0"/>
            <a:chExt cx="546202" cy="54620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46202" cy="555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13688" y="5088788"/>
            <a:ext cx="3419856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 scores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3688" y="5430164"/>
            <a:ext cx="3419856" cy="49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8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f(i) and logistic regression l(i)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169408" y="1560576"/>
            <a:ext cx="3998976" cy="4408627"/>
            <a:chOff x="0" y="0"/>
            <a:chExt cx="5331968" cy="58781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31968" cy="5878195"/>
            </a:xfrm>
            <a:custGeom>
              <a:avLst/>
              <a:gdLst/>
              <a:ahLst/>
              <a:cxnLst/>
              <a:rect r="r" b="b" t="t" l="l"/>
              <a:pathLst>
                <a:path h="5878195" w="5331968">
                  <a:moveTo>
                    <a:pt x="0" y="426593"/>
                  </a:moveTo>
                  <a:cubicBezTo>
                    <a:pt x="0" y="191008"/>
                    <a:pt x="191008" y="0"/>
                    <a:pt x="426593" y="0"/>
                  </a:cubicBezTo>
                  <a:lnTo>
                    <a:pt x="4905375" y="0"/>
                  </a:lnTo>
                  <a:cubicBezTo>
                    <a:pt x="5140960" y="0"/>
                    <a:pt x="5331968" y="191008"/>
                    <a:pt x="5331968" y="426593"/>
                  </a:cubicBezTo>
                  <a:lnTo>
                    <a:pt x="5331968" y="5451602"/>
                  </a:lnTo>
                  <a:cubicBezTo>
                    <a:pt x="5331968" y="5687187"/>
                    <a:pt x="5140960" y="5878195"/>
                    <a:pt x="4905375" y="5878195"/>
                  </a:cubicBezTo>
                  <a:lnTo>
                    <a:pt x="426593" y="5878195"/>
                  </a:lnTo>
                  <a:cubicBezTo>
                    <a:pt x="191008" y="5878195"/>
                    <a:pt x="0" y="5687187"/>
                    <a:pt x="0" y="5451602"/>
                  </a:cubicBezTo>
                  <a:close/>
                </a:path>
              </a:pathLst>
            </a:custGeom>
            <a:solidFill>
              <a:srgbClr val="FBECED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5410200" y="1684782"/>
            <a:ext cx="3517392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Score combination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364480" y="2097024"/>
            <a:ext cx="3608832" cy="536448"/>
            <a:chOff x="0" y="0"/>
            <a:chExt cx="4811776" cy="7152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11776" cy="715264"/>
            </a:xfrm>
            <a:custGeom>
              <a:avLst/>
              <a:gdLst/>
              <a:ahLst/>
              <a:cxnLst/>
              <a:rect r="r" b="b" t="t" l="l"/>
              <a:pathLst>
                <a:path h="715264" w="4811776">
                  <a:moveTo>
                    <a:pt x="0" y="0"/>
                  </a:moveTo>
                  <a:lnTo>
                    <a:pt x="4811776" y="0"/>
                  </a:lnTo>
                  <a:lnTo>
                    <a:pt x="4811776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081" r="0" b="-8108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4811776" cy="724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9"/>
                </a:lnSpc>
              </a:pPr>
              <a:r>
                <a:rPr lang="en-US" sz="2133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sᵢ = 0.75·fᵢ + 0.25·lᵢ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5410200" y="2757678"/>
            <a:ext cx="3517392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Smoothing and decision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364480" y="3169920"/>
            <a:ext cx="3608832" cy="731520"/>
            <a:chOff x="0" y="0"/>
            <a:chExt cx="4811776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11776" cy="975360"/>
            </a:xfrm>
            <a:custGeom>
              <a:avLst/>
              <a:gdLst/>
              <a:ahLst/>
              <a:cxnLst/>
              <a:rect r="r" b="b" t="t" l="l"/>
              <a:pathLst>
                <a:path h="975360" w="4811776">
                  <a:moveTo>
                    <a:pt x="0" y="0"/>
                  </a:moveTo>
                  <a:lnTo>
                    <a:pt x="4811776" y="0"/>
                  </a:lnTo>
                  <a:lnTo>
                    <a:pt x="48117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26" r="0" b="-4612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811776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ŷᵢ = 1[ mean of sⱼ over N(i) ≥ 0.3577 ]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5410200" y="4025646"/>
            <a:ext cx="3517392" cy="182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N(i): current act plus at most 5 acts on either side, within one meeting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Weights, radius and threshold chosen on development data only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context makes this an offline detector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Development / Implementation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585216" y="1560576"/>
          <a:ext cx="4267200" cy="1733973"/>
        </p:xfrm>
        <a:graphic>
          <a:graphicData uri="http://schemas.openxmlformats.org/drawingml/2006/table">
            <a:tbl>
              <a:tblPr/>
              <a:tblGrid>
                <a:gridCol w="1503218"/>
                <a:gridCol w="921327"/>
                <a:gridCol w="921327"/>
                <a:gridCol w="921327"/>
              </a:tblGrid>
              <a:tr h="433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Meetings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Acts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Positive acts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</a:tr>
              <a:tr h="433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20,339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5,862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Development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3,739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1,117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3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Historical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11,136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4"/>
                        </a:lnSpc>
                        <a:defRPr/>
                      </a:pPr>
                      <a:r>
                        <a:rPr lang="en-US" sz="138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2,481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630936" y="3449955"/>
            <a:ext cx="4200144" cy="25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 meetings split by project series; a series never spans two partitions</a:t>
            </a:r>
          </a:p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cohort = 3 independent series, so treated as exploratory, not a fresh test</a:t>
            </a:r>
          </a:p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labels excluded from fitting and threshold selection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15128" y="1587246"/>
            <a:ext cx="3907536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Matched search per classifier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15128" y="2035683"/>
            <a:ext cx="3907536" cy="401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predefined parameter values per family</a:t>
            </a:r>
          </a:p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Smoothing radii 0, 5, 15; 13 development-score quantile thresholds + 0.5</a:t>
            </a:r>
          </a:p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by pooled development F1</a:t>
            </a:r>
          </a:p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Forest: 100 trees, min leaf size 2, depth grid; balanced bootstrap weights</a:t>
            </a:r>
          </a:p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SVM: sigmoid calibration on 3 project-separated folds</a:t>
            </a:r>
          </a:p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Mixture weights searched over 0, 0.25, 0.5, 0.75, 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Testing &amp; Debugging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5216" y="1560576"/>
            <a:ext cx="2828544" cy="1950720"/>
            <a:chOff x="0" y="0"/>
            <a:chExt cx="3771392" cy="2600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71392" cy="2600960"/>
            </a:xfrm>
            <a:custGeom>
              <a:avLst/>
              <a:gdLst/>
              <a:ahLst/>
              <a:cxnLst/>
              <a:rect r="r" b="b" t="t" l="l"/>
              <a:pathLst>
                <a:path h="2600960" w="3771392">
                  <a:moveTo>
                    <a:pt x="0" y="208026"/>
                  </a:moveTo>
                  <a:cubicBezTo>
                    <a:pt x="0" y="93218"/>
                    <a:pt x="93218" y="0"/>
                    <a:pt x="208026" y="0"/>
                  </a:cubicBezTo>
                  <a:lnTo>
                    <a:pt x="3563366" y="0"/>
                  </a:lnTo>
                  <a:cubicBezTo>
                    <a:pt x="3678301" y="0"/>
                    <a:pt x="3771392" y="93218"/>
                    <a:pt x="3771392" y="208026"/>
                  </a:cubicBezTo>
                  <a:lnTo>
                    <a:pt x="3771392" y="2392934"/>
                  </a:lnTo>
                  <a:cubicBezTo>
                    <a:pt x="3771392" y="2507869"/>
                    <a:pt x="3678174" y="2600960"/>
                    <a:pt x="3563366" y="2600960"/>
                  </a:cubicBezTo>
                  <a:lnTo>
                    <a:pt x="208026" y="2600960"/>
                  </a:lnTo>
                  <a:cubicBezTo>
                    <a:pt x="93218" y="2600960"/>
                    <a:pt x="0" y="2507742"/>
                    <a:pt x="0" y="2392934"/>
                  </a:cubicBezTo>
                  <a:close/>
                </a:path>
              </a:pathLst>
            </a:custGeom>
            <a:solidFill>
              <a:srgbClr val="B0121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85216" y="1658112"/>
            <a:ext cx="2828544" cy="975360"/>
            <a:chOff x="0" y="0"/>
            <a:chExt cx="3771392" cy="1300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1392" cy="1300480"/>
            </a:xfrm>
            <a:custGeom>
              <a:avLst/>
              <a:gdLst/>
              <a:ahLst/>
              <a:cxnLst/>
              <a:rect r="r" b="b" t="t" l="l"/>
              <a:pathLst>
                <a:path h="1300480" w="3771392">
                  <a:moveTo>
                    <a:pt x="0" y="0"/>
                  </a:moveTo>
                  <a:lnTo>
                    <a:pt x="3771392" y="0"/>
                  </a:lnTo>
                  <a:lnTo>
                    <a:pt x="3771392" y="1300480"/>
                  </a:lnTo>
                  <a:lnTo>
                    <a:pt x="0" y="130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771392" cy="1329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44"/>
                </a:lnSpc>
              </a:pPr>
              <a:r>
                <a:rPr lang="en-US" sz="512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597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77240" y="2708910"/>
            <a:ext cx="2444496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"/>
              </a:lnSpc>
            </a:pPr>
            <a:r>
              <a:rPr lang="en-US" sz="138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tests passed in the latest software run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0936" y="3733038"/>
            <a:ext cx="2737104" cy="226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Integration checks cover</a:t>
            </a:r>
          </a:p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batched scoring, meeting boundaries, source preservation, missing-model behaviour, report exports and browser review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52088" y="1587246"/>
            <a:ext cx="5370576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changes tested and rejected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3706368" y="1999487"/>
          <a:ext cx="5445760" cy="1842347"/>
        </p:xfrm>
        <a:graphic>
          <a:graphicData uri="http://schemas.openxmlformats.org/drawingml/2006/table">
            <a:tbl>
              <a:tblPr/>
              <a:tblGrid>
                <a:gridCol w="1944914"/>
                <a:gridCol w="729343"/>
                <a:gridCol w="777966"/>
                <a:gridCol w="777966"/>
                <a:gridCol w="1215571"/>
              </a:tblGrid>
              <a:tr h="460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Trial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 F1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Hist. F1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Hist. AP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Outcome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</a:tr>
              <a:tr h="460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Semantic / continuity features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candidate passed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Calibrated forest + NB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60.75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52.93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45.91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60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Refit on 35 meetings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53.72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48.70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3752088" y="4132707"/>
            <a:ext cx="5370576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Non-regression rule: a change is kept only if it does not degrade the declared development metrics</a:t>
            </a:r>
          </a:p>
          <a:p>
            <a:pPr algn="l" marL="221443" indent="-110721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Cached real-transcript smoke checks confirm execution and traceability only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Outcome: Discussion Detection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8768" y="975360"/>
            <a:ext cx="6437376" cy="5657088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144768" y="1532001"/>
            <a:ext cx="3023616" cy="56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39.94%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44768" y="2048713"/>
            <a:ext cx="3023616" cy="3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44768" y="2458593"/>
            <a:ext cx="3023616" cy="56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81.18%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44768" y="2975305"/>
            <a:ext cx="3023616" cy="3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44768" y="3385185"/>
            <a:ext cx="3023616" cy="56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53.54%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44768" y="3901897"/>
            <a:ext cx="3023616" cy="3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386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on 11,136 acts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90488" y="4415790"/>
            <a:ext cx="2932176" cy="168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3988" indent="-96994" lvl="1">
              <a:lnSpc>
                <a:spcPts val="1536"/>
              </a:lnSpc>
              <a:buFont typeface="Arial"/>
              <a:buChar char="•"/>
            </a:pPr>
            <a:r>
              <a:rPr lang="en-US" sz="128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+1.46 pp F1 over the matched forest; bootstrap interval −7.16 to +5.99 pp</a:t>
            </a:r>
          </a:p>
          <a:p>
            <a:pPr algn="l" marL="193988" indent="-96994" lvl="1">
              <a:lnSpc>
                <a:spcPts val="1536"/>
              </a:lnSpc>
              <a:buFont typeface="Arial"/>
              <a:buChar char="•"/>
            </a:pPr>
            <a:r>
              <a:rPr lang="en-US" sz="128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ROC-AUC 80.03%, MCC 0.386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Outcome: Speech and Speakers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1024128"/>
            <a:ext cx="5852160" cy="477926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30936" y="5439918"/>
            <a:ext cx="4687824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8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Turbo cuts Hindi WER from 50.96% to 28.85%, but historical English worsens (61.61% → 63.91%), so small stays the default.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02808" y="1587246"/>
            <a:ext cx="3419856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Diarization pilot (AMI excerpts)</a:t>
            </a: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5657088" y="1999487"/>
          <a:ext cx="3481493" cy="2167467"/>
        </p:xfrm>
        <a:graphic>
          <a:graphicData uri="http://schemas.openxmlformats.org/drawingml/2006/table">
            <a:tbl>
              <a:tblPr/>
              <a:tblGrid>
                <a:gridCol w="1740747"/>
                <a:gridCol w="870373"/>
                <a:gridCol w="870373"/>
              </a:tblGrid>
              <a:tr h="433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 0.5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 0.9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21B"/>
                    </a:solidFill>
                  </a:tcPr>
                </a:tc>
              </a:tr>
              <a:tr h="433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Diarization error %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64.08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40.91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Jaccard error %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69.60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60.45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3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Speech F1 %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85.89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85.98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Speaker-count MAE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8.50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6"/>
                        </a:lnSpc>
                        <a:defRPr/>
                      </a:pPr>
                      <a:r>
                        <a:rPr lang="en-US" sz="128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1.50</a:t>
                      </a:r>
                      <a:endParaRPr lang="en-US" sz="1100"/>
                    </a:p>
                  </a:txBody>
                  <a:tcPr marL="64008" marR="64008" marT="64008" marB="6400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5702808" y="4367022"/>
            <a:ext cx="3419856" cy="168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8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Calibrating the threshold to 0.9 on development excerpts cuts fragmentation; speech-region detection barely changes.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30936" y="1587246"/>
            <a:ext cx="4785360" cy="441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5169" indent="-117585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InfluenceIQ delivers offline meeting processing with source-linked discussion suggestions and human review.</a:t>
            </a:r>
          </a:p>
          <a:p>
            <a:pPr algn="l" marL="235169" indent="-117585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development-selected forest/linear mix reaches 53.54% historical F1 on oracle transcripts, with precision and ranking trade-offs.</a:t>
            </a:r>
          </a:p>
          <a:p>
            <a:pPr algn="l" marL="235169" indent="-117585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Turbo ASR gives large Hindi gains but regresses on historical English, so model choice stays explicit.</a:t>
            </a:r>
          </a:p>
          <a:p>
            <a:pPr algn="l" marL="235169" indent="-117585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trials, provenance and missing downstream metrics remain visible.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754624" y="1560576"/>
            <a:ext cx="3413760" cy="4486656"/>
            <a:chOff x="0" y="0"/>
            <a:chExt cx="4551680" cy="59822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51680" cy="5982208"/>
            </a:xfrm>
            <a:custGeom>
              <a:avLst/>
              <a:gdLst/>
              <a:ahLst/>
              <a:cxnLst/>
              <a:rect r="r" b="b" t="t" l="l"/>
              <a:pathLst>
                <a:path h="5982208" w="4551680">
                  <a:moveTo>
                    <a:pt x="0" y="364109"/>
                  </a:moveTo>
                  <a:cubicBezTo>
                    <a:pt x="0" y="163068"/>
                    <a:pt x="163068" y="0"/>
                    <a:pt x="364109" y="0"/>
                  </a:cubicBezTo>
                  <a:lnTo>
                    <a:pt x="4187571" y="0"/>
                  </a:lnTo>
                  <a:cubicBezTo>
                    <a:pt x="4388739" y="0"/>
                    <a:pt x="4551680" y="163068"/>
                    <a:pt x="4551680" y="364109"/>
                  </a:cubicBezTo>
                  <a:lnTo>
                    <a:pt x="4551680" y="5618099"/>
                  </a:lnTo>
                  <a:cubicBezTo>
                    <a:pt x="4551680" y="5819267"/>
                    <a:pt x="4388612" y="5982208"/>
                    <a:pt x="4187571" y="5982208"/>
                  </a:cubicBezTo>
                  <a:lnTo>
                    <a:pt x="364109" y="5982208"/>
                  </a:lnTo>
                  <a:cubicBezTo>
                    <a:pt x="163068" y="5982208"/>
                    <a:pt x="0" y="5819140"/>
                    <a:pt x="0" y="5618099"/>
                  </a:cubicBezTo>
                  <a:close/>
                </a:path>
              </a:pathLst>
            </a:custGeom>
            <a:solidFill>
              <a:srgbClr val="FBECE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946648" y="1684782"/>
            <a:ext cx="3029712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B012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46648" y="2123694"/>
            <a:ext cx="3029712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Independent, group-separated, recording-level annotations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human-transcript, recognised-transcript and fully automatic evaluation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Annotated slide references, decisions and contribution rankings</a:t>
            </a:r>
          </a:p>
          <a:p>
            <a:pPr algn="l" marL="207716" indent="-103858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runtime, memory and physical-phone measurements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30936" y="1480185"/>
            <a:ext cx="8491728" cy="461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G. Tur et al., “The CALO meeting assistant system,” IEEE Trans. ASLP, 2010.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A. Radford et al., “Robust speech recognition via large-scale weak supervision,” ICML, 2023.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M. Bain et al., “WhisperX: Time-accurate speech transcription of long-form audio,” Interspeech, 2023.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H. Bredin, “pyannote.audio 2.1 speaker diarization pipeline,” Interspeech, 2023.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A. Plaquet and H. Bredin, “Powerset multi-class cross entropy loss for neural speaker diarization,” Interspeech, 2023.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D. Macháček et al., “Turning Whisper into real-time transcription system,” IJCNLP–AACL Demos, 2023.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S. Baghel et al., “The DISPLACE challenge 2023,” Interspeech, 2023.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S. B. Kalluri et al., “The second DISPLACE challenge,” Interspeech, 2024.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K. Bhogale et al., “Vistaar: Diverse benchmarks and training sets for Indian language ASR,” Interspeech, 2023.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Y. Hu et al., “MeetingBank: A benchmark dataset for meeting summarization,” ACL, 2023.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H. Kim et al., “ExplainMeetSum: Explainable meeting summarization,” ACL, 2023.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J. Carletta et al., “The AMI meeting corpus: A pre-announcement,” MLMI, LNCS 3869, 2006.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A. Conneau et al., “FLEURS: Few-shot learning evaluation of universal representations of speech,” arXiv:2205.12446, 2022.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A. Diwan et al., “MUCS 2021: Multilingual and code-switching ASR challenges,” Interspeech, 2021.</a:t>
            </a:r>
          </a:p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[15] OpenAI, “Whisper large-v3-turbo,” model card, accessed Oct. 2026.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1050" y="155515"/>
            <a:ext cx="2306269" cy="435007"/>
            <a:chOff x="0" y="0"/>
            <a:chExt cx="3075026" cy="58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5051" cy="580009"/>
            </a:xfrm>
            <a:custGeom>
              <a:avLst/>
              <a:gdLst/>
              <a:ahLst/>
              <a:cxnLst/>
              <a:rect r="r" b="b" t="t" l="l"/>
              <a:pathLst>
                <a:path h="580009" w="3075051">
                  <a:moveTo>
                    <a:pt x="0" y="0"/>
                  </a:moveTo>
                  <a:lnTo>
                    <a:pt x="3075051" y="0"/>
                  </a:lnTo>
                  <a:lnTo>
                    <a:pt x="3075051" y="580009"/>
                  </a:lnTo>
                  <a:lnTo>
                    <a:pt x="0" y="580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448" y="604723"/>
            <a:ext cx="8680704" cy="731520"/>
            <a:chOff x="0" y="0"/>
            <a:chExt cx="11574272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4272" cy="975360"/>
            </a:xfrm>
            <a:custGeom>
              <a:avLst/>
              <a:gdLst/>
              <a:ahLst/>
              <a:cxnLst/>
              <a:rect r="r" b="b" t="t" l="l"/>
              <a:pathLst>
                <a:path h="975360" w="11574272">
                  <a:moveTo>
                    <a:pt x="0" y="0"/>
                  </a:moveTo>
                  <a:lnTo>
                    <a:pt x="11574272" y="0"/>
                  </a:lnTo>
                  <a:lnTo>
                    <a:pt x="115742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1574272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b="true" sz="2986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Photograph of the Presentation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0560" y="6780105"/>
            <a:ext cx="2194560" cy="389468"/>
            <a:chOff x="0" y="0"/>
            <a:chExt cx="2926080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519289"/>
            </a:xfrm>
            <a:custGeom>
              <a:avLst/>
              <a:gdLst/>
              <a:ahLst/>
              <a:cxnLst/>
              <a:rect r="r" b="b" t="t" l="l"/>
              <a:pathLst>
                <a:path h="5192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2608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20-10-2026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30880" y="6780105"/>
            <a:ext cx="3291840" cy="389468"/>
            <a:chOff x="0" y="0"/>
            <a:chExt cx="4389120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519289"/>
            </a:xfrm>
            <a:custGeom>
              <a:avLst/>
              <a:gdLst/>
              <a:ahLst/>
              <a:cxnLst/>
              <a:rect r="r" b="b" t="t" l="l"/>
              <a:pathLst>
                <a:path h="51928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90" r="0" b="-1146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9120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 &amp; Machine Learning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DAHYjq4wkDs</dc:identifier>
  <dcterms:modified xsi:type="dcterms:W3CDTF">2011-08-01T06:04:30Z</dcterms:modified>
  <cp:revision>1</cp:revision>
  <dc:title>InfluenceIQ_ESE_Presentation.pptx</dc:title>
</cp:coreProperties>
</file>